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82" r:id="rId5"/>
    <p:sldId id="259" r:id="rId6"/>
    <p:sldId id="260" r:id="rId7"/>
    <p:sldId id="261" r:id="rId8"/>
    <p:sldId id="284" r:id="rId9"/>
    <p:sldId id="265" r:id="rId10"/>
    <p:sldId id="262" r:id="rId11"/>
    <p:sldId id="263" r:id="rId12"/>
    <p:sldId id="264" r:id="rId13"/>
    <p:sldId id="279" r:id="rId14"/>
    <p:sldId id="266" r:id="rId15"/>
    <p:sldId id="278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0" r:id="rId27"/>
    <p:sldId id="281" r:id="rId28"/>
    <p:sldId id="277" r:id="rId29"/>
    <p:sldId id="285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CE20E9-E859-448B-9CA7-250402C15D18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59C4545-115D-417E-A187-E056FBDF6847}">
      <dgm:prSet/>
      <dgm:spPr/>
      <dgm:t>
        <a:bodyPr/>
        <a:lstStyle/>
        <a:p>
          <a:r>
            <a:rPr lang="en-GB"/>
            <a:t>Comparison between PLS-DA and Random Forest</a:t>
          </a:r>
          <a:endParaRPr lang="en-US"/>
        </a:p>
      </dgm:t>
    </dgm:pt>
    <dgm:pt modelId="{368BEEE7-8BDE-44E4-A671-3AEF1E94AA94}" type="parTrans" cxnId="{58688029-6879-4446-89E2-C11EF4E33C8E}">
      <dgm:prSet/>
      <dgm:spPr/>
      <dgm:t>
        <a:bodyPr/>
        <a:lstStyle/>
        <a:p>
          <a:endParaRPr lang="en-US"/>
        </a:p>
      </dgm:t>
    </dgm:pt>
    <dgm:pt modelId="{7B137827-46F1-454B-8DEB-107059ECFD45}" type="sibTrans" cxnId="{58688029-6879-4446-89E2-C11EF4E33C8E}">
      <dgm:prSet/>
      <dgm:spPr/>
      <dgm:t>
        <a:bodyPr/>
        <a:lstStyle/>
        <a:p>
          <a:endParaRPr lang="en-US"/>
        </a:p>
      </dgm:t>
    </dgm:pt>
    <dgm:pt modelId="{21ECDE2A-3318-4E2C-8B47-46B5B160E46B}">
      <dgm:prSet/>
      <dgm:spPr/>
      <dgm:t>
        <a:bodyPr/>
        <a:lstStyle/>
        <a:p>
          <a:r>
            <a:rPr lang="en-GB" dirty="0"/>
            <a:t>Performance differences between threshold and non-threshold datasets </a:t>
          </a:r>
          <a:endParaRPr lang="en-US" dirty="0"/>
        </a:p>
      </dgm:t>
    </dgm:pt>
    <dgm:pt modelId="{F9C1EB6E-12F2-4FE2-AAFA-42F0856448D9}" type="parTrans" cxnId="{0222A770-D6B2-4E36-82AC-306CBC785AA9}">
      <dgm:prSet/>
      <dgm:spPr/>
      <dgm:t>
        <a:bodyPr/>
        <a:lstStyle/>
        <a:p>
          <a:endParaRPr lang="en-US"/>
        </a:p>
      </dgm:t>
    </dgm:pt>
    <dgm:pt modelId="{71D197CD-8E78-4F86-95E9-68A6941FCAEB}" type="sibTrans" cxnId="{0222A770-D6B2-4E36-82AC-306CBC785AA9}">
      <dgm:prSet/>
      <dgm:spPr/>
      <dgm:t>
        <a:bodyPr/>
        <a:lstStyle/>
        <a:p>
          <a:endParaRPr lang="en-US"/>
        </a:p>
      </dgm:t>
    </dgm:pt>
    <dgm:pt modelId="{27BB9474-CDEE-40A9-A3A3-D1035EAE0C26}" type="pres">
      <dgm:prSet presAssocID="{56CE20E9-E859-448B-9CA7-250402C15D18}" presName="CompostProcess" presStyleCnt="0">
        <dgm:presLayoutVars>
          <dgm:dir/>
          <dgm:resizeHandles val="exact"/>
        </dgm:presLayoutVars>
      </dgm:prSet>
      <dgm:spPr/>
    </dgm:pt>
    <dgm:pt modelId="{41577041-4C78-4DB8-8996-8F2E43F4A03B}" type="pres">
      <dgm:prSet presAssocID="{56CE20E9-E859-448B-9CA7-250402C15D18}" presName="arrow" presStyleLbl="bgShp" presStyleIdx="0" presStyleCnt="1"/>
      <dgm:spPr/>
    </dgm:pt>
    <dgm:pt modelId="{29ED389A-D7EF-4C1B-9D9A-D66497103620}" type="pres">
      <dgm:prSet presAssocID="{56CE20E9-E859-448B-9CA7-250402C15D18}" presName="linearProcess" presStyleCnt="0"/>
      <dgm:spPr/>
    </dgm:pt>
    <dgm:pt modelId="{B1287AFB-9017-443C-A760-97D5CC31D568}" type="pres">
      <dgm:prSet presAssocID="{21ECDE2A-3318-4E2C-8B47-46B5B160E46B}" presName="textNode" presStyleLbl="node1" presStyleIdx="0" presStyleCnt="2">
        <dgm:presLayoutVars>
          <dgm:bulletEnabled val="1"/>
        </dgm:presLayoutVars>
      </dgm:prSet>
      <dgm:spPr/>
    </dgm:pt>
    <dgm:pt modelId="{73E2B475-6484-4AAE-9F3D-6BCF9F3516CE}" type="pres">
      <dgm:prSet presAssocID="{71D197CD-8E78-4F86-95E9-68A6941FCAEB}" presName="sibTrans" presStyleCnt="0"/>
      <dgm:spPr/>
    </dgm:pt>
    <dgm:pt modelId="{93196FE5-493E-48F7-86F2-6BF14812556D}" type="pres">
      <dgm:prSet presAssocID="{F59C4545-115D-417E-A187-E056FBDF6847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58688029-6879-4446-89E2-C11EF4E33C8E}" srcId="{56CE20E9-E859-448B-9CA7-250402C15D18}" destId="{F59C4545-115D-417E-A187-E056FBDF6847}" srcOrd="1" destOrd="0" parTransId="{368BEEE7-8BDE-44E4-A671-3AEF1E94AA94}" sibTransId="{7B137827-46F1-454B-8DEB-107059ECFD45}"/>
    <dgm:cxn modelId="{D93D4937-BD45-4B27-8DFF-01E57E0F933E}" type="presOf" srcId="{F59C4545-115D-417E-A187-E056FBDF6847}" destId="{93196FE5-493E-48F7-86F2-6BF14812556D}" srcOrd="0" destOrd="0" presId="urn:microsoft.com/office/officeart/2005/8/layout/hProcess9"/>
    <dgm:cxn modelId="{DD2C6E49-05B1-441C-8BC4-CD6077706F63}" type="presOf" srcId="{56CE20E9-E859-448B-9CA7-250402C15D18}" destId="{27BB9474-CDEE-40A9-A3A3-D1035EAE0C26}" srcOrd="0" destOrd="0" presId="urn:microsoft.com/office/officeart/2005/8/layout/hProcess9"/>
    <dgm:cxn modelId="{0222A770-D6B2-4E36-82AC-306CBC785AA9}" srcId="{56CE20E9-E859-448B-9CA7-250402C15D18}" destId="{21ECDE2A-3318-4E2C-8B47-46B5B160E46B}" srcOrd="0" destOrd="0" parTransId="{F9C1EB6E-12F2-4FE2-AAFA-42F0856448D9}" sibTransId="{71D197CD-8E78-4F86-95E9-68A6941FCAEB}"/>
    <dgm:cxn modelId="{5B0982F8-C40B-41C4-AC31-ED6FE7F91071}" type="presOf" srcId="{21ECDE2A-3318-4E2C-8B47-46B5B160E46B}" destId="{B1287AFB-9017-443C-A760-97D5CC31D568}" srcOrd="0" destOrd="0" presId="urn:microsoft.com/office/officeart/2005/8/layout/hProcess9"/>
    <dgm:cxn modelId="{7BFA6F48-5335-4B50-A984-6E9B7FBD6D51}" type="presParOf" srcId="{27BB9474-CDEE-40A9-A3A3-D1035EAE0C26}" destId="{41577041-4C78-4DB8-8996-8F2E43F4A03B}" srcOrd="0" destOrd="0" presId="urn:microsoft.com/office/officeart/2005/8/layout/hProcess9"/>
    <dgm:cxn modelId="{A80692A8-544D-4710-A414-6B585069C655}" type="presParOf" srcId="{27BB9474-CDEE-40A9-A3A3-D1035EAE0C26}" destId="{29ED389A-D7EF-4C1B-9D9A-D66497103620}" srcOrd="1" destOrd="0" presId="urn:microsoft.com/office/officeart/2005/8/layout/hProcess9"/>
    <dgm:cxn modelId="{3613D83A-91CB-421D-8EDB-B22538041107}" type="presParOf" srcId="{29ED389A-D7EF-4C1B-9D9A-D66497103620}" destId="{B1287AFB-9017-443C-A760-97D5CC31D568}" srcOrd="0" destOrd="0" presId="urn:microsoft.com/office/officeart/2005/8/layout/hProcess9"/>
    <dgm:cxn modelId="{6A1B997F-EA13-4621-A9BE-437C1D51B966}" type="presParOf" srcId="{29ED389A-D7EF-4C1B-9D9A-D66497103620}" destId="{73E2B475-6484-4AAE-9F3D-6BCF9F3516CE}" srcOrd="1" destOrd="0" presId="urn:microsoft.com/office/officeart/2005/8/layout/hProcess9"/>
    <dgm:cxn modelId="{BDDFE554-7668-47F8-B247-78F89F6919DD}" type="presParOf" srcId="{29ED389A-D7EF-4C1B-9D9A-D66497103620}" destId="{93196FE5-493E-48F7-86F2-6BF14812556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C4B0EF-89EE-4A3D-B2CF-3961654E10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6EEC98-DD61-4B94-A1FE-0AC035FEBDB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Both PLS-DA and Random Forest achieve strong performance, indicating that the classification task is well-defined.</a:t>
          </a:r>
          <a:br>
            <a:rPr lang="en-GB"/>
          </a:br>
          <a:r>
            <a:rPr lang="en-GB"/>
            <a:t>However, PLS-DA generally shows better generalization, performing more consistently when applied to different datasets.</a:t>
          </a:r>
          <a:endParaRPr lang="en-US"/>
        </a:p>
      </dgm:t>
    </dgm:pt>
    <dgm:pt modelId="{FAB8A266-497F-40A1-91AD-F23A885D3EA3}" type="parTrans" cxnId="{5D6B3695-AC04-474E-AE55-28B0D91CD9E2}">
      <dgm:prSet/>
      <dgm:spPr/>
      <dgm:t>
        <a:bodyPr/>
        <a:lstStyle/>
        <a:p>
          <a:endParaRPr lang="en-US"/>
        </a:p>
      </dgm:t>
    </dgm:pt>
    <dgm:pt modelId="{0F2B8DF5-2474-4F4F-8880-6D54EE64C7A3}" type="sibTrans" cxnId="{5D6B3695-AC04-474E-AE55-28B0D91CD9E2}">
      <dgm:prSet/>
      <dgm:spPr/>
      <dgm:t>
        <a:bodyPr/>
        <a:lstStyle/>
        <a:p>
          <a:endParaRPr lang="en-US"/>
        </a:p>
      </dgm:t>
    </dgm:pt>
    <dgm:pt modelId="{9A07A4E5-B944-46A5-842D-94C824AC398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Rather than prioritizing one model over the other, a combined approach may be more informative, identifying proteins that are consistently relevant across both methods.</a:t>
          </a:r>
          <a:endParaRPr lang="en-US"/>
        </a:p>
      </dgm:t>
    </dgm:pt>
    <dgm:pt modelId="{1199C2F9-4B49-4936-8BCF-8217F4CF4121}" type="parTrans" cxnId="{5560878F-CD4F-42C2-BE94-412DF9494FAF}">
      <dgm:prSet/>
      <dgm:spPr/>
      <dgm:t>
        <a:bodyPr/>
        <a:lstStyle/>
        <a:p>
          <a:endParaRPr lang="en-US"/>
        </a:p>
      </dgm:t>
    </dgm:pt>
    <dgm:pt modelId="{A586EE4F-AB59-431E-9259-ED947AD499DC}" type="sibTrans" cxnId="{5560878F-CD4F-42C2-BE94-412DF9494FAF}">
      <dgm:prSet/>
      <dgm:spPr/>
      <dgm:t>
        <a:bodyPr/>
        <a:lstStyle/>
        <a:p>
          <a:endParaRPr lang="en-US"/>
        </a:p>
      </dgm:t>
    </dgm:pt>
    <dgm:pt modelId="{0B0F3093-D595-4485-990D-54F6A54BD3F5}" type="pres">
      <dgm:prSet presAssocID="{EEC4B0EF-89EE-4A3D-B2CF-3961654E1014}" presName="root" presStyleCnt="0">
        <dgm:presLayoutVars>
          <dgm:dir/>
          <dgm:resizeHandles val="exact"/>
        </dgm:presLayoutVars>
      </dgm:prSet>
      <dgm:spPr/>
    </dgm:pt>
    <dgm:pt modelId="{E9FD8511-121C-4533-8230-3043A01570C4}" type="pres">
      <dgm:prSet presAssocID="{E56EEC98-DD61-4B94-A1FE-0AC035FEBDB9}" presName="compNode" presStyleCnt="0"/>
      <dgm:spPr/>
    </dgm:pt>
    <dgm:pt modelId="{2988EDD8-BAD2-4870-83B4-A3EE1087A23B}" type="pres">
      <dgm:prSet presAssocID="{E56EEC98-DD61-4B94-A1FE-0AC035FEBDB9}" presName="bgRect" presStyleLbl="bgShp" presStyleIdx="0" presStyleCnt="2"/>
      <dgm:spPr/>
    </dgm:pt>
    <dgm:pt modelId="{2873F20F-29DE-4D85-8C17-9F325C47C576}" type="pres">
      <dgm:prSet presAssocID="{E56EEC98-DD61-4B94-A1FE-0AC035FEBDB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zione con grafico a torta con riempimento a tinta unita"/>
        </a:ext>
      </dgm:extLst>
    </dgm:pt>
    <dgm:pt modelId="{F1DD2835-9537-47E1-863C-163C9712A6E2}" type="pres">
      <dgm:prSet presAssocID="{E56EEC98-DD61-4B94-A1FE-0AC035FEBDB9}" presName="spaceRect" presStyleCnt="0"/>
      <dgm:spPr/>
    </dgm:pt>
    <dgm:pt modelId="{F1E9DABA-4A78-4A7C-92A3-2769CFAAA299}" type="pres">
      <dgm:prSet presAssocID="{E56EEC98-DD61-4B94-A1FE-0AC035FEBDB9}" presName="parTx" presStyleLbl="revTx" presStyleIdx="0" presStyleCnt="2">
        <dgm:presLayoutVars>
          <dgm:chMax val="0"/>
          <dgm:chPref val="0"/>
        </dgm:presLayoutVars>
      </dgm:prSet>
      <dgm:spPr/>
    </dgm:pt>
    <dgm:pt modelId="{D6DE1C0D-BA00-4BC3-B398-A8334152878F}" type="pres">
      <dgm:prSet presAssocID="{0F2B8DF5-2474-4F4F-8880-6D54EE64C7A3}" presName="sibTrans" presStyleCnt="0"/>
      <dgm:spPr/>
    </dgm:pt>
    <dgm:pt modelId="{B04D48B7-475A-4588-BA73-0CFD4B28F41A}" type="pres">
      <dgm:prSet presAssocID="{9A07A4E5-B944-46A5-842D-94C824AC3989}" presName="compNode" presStyleCnt="0"/>
      <dgm:spPr/>
    </dgm:pt>
    <dgm:pt modelId="{56C31C89-E2A5-4B31-A70E-07CF4619779F}" type="pres">
      <dgm:prSet presAssocID="{9A07A4E5-B944-46A5-842D-94C824AC3989}" presName="bgRect" presStyleLbl="bgShp" presStyleIdx="1" presStyleCnt="2"/>
      <dgm:spPr/>
    </dgm:pt>
    <dgm:pt modelId="{189050A5-6E93-4CFE-B66B-F3300D246A6C}" type="pres">
      <dgm:prSet presAssocID="{9A07A4E5-B944-46A5-842D-94C824AC39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 con riempimento a tinta unita"/>
        </a:ext>
      </dgm:extLst>
    </dgm:pt>
    <dgm:pt modelId="{6B705DE7-6D8B-402F-AE00-F9C90732E915}" type="pres">
      <dgm:prSet presAssocID="{9A07A4E5-B944-46A5-842D-94C824AC3989}" presName="spaceRect" presStyleCnt="0"/>
      <dgm:spPr/>
    </dgm:pt>
    <dgm:pt modelId="{02E9BE70-CD6A-4520-AAD2-120B29477732}" type="pres">
      <dgm:prSet presAssocID="{9A07A4E5-B944-46A5-842D-94C824AC398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E8C1836-5CF9-4590-8D0B-6BA4240FD9B5}" type="presOf" srcId="{9A07A4E5-B944-46A5-842D-94C824AC3989}" destId="{02E9BE70-CD6A-4520-AAD2-120B29477732}" srcOrd="0" destOrd="0" presId="urn:microsoft.com/office/officeart/2018/2/layout/IconVerticalSolidList"/>
    <dgm:cxn modelId="{1C5BE251-D606-4474-9B66-68F6CE3BE51E}" type="presOf" srcId="{E56EEC98-DD61-4B94-A1FE-0AC035FEBDB9}" destId="{F1E9DABA-4A78-4A7C-92A3-2769CFAAA299}" srcOrd="0" destOrd="0" presId="urn:microsoft.com/office/officeart/2018/2/layout/IconVerticalSolidList"/>
    <dgm:cxn modelId="{5560878F-CD4F-42C2-BE94-412DF9494FAF}" srcId="{EEC4B0EF-89EE-4A3D-B2CF-3961654E1014}" destId="{9A07A4E5-B944-46A5-842D-94C824AC3989}" srcOrd="1" destOrd="0" parTransId="{1199C2F9-4B49-4936-8BCF-8217F4CF4121}" sibTransId="{A586EE4F-AB59-431E-9259-ED947AD499DC}"/>
    <dgm:cxn modelId="{5D6B3695-AC04-474E-AE55-28B0D91CD9E2}" srcId="{EEC4B0EF-89EE-4A3D-B2CF-3961654E1014}" destId="{E56EEC98-DD61-4B94-A1FE-0AC035FEBDB9}" srcOrd="0" destOrd="0" parTransId="{FAB8A266-497F-40A1-91AD-F23A885D3EA3}" sibTransId="{0F2B8DF5-2474-4F4F-8880-6D54EE64C7A3}"/>
    <dgm:cxn modelId="{2343CAD8-F639-44BD-A561-62BFDCA6535B}" type="presOf" srcId="{EEC4B0EF-89EE-4A3D-B2CF-3961654E1014}" destId="{0B0F3093-D595-4485-990D-54F6A54BD3F5}" srcOrd="0" destOrd="0" presId="urn:microsoft.com/office/officeart/2018/2/layout/IconVerticalSolidList"/>
    <dgm:cxn modelId="{00C08EB2-4C4B-4CBD-B4D2-6FB62F217AFD}" type="presParOf" srcId="{0B0F3093-D595-4485-990D-54F6A54BD3F5}" destId="{E9FD8511-121C-4533-8230-3043A01570C4}" srcOrd="0" destOrd="0" presId="urn:microsoft.com/office/officeart/2018/2/layout/IconVerticalSolidList"/>
    <dgm:cxn modelId="{1396195A-303A-42C5-BAF2-C1C0E8A5CD91}" type="presParOf" srcId="{E9FD8511-121C-4533-8230-3043A01570C4}" destId="{2988EDD8-BAD2-4870-83B4-A3EE1087A23B}" srcOrd="0" destOrd="0" presId="urn:microsoft.com/office/officeart/2018/2/layout/IconVerticalSolidList"/>
    <dgm:cxn modelId="{97DB385A-8339-43A1-BDE3-B12257412652}" type="presParOf" srcId="{E9FD8511-121C-4533-8230-3043A01570C4}" destId="{2873F20F-29DE-4D85-8C17-9F325C47C576}" srcOrd="1" destOrd="0" presId="urn:microsoft.com/office/officeart/2018/2/layout/IconVerticalSolidList"/>
    <dgm:cxn modelId="{352F77CA-2986-4D54-9820-972892B28B4D}" type="presParOf" srcId="{E9FD8511-121C-4533-8230-3043A01570C4}" destId="{F1DD2835-9537-47E1-863C-163C9712A6E2}" srcOrd="2" destOrd="0" presId="urn:microsoft.com/office/officeart/2018/2/layout/IconVerticalSolidList"/>
    <dgm:cxn modelId="{CB31C739-D0B3-4E89-B566-F958EBD83803}" type="presParOf" srcId="{E9FD8511-121C-4533-8230-3043A01570C4}" destId="{F1E9DABA-4A78-4A7C-92A3-2769CFAAA299}" srcOrd="3" destOrd="0" presId="urn:microsoft.com/office/officeart/2018/2/layout/IconVerticalSolidList"/>
    <dgm:cxn modelId="{FECCD484-AC06-4F1B-A4ED-30E58608EE1E}" type="presParOf" srcId="{0B0F3093-D595-4485-990D-54F6A54BD3F5}" destId="{D6DE1C0D-BA00-4BC3-B398-A8334152878F}" srcOrd="1" destOrd="0" presId="urn:microsoft.com/office/officeart/2018/2/layout/IconVerticalSolidList"/>
    <dgm:cxn modelId="{11CAD384-DA39-4AD6-B3D3-0C97444F1A4D}" type="presParOf" srcId="{0B0F3093-D595-4485-990D-54F6A54BD3F5}" destId="{B04D48B7-475A-4588-BA73-0CFD4B28F41A}" srcOrd="2" destOrd="0" presId="urn:microsoft.com/office/officeart/2018/2/layout/IconVerticalSolidList"/>
    <dgm:cxn modelId="{C6A256C4-67F0-43EE-BF18-1E44AD4769F2}" type="presParOf" srcId="{B04D48B7-475A-4588-BA73-0CFD4B28F41A}" destId="{56C31C89-E2A5-4B31-A70E-07CF4619779F}" srcOrd="0" destOrd="0" presId="urn:microsoft.com/office/officeart/2018/2/layout/IconVerticalSolidList"/>
    <dgm:cxn modelId="{E0358D60-1B91-488A-BE17-E425F8BE90B0}" type="presParOf" srcId="{B04D48B7-475A-4588-BA73-0CFD4B28F41A}" destId="{189050A5-6E93-4CFE-B66B-F3300D246A6C}" srcOrd="1" destOrd="0" presId="urn:microsoft.com/office/officeart/2018/2/layout/IconVerticalSolidList"/>
    <dgm:cxn modelId="{11E4C39F-445A-4D67-A0A0-BA207B4C4D41}" type="presParOf" srcId="{B04D48B7-475A-4588-BA73-0CFD4B28F41A}" destId="{6B705DE7-6D8B-402F-AE00-F9C90732E915}" srcOrd="2" destOrd="0" presId="urn:microsoft.com/office/officeart/2018/2/layout/IconVerticalSolidList"/>
    <dgm:cxn modelId="{2EEF7783-C771-4E99-9979-4838961B1D40}" type="presParOf" srcId="{B04D48B7-475A-4588-BA73-0CFD4B28F41A}" destId="{02E9BE70-CD6A-4520-AAD2-120B294777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77041-4C78-4DB8-8996-8F2E43F4A03B}">
      <dsp:nvSpPr>
        <dsp:cNvPr id="0" name=""/>
        <dsp:cNvSpPr/>
      </dsp:nvSpPr>
      <dsp:spPr>
        <a:xfrm>
          <a:off x="788669" y="0"/>
          <a:ext cx="8938260" cy="4357524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87AFB-9017-443C-A760-97D5CC31D568}">
      <dsp:nvSpPr>
        <dsp:cNvPr id="0" name=""/>
        <dsp:cNvSpPr/>
      </dsp:nvSpPr>
      <dsp:spPr>
        <a:xfrm>
          <a:off x="134654" y="1307257"/>
          <a:ext cx="4994910" cy="17430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Performance differences between threshold and non-threshold datasets </a:t>
          </a:r>
          <a:endParaRPr lang="en-US" sz="3000" kern="1200" dirty="0"/>
        </a:p>
      </dsp:txBody>
      <dsp:txXfrm>
        <a:off x="219741" y="1392344"/>
        <a:ext cx="4824736" cy="1572835"/>
      </dsp:txXfrm>
    </dsp:sp>
    <dsp:sp modelId="{93196FE5-493E-48F7-86F2-6BF14812556D}">
      <dsp:nvSpPr>
        <dsp:cNvPr id="0" name=""/>
        <dsp:cNvSpPr/>
      </dsp:nvSpPr>
      <dsp:spPr>
        <a:xfrm>
          <a:off x="5386035" y="1307257"/>
          <a:ext cx="4994910" cy="174300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Comparison between PLS-DA and Random Forest</a:t>
          </a:r>
          <a:endParaRPr lang="en-US" sz="3000" kern="1200"/>
        </a:p>
      </dsp:txBody>
      <dsp:txXfrm>
        <a:off x="5471122" y="1392344"/>
        <a:ext cx="4824736" cy="1572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8EDD8-BAD2-4870-83B4-A3EE1087A23B}">
      <dsp:nvSpPr>
        <dsp:cNvPr id="0" name=""/>
        <dsp:cNvSpPr/>
      </dsp:nvSpPr>
      <dsp:spPr>
        <a:xfrm>
          <a:off x="0" y="565670"/>
          <a:ext cx="10168127" cy="11428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3F20F-29DE-4D85-8C17-9F325C47C576}">
      <dsp:nvSpPr>
        <dsp:cNvPr id="0" name=""/>
        <dsp:cNvSpPr/>
      </dsp:nvSpPr>
      <dsp:spPr>
        <a:xfrm>
          <a:off x="345722" y="822819"/>
          <a:ext cx="628587" cy="628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9DABA-4A78-4A7C-92A3-2769CFAAA299}">
      <dsp:nvSpPr>
        <dsp:cNvPr id="0" name=""/>
        <dsp:cNvSpPr/>
      </dsp:nvSpPr>
      <dsp:spPr>
        <a:xfrm>
          <a:off x="1320032" y="565670"/>
          <a:ext cx="8848095" cy="1142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55" tIns="120955" rIns="120955" bIns="1209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Both PLS-DA and Random Forest achieve strong performance, indicating that the classification task is well-defined.</a:t>
          </a:r>
          <a:br>
            <a:rPr lang="en-GB" sz="1400" kern="1200"/>
          </a:br>
          <a:r>
            <a:rPr lang="en-GB" sz="1400" kern="1200"/>
            <a:t>However, PLS-DA generally shows better generalization, performing more consistently when applied to different datasets.</a:t>
          </a:r>
          <a:endParaRPr lang="en-US" sz="1400" kern="1200"/>
        </a:p>
      </dsp:txBody>
      <dsp:txXfrm>
        <a:off x="1320032" y="565670"/>
        <a:ext cx="8848095" cy="1142885"/>
      </dsp:txXfrm>
    </dsp:sp>
    <dsp:sp modelId="{56C31C89-E2A5-4B31-A70E-07CF4619779F}">
      <dsp:nvSpPr>
        <dsp:cNvPr id="0" name=""/>
        <dsp:cNvSpPr/>
      </dsp:nvSpPr>
      <dsp:spPr>
        <a:xfrm>
          <a:off x="0" y="1985619"/>
          <a:ext cx="10168127" cy="11428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050A5-6E93-4CFE-B66B-F3300D246A6C}">
      <dsp:nvSpPr>
        <dsp:cNvPr id="0" name=""/>
        <dsp:cNvSpPr/>
      </dsp:nvSpPr>
      <dsp:spPr>
        <a:xfrm>
          <a:off x="345722" y="2242768"/>
          <a:ext cx="628587" cy="628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9BE70-CD6A-4520-AAD2-120B29477732}">
      <dsp:nvSpPr>
        <dsp:cNvPr id="0" name=""/>
        <dsp:cNvSpPr/>
      </dsp:nvSpPr>
      <dsp:spPr>
        <a:xfrm>
          <a:off x="1320032" y="1985619"/>
          <a:ext cx="8848095" cy="1142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55" tIns="120955" rIns="120955" bIns="1209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Rather than prioritizing one model over the other, a combined approach may be more informative, identifying proteins that are consistently relevant across both methods.</a:t>
          </a:r>
          <a:endParaRPr lang="en-US" sz="1400" kern="1200"/>
        </a:p>
      </dsp:txBody>
      <dsp:txXfrm>
        <a:off x="1320032" y="1985619"/>
        <a:ext cx="8848095" cy="1142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85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8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5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0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2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8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1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7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2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26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1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30A756E9-C643-FE55-CC3C-2C392D5B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6" r="-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F5BD33A-B6B3-5145-E931-B63AD1D70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GB" sz="2600"/>
              <a:t>Comparison Between PLS-DA and Random Forest in Selecting the Most Significant Proteins for MCI-AD vs MCI-CT Classification</a:t>
            </a:r>
            <a:r>
              <a:rPr lang="it-IT" sz="2600"/>
              <a:t> </a:t>
            </a:r>
            <a:endParaRPr lang="en-GB" sz="2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11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4AB1F28-AEB1-9D7A-B317-A1BE7D19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GB" sz="2800"/>
              <a:t>Patient Cohort Overview without threshold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02736" y="1328435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ADDA0C-8A7B-46E9-4A94-8F639D501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Total patients:</a:t>
            </a:r>
          </a:p>
          <a:p>
            <a:r>
              <a:rPr lang="en-US" sz="1800" dirty="0"/>
              <a:t>Lisbon : 68 (MCI-AD:66% MCI-CT:34%)</a:t>
            </a:r>
          </a:p>
          <a:p>
            <a:r>
              <a:rPr lang="en-US" sz="1800" dirty="0"/>
              <a:t>Coimbra : 60 (MCI-AD:38% MCI-CT:62%)</a:t>
            </a:r>
          </a:p>
          <a:p>
            <a:r>
              <a:rPr lang="en-US" sz="1800" dirty="0"/>
              <a:t>Lisbon + Coimbra : 128 (MCI-AD:53% MCI-CT:47%)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1BA3AD6-911F-5655-3CFA-A889E531C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" y="3081950"/>
            <a:ext cx="3584448" cy="2688335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E6670A8-F5C7-4B7C-FBA2-DE8D7BF9F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599" y="3081950"/>
            <a:ext cx="3584448" cy="268833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9EF2982-7857-508B-B8FD-98EC9C907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415" y="3081950"/>
            <a:ext cx="3584448" cy="268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0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8AA2C-D577-7B0B-B1DB-3BDAABA8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00B20E-4442-0B7C-89DF-E5B4C2B2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GB" sz="2800" dirty="0"/>
              <a:t>Patient Cohort Overview with threshold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02736" y="1328435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D613F75-1F73-2DFD-D3B7-B1C9F951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Total patients: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Lisbon : 64 (MCI-AD:65% MCI-CT:35%)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Coimbra : 57 (MCI-AD:39% MCI-CT:61%)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Lisbon + Coimbra : 125 (MCI-AD:54% MCI-CT:46%)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7CF1F42-78E9-67B9-C080-44AB38F64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" y="3081950"/>
            <a:ext cx="3584448" cy="268833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21BA457-E279-4321-977C-45F4CDE19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599" y="3081950"/>
            <a:ext cx="3584448" cy="268833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3BD975E-60ED-48E3-50FD-CD4A2DE36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415" y="3081950"/>
            <a:ext cx="3584448" cy="268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5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BE24A30-5AE9-A20B-F8CB-F5CDAD84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GB" dirty="0"/>
              <a:t>Impact of Thresholding on Number of Selected Proteins</a:t>
            </a:r>
            <a:endParaRPr lang="en-US" dirty="0"/>
          </a:p>
        </p:txBody>
      </p:sp>
      <p:sp>
        <p:nvSpPr>
          <p:cNvPr id="24" name="Rectangle: Rounded Corners 17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4F9CFA4-CAFC-E3C4-CCED-6D3E88398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40" y="2139484"/>
            <a:ext cx="6827520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71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C5700A7-601A-7AA6-E762-A7B26C26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Presentation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asellaDiTesto 4">
            <a:extLst>
              <a:ext uri="{FF2B5EF4-FFF2-40B4-BE49-F238E27FC236}">
                <a16:creationId xmlns:a16="http://schemas.microsoft.com/office/drawing/2014/main" id="{9E568A70-C95B-A210-62C5-36DC5A9FC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984179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629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438BB8-393E-397A-3F73-6496D897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Random Forest pipeline</a:t>
            </a:r>
            <a:endParaRPr lang="en-GB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A88EF3A-63FA-9F43-B599-FD2C29E0BF0C}"/>
              </a:ext>
            </a:extLst>
          </p:cNvPr>
          <p:cNvSpPr/>
          <p:nvPr/>
        </p:nvSpPr>
        <p:spPr>
          <a:xfrm>
            <a:off x="600075" y="2371725"/>
            <a:ext cx="5495925" cy="11795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TRAINING 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BCF3141-FC75-BDBC-C078-8E54D2F93C46}"/>
              </a:ext>
            </a:extLst>
          </p:cNvPr>
          <p:cNvSpPr/>
          <p:nvPr/>
        </p:nvSpPr>
        <p:spPr>
          <a:xfrm>
            <a:off x="6096000" y="2371725"/>
            <a:ext cx="1924050" cy="117957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TEST 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70F9784-FABB-AB31-B88A-DFDF1C7B5030}"/>
              </a:ext>
            </a:extLst>
          </p:cNvPr>
          <p:cNvSpPr/>
          <p:nvPr/>
        </p:nvSpPr>
        <p:spPr>
          <a:xfrm>
            <a:off x="600075" y="4676775"/>
            <a:ext cx="3886175" cy="1179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SUBTRAINING</a:t>
            </a:r>
            <a:r>
              <a:rPr lang="it-IT" dirty="0"/>
              <a:t> </a:t>
            </a:r>
            <a:r>
              <a:rPr lang="it-IT" dirty="0">
                <a:solidFill>
                  <a:schemeClr val="tx1"/>
                </a:solidFill>
              </a:rPr>
              <a:t>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EDEBDD5-598F-2620-2FBA-4FB56192C1A9}"/>
              </a:ext>
            </a:extLst>
          </p:cNvPr>
          <p:cNvSpPr/>
          <p:nvPr/>
        </p:nvSpPr>
        <p:spPr>
          <a:xfrm>
            <a:off x="4486253" y="4676775"/>
            <a:ext cx="1609747" cy="1179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VALIDATION 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7FC0C165-EAE4-E5B7-275B-24E7968D7B7D}"/>
              </a:ext>
            </a:extLst>
          </p:cNvPr>
          <p:cNvSpPr/>
          <p:nvPr/>
        </p:nvSpPr>
        <p:spPr>
          <a:xfrm>
            <a:off x="1115568" y="3551301"/>
            <a:ext cx="427481" cy="112547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angolare in su 10">
            <a:extLst>
              <a:ext uri="{FF2B5EF4-FFF2-40B4-BE49-F238E27FC236}">
                <a16:creationId xmlns:a16="http://schemas.microsoft.com/office/drawing/2014/main" id="{CD7CFA68-0C36-7BFF-D273-604856433CEA}"/>
              </a:ext>
            </a:extLst>
          </p:cNvPr>
          <p:cNvSpPr/>
          <p:nvPr/>
        </p:nvSpPr>
        <p:spPr>
          <a:xfrm rot="5400000">
            <a:off x="1286637" y="5817489"/>
            <a:ext cx="723900" cy="801624"/>
          </a:xfrm>
          <a:prstGeom prst="bentUp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7095D13-FE6F-356A-C299-3187A7FDA8C5}"/>
              </a:ext>
            </a:extLst>
          </p:cNvPr>
          <p:cNvSpPr/>
          <p:nvPr/>
        </p:nvSpPr>
        <p:spPr>
          <a:xfrm>
            <a:off x="2049398" y="6124575"/>
            <a:ext cx="2217801" cy="550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BOOTSTRAP X50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FBC47452-B0D5-B229-5D35-FA85107C63A7}"/>
              </a:ext>
            </a:extLst>
          </p:cNvPr>
          <p:cNvSpPr/>
          <p:nvPr/>
        </p:nvSpPr>
        <p:spPr>
          <a:xfrm>
            <a:off x="4267199" y="6218301"/>
            <a:ext cx="801624" cy="36195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5ADA745-1371-8660-C681-7CA03FFF6105}"/>
              </a:ext>
            </a:extLst>
          </p:cNvPr>
          <p:cNvSpPr/>
          <p:nvPr/>
        </p:nvSpPr>
        <p:spPr>
          <a:xfrm>
            <a:off x="5075304" y="6124575"/>
            <a:ext cx="2217801" cy="550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CUMULATIVE IMPORTANCE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Freccia angolare in su 15">
            <a:extLst>
              <a:ext uri="{FF2B5EF4-FFF2-40B4-BE49-F238E27FC236}">
                <a16:creationId xmlns:a16="http://schemas.microsoft.com/office/drawing/2014/main" id="{C14DDE0D-156B-E321-23A6-AE1E7D113D28}"/>
              </a:ext>
            </a:extLst>
          </p:cNvPr>
          <p:cNvSpPr/>
          <p:nvPr/>
        </p:nvSpPr>
        <p:spPr>
          <a:xfrm rot="16200000">
            <a:off x="6181725" y="5429250"/>
            <a:ext cx="609600" cy="781050"/>
          </a:xfrm>
          <a:prstGeom prst="bentUp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062F5617-79A2-7C3E-1789-1416E80A49F4}"/>
              </a:ext>
            </a:extLst>
          </p:cNvPr>
          <p:cNvSpPr/>
          <p:nvPr/>
        </p:nvSpPr>
        <p:spPr>
          <a:xfrm>
            <a:off x="6096000" y="5105400"/>
            <a:ext cx="1197105" cy="409574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2B66F32-224A-8FDA-1EA6-4F88873E0D96}"/>
              </a:ext>
            </a:extLst>
          </p:cNvPr>
          <p:cNvSpPr/>
          <p:nvPr/>
        </p:nvSpPr>
        <p:spPr>
          <a:xfrm>
            <a:off x="7293105" y="5018913"/>
            <a:ext cx="1924050" cy="4952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MCC / AUC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4975E49-CF97-7170-A8E9-A2AA1F3FBB41}"/>
              </a:ext>
            </a:extLst>
          </p:cNvPr>
          <p:cNvSpPr txBox="1"/>
          <p:nvPr/>
        </p:nvSpPr>
        <p:spPr>
          <a:xfrm>
            <a:off x="2" y="5081896"/>
            <a:ext cx="60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 5</a:t>
            </a:r>
            <a:endParaRPr lang="en-GB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2DA4E27-B2C5-AA3E-B8CA-8CE0FCB32108}"/>
              </a:ext>
            </a:extLst>
          </p:cNvPr>
          <p:cNvSpPr txBox="1"/>
          <p:nvPr/>
        </p:nvSpPr>
        <p:spPr>
          <a:xfrm>
            <a:off x="8429625" y="2257425"/>
            <a:ext cx="33813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pipeline includes cross-validation with bootstrap-based feature selection.</a:t>
            </a:r>
            <a:br>
              <a:rPr lang="en-GB" dirty="0"/>
            </a:br>
            <a:r>
              <a:rPr lang="en-GB" dirty="0"/>
              <a:t>Different cumulative importance thresholds (0.7, 0.8, 0.9) are evaluated, and the entire process is repeated over 15 random seeds to ensure robustness.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D28F5AE-1B00-2D84-2A61-752B0C62437C}"/>
              </a:ext>
            </a:extLst>
          </p:cNvPr>
          <p:cNvSpPr txBox="1"/>
          <p:nvPr/>
        </p:nvSpPr>
        <p:spPr>
          <a:xfrm>
            <a:off x="7410447" y="6124575"/>
            <a:ext cx="1806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200 </a:t>
            </a:r>
            <a:r>
              <a:rPr lang="it-IT" dirty="0" err="1"/>
              <a:t>trees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bootstrap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248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942B-3519-E2FD-1493-3565F1CA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CB097F-C69F-3144-58E6-D4640DB1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PLS-DA pipeline</a:t>
            </a:r>
            <a:endParaRPr lang="en-GB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E098718-B3F2-4F01-AD3C-2C851DEADCA2}"/>
              </a:ext>
            </a:extLst>
          </p:cNvPr>
          <p:cNvSpPr/>
          <p:nvPr/>
        </p:nvSpPr>
        <p:spPr>
          <a:xfrm>
            <a:off x="600075" y="2371725"/>
            <a:ext cx="5495925" cy="11795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TRAINING 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C6D6DF6-DE5D-34F3-1C51-AF51CF044F59}"/>
              </a:ext>
            </a:extLst>
          </p:cNvPr>
          <p:cNvSpPr/>
          <p:nvPr/>
        </p:nvSpPr>
        <p:spPr>
          <a:xfrm>
            <a:off x="6096000" y="2371725"/>
            <a:ext cx="1924050" cy="117957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TEST 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EE454F7-7532-F711-B7B2-3C81F9442BF6}"/>
              </a:ext>
            </a:extLst>
          </p:cNvPr>
          <p:cNvSpPr/>
          <p:nvPr/>
        </p:nvSpPr>
        <p:spPr>
          <a:xfrm>
            <a:off x="600075" y="4676775"/>
            <a:ext cx="3886175" cy="1179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SUBTRAINING</a:t>
            </a:r>
            <a:r>
              <a:rPr lang="it-IT" dirty="0"/>
              <a:t> </a:t>
            </a:r>
            <a:r>
              <a:rPr lang="it-IT" dirty="0">
                <a:solidFill>
                  <a:schemeClr val="tx1"/>
                </a:solidFill>
              </a:rPr>
              <a:t>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F5F254F-7AB4-A624-5710-DF2A1F62C932}"/>
              </a:ext>
            </a:extLst>
          </p:cNvPr>
          <p:cNvSpPr/>
          <p:nvPr/>
        </p:nvSpPr>
        <p:spPr>
          <a:xfrm>
            <a:off x="4486253" y="4676775"/>
            <a:ext cx="1609747" cy="1179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VALIDATION SET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E712DCCC-3CBB-6068-EEB2-EE0D21A40C6D}"/>
              </a:ext>
            </a:extLst>
          </p:cNvPr>
          <p:cNvSpPr/>
          <p:nvPr/>
        </p:nvSpPr>
        <p:spPr>
          <a:xfrm>
            <a:off x="1115568" y="3551301"/>
            <a:ext cx="427481" cy="112547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angolare in su 10">
            <a:extLst>
              <a:ext uri="{FF2B5EF4-FFF2-40B4-BE49-F238E27FC236}">
                <a16:creationId xmlns:a16="http://schemas.microsoft.com/office/drawing/2014/main" id="{B2A13FF4-9B69-ED19-720C-EE7E601373B9}"/>
              </a:ext>
            </a:extLst>
          </p:cNvPr>
          <p:cNvSpPr/>
          <p:nvPr/>
        </p:nvSpPr>
        <p:spPr>
          <a:xfrm rot="5400000">
            <a:off x="1286637" y="5817489"/>
            <a:ext cx="723900" cy="801624"/>
          </a:xfrm>
          <a:prstGeom prst="bentUp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B97CD7D-B15E-7873-5520-9CE16B637093}"/>
              </a:ext>
            </a:extLst>
          </p:cNvPr>
          <p:cNvSpPr/>
          <p:nvPr/>
        </p:nvSpPr>
        <p:spPr>
          <a:xfrm>
            <a:off x="2049398" y="6124575"/>
            <a:ext cx="2217801" cy="550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BOOTSTRAP X50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7BF51798-5FE1-FE94-1A9A-2EAE91881AB5}"/>
              </a:ext>
            </a:extLst>
          </p:cNvPr>
          <p:cNvSpPr/>
          <p:nvPr/>
        </p:nvSpPr>
        <p:spPr>
          <a:xfrm>
            <a:off x="4267199" y="6218301"/>
            <a:ext cx="801624" cy="36195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ACC9E20-7801-7726-DCDE-3E38A8D55F07}"/>
              </a:ext>
            </a:extLst>
          </p:cNvPr>
          <p:cNvSpPr/>
          <p:nvPr/>
        </p:nvSpPr>
        <p:spPr>
          <a:xfrm>
            <a:off x="5075304" y="6124575"/>
            <a:ext cx="2217801" cy="550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VIP FREQUENCY (&gt;1)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Freccia angolare in su 15">
            <a:extLst>
              <a:ext uri="{FF2B5EF4-FFF2-40B4-BE49-F238E27FC236}">
                <a16:creationId xmlns:a16="http://schemas.microsoft.com/office/drawing/2014/main" id="{FE89DA81-1FAC-E6BF-3DBA-DCF4FCFED80B}"/>
              </a:ext>
            </a:extLst>
          </p:cNvPr>
          <p:cNvSpPr/>
          <p:nvPr/>
        </p:nvSpPr>
        <p:spPr>
          <a:xfrm rot="16200000">
            <a:off x="6181725" y="5429250"/>
            <a:ext cx="609600" cy="781050"/>
          </a:xfrm>
          <a:prstGeom prst="bentUp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7140CDB3-A90B-5FFF-7F48-324FFA00BAC9}"/>
              </a:ext>
            </a:extLst>
          </p:cNvPr>
          <p:cNvSpPr/>
          <p:nvPr/>
        </p:nvSpPr>
        <p:spPr>
          <a:xfrm>
            <a:off x="6096000" y="5105400"/>
            <a:ext cx="1197105" cy="409574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8B7CF48-1995-67CA-E40E-D158C6B21133}"/>
              </a:ext>
            </a:extLst>
          </p:cNvPr>
          <p:cNvSpPr/>
          <p:nvPr/>
        </p:nvSpPr>
        <p:spPr>
          <a:xfrm>
            <a:off x="7293105" y="5018913"/>
            <a:ext cx="1924050" cy="4952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MCC / AUC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68706CC-C991-0E6E-ADE5-DBEDDB2035D4}"/>
              </a:ext>
            </a:extLst>
          </p:cNvPr>
          <p:cNvSpPr txBox="1"/>
          <p:nvPr/>
        </p:nvSpPr>
        <p:spPr>
          <a:xfrm>
            <a:off x="2" y="5081896"/>
            <a:ext cx="600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 5</a:t>
            </a:r>
            <a:endParaRPr lang="en-GB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29D258C-72E3-D5FA-D0BB-5FA576AF8F6E}"/>
              </a:ext>
            </a:extLst>
          </p:cNvPr>
          <p:cNvSpPr txBox="1"/>
          <p:nvPr/>
        </p:nvSpPr>
        <p:spPr>
          <a:xfrm>
            <a:off x="8429625" y="2257425"/>
            <a:ext cx="3381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Feature selection is based on VIP scores (VIP &gt; 1) combined with selection frequency across bootstrap iterations.</a:t>
            </a:r>
            <a:br>
              <a:rPr lang="en-GB" dirty="0"/>
            </a:br>
            <a:r>
              <a:rPr lang="en-GB" dirty="0"/>
              <a:t>Multiple frequency thresholds (0.1–1.0) are tested, and the pipeline is repeated over 15 seeds to ensure robustness.</a:t>
            </a:r>
          </a:p>
        </p:txBody>
      </p:sp>
    </p:spTree>
    <p:extLst>
      <p:ext uri="{BB962C8B-B14F-4D97-AF65-F5344CB8AC3E}">
        <p14:creationId xmlns:p14="http://schemas.microsoft.com/office/powerpoint/2010/main" val="2608588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E827B8-FF58-59FD-28C6-D070DFB3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GB" sz="3200"/>
              <a:t>Evaluation Metrics: MCC and AUC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egnaposto contenuto 2">
            <a:extLst>
              <a:ext uri="{FF2B5EF4-FFF2-40B4-BE49-F238E27FC236}">
                <a16:creationId xmlns:a16="http://schemas.microsoft.com/office/drawing/2014/main" id="{A705B712-DA23-8AD7-EF70-7D9FD0491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Model performance was evaluated using Matthews Correlation Coefficient (MCC) and Area Under the Curve (AUC).</a:t>
            </a:r>
            <a:br>
              <a:rPr lang="en-GB" sz="1800" dirty="0"/>
            </a:br>
            <a:r>
              <a:rPr lang="en-GB" sz="1800" dirty="0"/>
              <a:t>MCC provides a balanced measure of classification quality, taking into account all elements of the confusion matrix and being robust to class imbalance.</a:t>
            </a:r>
            <a:br>
              <a:rPr lang="en-GB" sz="1800" dirty="0"/>
            </a:br>
            <a:r>
              <a:rPr lang="en-GB" sz="1800" dirty="0"/>
              <a:t>AUC evaluates the model’s ability to distinguish between classes across different thresholds.</a:t>
            </a:r>
          </a:p>
          <a:p>
            <a:pPr marL="0" indent="0">
              <a:buNone/>
            </a:pPr>
            <a:r>
              <a:rPr lang="en-GB" sz="1800" dirty="0"/>
              <a:t>Together, these metrics provide a comprehensive assessment of both classification accuracy and discriminative performance.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7" name="Graphic 6" descr="Forme base con riempimento a tinta unita">
            <a:extLst>
              <a:ext uri="{FF2B5EF4-FFF2-40B4-BE49-F238E27FC236}">
                <a16:creationId xmlns:a16="http://schemas.microsoft.com/office/drawing/2014/main" id="{33C23BEC-42F4-184A-ECCF-258E44DBA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4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039E15-05CE-2E8C-89DC-547E5E9B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Impact of Thresholding in Data Preprocessing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E7666F7-2246-4BB4-ADEC-5868910C2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175307"/>
              </p:ext>
            </p:extLst>
          </p:nvPr>
        </p:nvGraphicFramePr>
        <p:xfrm>
          <a:off x="174625" y="2424641"/>
          <a:ext cx="567372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242">
                  <a:extLst>
                    <a:ext uri="{9D8B030D-6E8A-4147-A177-3AD203B41FA5}">
                      <a16:colId xmlns:a16="http://schemas.microsoft.com/office/drawing/2014/main" val="2547589319"/>
                    </a:ext>
                  </a:extLst>
                </a:gridCol>
                <a:gridCol w="1891242">
                  <a:extLst>
                    <a:ext uri="{9D8B030D-6E8A-4147-A177-3AD203B41FA5}">
                      <a16:colId xmlns:a16="http://schemas.microsoft.com/office/drawing/2014/main" val="1481766689"/>
                    </a:ext>
                  </a:extLst>
                </a:gridCol>
                <a:gridCol w="1891242">
                  <a:extLst>
                    <a:ext uri="{9D8B030D-6E8A-4147-A177-3AD203B41FA5}">
                      <a16:colId xmlns:a16="http://schemas.microsoft.com/office/drawing/2014/main" val="1251629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WITH THRESHOLD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 THRESHOLD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502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0.8834</a:t>
                      </a:r>
                    </a:p>
                    <a:p>
                      <a:r>
                        <a:rPr lang="it-IT" dirty="0"/>
                        <a:t>AUC = 0.9773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0.8250</a:t>
                      </a:r>
                    </a:p>
                    <a:p>
                      <a:r>
                        <a:rPr lang="it-IT" dirty="0"/>
                        <a:t>AUC = 0.9667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599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0.9773</a:t>
                      </a:r>
                    </a:p>
                    <a:p>
                      <a:r>
                        <a:rPr lang="it-IT" dirty="0"/>
                        <a:t>AUC =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0.9415</a:t>
                      </a:r>
                    </a:p>
                    <a:p>
                      <a:r>
                        <a:rPr lang="it-IT" dirty="0"/>
                        <a:t>AUC = 0.9965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6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LISBON+</a:t>
                      </a:r>
                    </a:p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0.9520</a:t>
                      </a:r>
                    </a:p>
                    <a:p>
                      <a:r>
                        <a:rPr lang="it-IT" dirty="0"/>
                        <a:t>AUC = 0.9970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0.9292</a:t>
                      </a:r>
                    </a:p>
                    <a:p>
                      <a:r>
                        <a:rPr lang="it-IT" dirty="0"/>
                        <a:t>AUC = 0.9937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70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COIMBRA(TRAIN)/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LISBOA(TEST)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MCC= 0.5158</a:t>
                      </a:r>
                    </a:p>
                    <a:p>
                      <a:r>
                        <a:rPr lang="it-IT" dirty="0"/>
                        <a:t>AUC = 0.8439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0.5026</a:t>
                      </a:r>
                    </a:p>
                    <a:p>
                      <a:r>
                        <a:rPr lang="it-IT" dirty="0"/>
                        <a:t>AUC = 0.8435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12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LISBON(TRAIN)/</a:t>
                      </a:r>
                    </a:p>
                    <a:p>
                      <a:r>
                        <a:rPr lang="it-IT" sz="1600" dirty="0"/>
                        <a:t>COIMBRA(TEST)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0.906</a:t>
                      </a:r>
                    </a:p>
                    <a:p>
                      <a:r>
                        <a:rPr lang="it-IT" dirty="0"/>
                        <a:t>AUC = 0.9911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0.9092</a:t>
                      </a:r>
                    </a:p>
                    <a:p>
                      <a:r>
                        <a:rPr lang="it-IT" dirty="0"/>
                        <a:t>AUC = 0.9936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98651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91B260E-9709-7812-4896-F4E8E3517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997133"/>
              </p:ext>
            </p:extLst>
          </p:nvPr>
        </p:nvGraphicFramePr>
        <p:xfrm>
          <a:off x="6343649" y="2424640"/>
          <a:ext cx="5673726" cy="384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242">
                  <a:extLst>
                    <a:ext uri="{9D8B030D-6E8A-4147-A177-3AD203B41FA5}">
                      <a16:colId xmlns:a16="http://schemas.microsoft.com/office/drawing/2014/main" val="2547589319"/>
                    </a:ext>
                  </a:extLst>
                </a:gridCol>
                <a:gridCol w="1891242">
                  <a:extLst>
                    <a:ext uri="{9D8B030D-6E8A-4147-A177-3AD203B41FA5}">
                      <a16:colId xmlns:a16="http://schemas.microsoft.com/office/drawing/2014/main" val="1481766689"/>
                    </a:ext>
                  </a:extLst>
                </a:gridCol>
                <a:gridCol w="1891242">
                  <a:extLst>
                    <a:ext uri="{9D8B030D-6E8A-4147-A177-3AD203B41FA5}">
                      <a16:colId xmlns:a16="http://schemas.microsoft.com/office/drawing/2014/main" val="1251629936"/>
                    </a:ext>
                  </a:extLst>
                </a:gridCol>
              </a:tblGrid>
              <a:tr h="64083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WITH THRESHOLD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 THRESHOLD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502659"/>
                  </a:ext>
                </a:extLst>
              </a:tr>
              <a:tr h="63970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0.8747</a:t>
                      </a:r>
                    </a:p>
                    <a:p>
                      <a:r>
                        <a:rPr lang="it-IT" dirty="0"/>
                        <a:t>AUC =0.9703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0.7683</a:t>
                      </a:r>
                    </a:p>
                    <a:p>
                      <a:r>
                        <a:rPr lang="it-IT" dirty="0"/>
                        <a:t>AUC = 0.9600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599225"/>
                  </a:ext>
                </a:extLst>
              </a:tr>
              <a:tr h="639702">
                <a:tc>
                  <a:txBody>
                    <a:bodyPr/>
                    <a:lstStyle/>
                    <a:p>
                      <a:r>
                        <a:rPr lang="it-IT" dirty="0"/>
                        <a:t>COIBRA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0.9473</a:t>
                      </a:r>
                    </a:p>
                    <a:p>
                      <a:r>
                        <a:rPr lang="it-IT" dirty="0"/>
                        <a:t>AUC = 0.9982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0.8956</a:t>
                      </a:r>
                    </a:p>
                    <a:p>
                      <a:r>
                        <a:rPr lang="it-IT" dirty="0"/>
                        <a:t>AUC = 0.9939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686902"/>
                  </a:ext>
                </a:extLst>
              </a:tr>
              <a:tr h="640836">
                <a:tc>
                  <a:txBody>
                    <a:bodyPr/>
                    <a:lstStyle/>
                    <a:p>
                      <a:r>
                        <a:rPr lang="it-IT" dirty="0"/>
                        <a:t>LISBON+</a:t>
                      </a:r>
                    </a:p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0.9380</a:t>
                      </a:r>
                    </a:p>
                    <a:p>
                      <a:r>
                        <a:rPr lang="it-IT" dirty="0"/>
                        <a:t>AUC = 0.9953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0.9007</a:t>
                      </a:r>
                    </a:p>
                    <a:p>
                      <a:r>
                        <a:rPr lang="it-IT" dirty="0"/>
                        <a:t>AUC = 0.9920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703975"/>
                  </a:ext>
                </a:extLst>
              </a:tr>
              <a:tr h="6397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COIMBRA(TRAIN)/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LISBOA(TEST)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0.3770</a:t>
                      </a:r>
                    </a:p>
                    <a:p>
                      <a:r>
                        <a:rPr lang="it-IT" dirty="0"/>
                        <a:t>AUC =0.7560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0.3790</a:t>
                      </a:r>
                    </a:p>
                    <a:p>
                      <a:r>
                        <a:rPr lang="it-IT" dirty="0"/>
                        <a:t>AUC = 0.7400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12489"/>
                  </a:ext>
                </a:extLst>
              </a:tr>
              <a:tr h="639702">
                <a:tc>
                  <a:txBody>
                    <a:bodyPr/>
                    <a:lstStyle/>
                    <a:p>
                      <a:r>
                        <a:rPr lang="it-IT" sz="1600" dirty="0"/>
                        <a:t>LISBON(TRAIN)/</a:t>
                      </a:r>
                    </a:p>
                    <a:p>
                      <a:r>
                        <a:rPr lang="it-IT" sz="1600" dirty="0"/>
                        <a:t>COIMBRA(TEST)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0.7140</a:t>
                      </a:r>
                    </a:p>
                    <a:p>
                      <a:r>
                        <a:rPr lang="it-IT" dirty="0"/>
                        <a:t>AUC = 0.9870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MCC = 0.7140</a:t>
                      </a:r>
                    </a:p>
                    <a:p>
                      <a:r>
                        <a:rPr lang="it-IT" dirty="0"/>
                        <a:t>AUC = 0.9730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9865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0506D4D0-8B4C-5E3D-7C3F-DA8AD337D90C}"/>
              </a:ext>
            </a:extLst>
          </p:cNvPr>
          <p:cNvSpPr txBox="1"/>
          <p:nvPr/>
        </p:nvSpPr>
        <p:spPr>
          <a:xfrm>
            <a:off x="174625" y="2070621"/>
            <a:ext cx="567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PLS-DA</a:t>
            </a:r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95449F-9825-7076-1629-C5CC94C5884C}"/>
              </a:ext>
            </a:extLst>
          </p:cNvPr>
          <p:cNvSpPr txBox="1"/>
          <p:nvPr/>
        </p:nvSpPr>
        <p:spPr>
          <a:xfrm>
            <a:off x="6343649" y="2055308"/>
            <a:ext cx="567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RANDOM FOREST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918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6700220-F2B9-3B63-2DB5-D92D1B2B1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3700" dirty="0"/>
              <a:t>Impact of Thresholding in Data Preprocessing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E27B814-9250-8522-D8BA-640A0067D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" r="1953" b="-2"/>
          <a:stretch>
            <a:fillRect/>
          </a:stretch>
        </p:blipFill>
        <p:spPr>
          <a:xfrm>
            <a:off x="908304" y="2478024"/>
            <a:ext cx="7064121" cy="36941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8FBB3C-AAA0-E4FF-2972-BBAC5E66D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5850" y="2478024"/>
            <a:ext cx="2577846" cy="36941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/>
              <a:t>The proteins identified are largely consistent across both approaches.</a:t>
            </a:r>
            <a:br>
              <a:rPr lang="en-GB" sz="1800" dirty="0"/>
            </a:br>
            <a:r>
              <a:rPr lang="en-GB" sz="1800" dirty="0"/>
              <a:t>However, applying a threshold at the patient level generally results in a higher number of selected proteins.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409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FE70C0B-9577-702C-1CD4-6300851F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GB" sz="3600" dirty="0"/>
              <a:t>Impact of Thresholding in Data Preprocessing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E54001C-102C-9D82-8689-425C0E72E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749040"/>
            <a:ext cx="6702552" cy="4457200"/>
          </a:xfrm>
          <a:prstGeom prst="rect">
            <a:avLst/>
          </a:prstGeom>
        </p:spPr>
      </p:pic>
      <p:sp useBgFill="1">
        <p:nvSpPr>
          <p:cNvPr id="22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217F4E90-0EAD-0954-5308-F4708943E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/>
              <a:t>Protein selection is generally consistent across both approaches, as shown by the positive correlation.</a:t>
            </a:r>
            <a:br>
              <a:rPr lang="en-GB" sz="1800" dirty="0"/>
            </a:br>
            <a:r>
              <a:rPr lang="en-GB" sz="1800" dirty="0"/>
              <a:t>Nevertheless, some proteins exhibit different selection frequencies, suggesting that preprocessing choices can influence feature stability.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72568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1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3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78C577A-F97A-9E8D-CC21-53911C9C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Impact of Thresholding in Data Preprocessing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16A2E4E4-60F2-9588-AE16-FA996ADD4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Feature selection is generally consistent across approaches, but thresholding tends to increase stability by reducing the number of low-frequency proteins.</a:t>
            </a:r>
            <a:br>
              <a:rPr lang="en-GB" sz="1800" dirty="0"/>
            </a:br>
            <a:r>
              <a:rPr lang="en-GB" sz="1800" dirty="0"/>
              <a:t>Differences between models suggest that PLS-DA is more sensitive to preprocessing, while Random Forest appears more robust.</a:t>
            </a:r>
            <a:endParaRPr lang="en-US" sz="1700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D4ECB8E-C683-365E-F3C7-13122E2DD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1165310"/>
            <a:ext cx="6656832" cy="442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53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8B7F76-82C9-8D09-8396-E9DC4046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GB" sz="4800"/>
              <a:t>Choice of Patient-Level Thresholding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9E09F2-DE20-13F6-38A0-EA60253CB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68770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Based on previous analyses, the differences between threshold and no-threshold approaches are not substantial.</a:t>
            </a:r>
            <a:br>
              <a:rPr lang="en-GB" sz="1800" dirty="0"/>
            </a:br>
            <a:r>
              <a:rPr lang="en-GB" sz="1800" dirty="0"/>
              <a:t>However, applying a threshold at the patient level allows the selection of a larger number of proteins.</a:t>
            </a:r>
          </a:p>
          <a:p>
            <a:pPr marL="0" indent="0">
              <a:buNone/>
            </a:pPr>
            <a:r>
              <a:rPr lang="en-GB" sz="1800" dirty="0"/>
              <a:t>For this reason, the threshold-based dataset was chosen for subsequent analyses.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5011823C-CE10-505D-ABB5-6E8F17BC3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4066" y="1272395"/>
            <a:ext cx="4237686" cy="42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02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7D12574-25F0-4BB1-AA48-9DE7527AF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42D32F2-544F-AC5A-FF87-582C620B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/>
              <a:t>Performance of a Simple Random Forest Model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7A6E2D7A-1602-D544-B379-55B1FDAB7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076744"/>
            <a:ext cx="3703320" cy="2221991"/>
          </a:xfrm>
          <a:prstGeom prst="rect">
            <a:avLst/>
          </a:prstGeom>
        </p:spPr>
      </p:pic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DB1D0705-0963-0B7E-11AC-ED8335DB0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340" y="3076744"/>
            <a:ext cx="3703320" cy="2221991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BDC50FAB-C9CC-3E44-0D3F-BCEAA559E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592" y="3076744"/>
            <a:ext cx="3703320" cy="222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2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7D12574-25F0-4BB1-AA48-9DE7527AF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BB0F6FE-D90A-1A2F-2C5C-F4482C3B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/>
              <a:t>Performance of a Simple PLS-DA Model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EDDB3C4-322D-ECAA-2BC7-709DDD612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91578"/>
            <a:ext cx="3703320" cy="259232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0963BFF-7400-8AD5-9910-EE7633159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340" y="2891578"/>
            <a:ext cx="3703320" cy="259232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7268E10-A308-348B-A9D6-C9B37C26D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592" y="2891578"/>
            <a:ext cx="3703320" cy="259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4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23FE733-F95B-4DF6-AFC5-BEEB3577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6852464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6E21D26-FFA6-221C-49FE-7A7997A6F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978408"/>
            <a:ext cx="6007608" cy="1106424"/>
          </a:xfrm>
        </p:spPr>
        <p:txBody>
          <a:bodyPr>
            <a:normAutofit/>
          </a:bodyPr>
          <a:lstStyle/>
          <a:p>
            <a:r>
              <a:rPr lang="it-IT" sz="2800" dirty="0" err="1"/>
              <a:t>Comparison</a:t>
            </a:r>
            <a:r>
              <a:rPr lang="it-IT" sz="2800" dirty="0"/>
              <a:t> </a:t>
            </a:r>
            <a:r>
              <a:rPr lang="it-IT" sz="2800" dirty="0" err="1"/>
              <a:t>between</a:t>
            </a:r>
            <a:r>
              <a:rPr lang="it-IT" sz="2800" dirty="0"/>
              <a:t> PLS-DA and Random forest on </a:t>
            </a:r>
            <a:r>
              <a:rPr lang="it-IT" sz="2800" dirty="0" err="1"/>
              <a:t>Lisbon</a:t>
            </a:r>
            <a:endParaRPr lang="en-GB" sz="2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4" y="2121408"/>
            <a:ext cx="582472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56BF2C-60E1-4126-8FA6-CA2C74414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4" y="2359152"/>
            <a:ext cx="6007608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The plots display the distribution of feature selection frequencies for PLS-DA and Random Forest.</a:t>
            </a:r>
            <a:br>
              <a:rPr lang="en-GB" sz="2000" dirty="0"/>
            </a:br>
            <a:r>
              <a:rPr lang="en-GB" sz="2000" dirty="0"/>
              <a:t>PLS-DA shows more consistent selection of a subset of proteins, while Random Forest distributes importance across a larger number of features.</a:t>
            </a:r>
            <a:endParaRPr lang="en-US" sz="2000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C2F172F-3F6B-CC23-893A-689ED8267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956" y="633619"/>
            <a:ext cx="3535680" cy="265176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0835536-66B5-C1C4-AC4D-A44E84E27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178" y="3472468"/>
            <a:ext cx="353568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8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77FFA9-1647-50D5-72B6-E123F1B5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2" y="1144769"/>
            <a:ext cx="3724217" cy="289643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it-IT" dirty="0" err="1"/>
              <a:t>Comparison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PLS-DA and Random forest on </a:t>
            </a:r>
            <a:r>
              <a:rPr lang="it-IT" dirty="0" err="1"/>
              <a:t>Lisbon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8249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47A8C8C-0344-647C-EFEB-16F6E2E43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463740"/>
            <a:ext cx="3675888" cy="275691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C554CC3-7B88-0C0E-4FA1-20180867A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463740"/>
            <a:ext cx="3675888" cy="275691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4C19555-BDD6-293D-C482-631D2836E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3507871"/>
            <a:ext cx="3675888" cy="2756915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F764E85-0D10-0129-EEFB-804CD73BF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333" y="3507872"/>
            <a:ext cx="3675888" cy="275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21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7E97AE-5A83-CE5E-044A-3F0133F7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/>
          <a:p>
            <a:r>
              <a:rPr lang="it-IT" sz="3300" dirty="0" err="1"/>
              <a:t>Comparison</a:t>
            </a:r>
            <a:r>
              <a:rPr lang="it-IT" sz="3300" dirty="0"/>
              <a:t> </a:t>
            </a:r>
            <a:r>
              <a:rPr lang="it-IT" sz="3300" dirty="0" err="1"/>
              <a:t>between</a:t>
            </a:r>
            <a:r>
              <a:rPr lang="it-IT" sz="3300" dirty="0"/>
              <a:t> PLS-DA and Random forest on Coimbra</a:t>
            </a:r>
            <a:endParaRPr lang="en-GB" sz="3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F950831-2AB3-947A-797D-744A81F97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34" y="331311"/>
            <a:ext cx="3779520" cy="283464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BF2DB0-9D44-B1F8-AC3C-C6E9DF954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PLS-DA identifies a large number of proteins with high selection frequency, suggesting that many features contribute to the classification.</a:t>
            </a:r>
            <a:br>
              <a:rPr lang="en-GB" sz="1800" dirty="0"/>
            </a:br>
            <a:r>
              <a:rPr lang="en-GB" sz="1800" dirty="0"/>
              <a:t>In contrast, Random Forest concentrates on a smaller subset of highly relevant proteins, while treating many others as less informative or noise.</a:t>
            </a:r>
            <a:endParaRPr lang="en-US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9C9FEAE-DDDB-D7DF-D15D-99037286A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34" y="3343830"/>
            <a:ext cx="377952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406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B99BA08-D1D7-5CB3-A982-C0C5698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2" y="1144769"/>
            <a:ext cx="3724217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Comparison between </a:t>
            </a:r>
            <a:br>
              <a:rPr lang="en-US" sz="3700" dirty="0"/>
            </a:br>
            <a:r>
              <a:rPr lang="en-US" sz="3700" dirty="0"/>
              <a:t>PLS-DA and Random forest on Coimbra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8249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4CFFB66-7ADF-2F76-DCFA-378D77B53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463740"/>
            <a:ext cx="3675888" cy="275691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86BD68D-F3FC-147C-CD9E-9F045022C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463740"/>
            <a:ext cx="3675888" cy="275691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0416740-AA11-B4BC-523A-AC0E5B59C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3507871"/>
            <a:ext cx="3675888" cy="2756915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C461ABE-5657-F570-4298-42DCADE15A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333" y="3507872"/>
            <a:ext cx="3675888" cy="275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94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23FE733-F95B-4DF6-AFC5-BEEB3577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6852464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5E69AA5-8867-DD26-762D-0478B935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978408"/>
            <a:ext cx="6007608" cy="1106424"/>
          </a:xfrm>
        </p:spPr>
        <p:txBody>
          <a:bodyPr>
            <a:normAutofit/>
          </a:bodyPr>
          <a:lstStyle/>
          <a:p>
            <a:r>
              <a:rPr lang="it-IT" sz="2600"/>
              <a:t>Comparison</a:t>
            </a:r>
            <a:r>
              <a:rPr lang="it-IT" sz="2600" dirty="0"/>
              <a:t> </a:t>
            </a:r>
            <a:r>
              <a:rPr lang="it-IT" sz="2600"/>
              <a:t>between</a:t>
            </a:r>
            <a:r>
              <a:rPr lang="it-IT" sz="2600" dirty="0"/>
              <a:t> PLS-DA and Random forest on </a:t>
            </a:r>
            <a:r>
              <a:rPr lang="it-IT" sz="2600"/>
              <a:t>Lisbon</a:t>
            </a:r>
            <a:r>
              <a:rPr lang="it-IT" sz="2600" dirty="0"/>
              <a:t> + Coimbra</a:t>
            </a:r>
            <a:endParaRPr lang="en-GB" sz="26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4" y="2121408"/>
            <a:ext cx="582472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048306FC-461C-0602-B4E1-01D32589D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4" y="2359152"/>
            <a:ext cx="6007608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PLS-DA shows a broader distribution with many proteins selected at moderate to high frequencies, suggesting that multiple features contribute to the classification.</a:t>
            </a:r>
            <a:br>
              <a:rPr lang="en-GB" sz="2000" dirty="0"/>
            </a:br>
            <a:r>
              <a:rPr lang="en-GB" sz="2000" dirty="0"/>
              <a:t>In contrast, Random Forest exhibits a more polarized </a:t>
            </a:r>
            <a:r>
              <a:rPr lang="en-GB" sz="2000"/>
              <a:t>behavior</a:t>
            </a:r>
            <a:r>
              <a:rPr lang="en-GB" sz="2000" dirty="0"/>
              <a:t>, focusing on a smaller subset of highly selected proteins while assigning low importance to many others.</a:t>
            </a:r>
            <a:endParaRPr lang="en-US" sz="20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C3D3F58-7827-BD99-0C0A-1163C431B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956" y="633619"/>
            <a:ext cx="3535680" cy="265176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EDCBA69-36B0-5458-4BC2-11B1D602B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178" y="3472468"/>
            <a:ext cx="353568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21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D898B8EB-E53C-4E72-9817-B4BFCAD73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4E130362-2F35-4AB7-9EA5-DBC0F771A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56BE988C-7A5B-41EC-A46C-AEA93D8D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0292C30-2277-F794-A6C7-6913B4A8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1124712"/>
            <a:ext cx="4023360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Comparison between PLS-DA and Random forest on Lisbon + Coimbra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CB1EC0-40A9-4D5E-B7E2-6E3423CE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6862EC34-5E7F-FAA7-6BEE-4EBEB1E05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624" y="746840"/>
            <a:ext cx="3236976" cy="2427731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A5DB090F-AD7D-CB5C-B54A-B4BB9D2FF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088" y="746840"/>
            <a:ext cx="3236976" cy="2427731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DCBE52EF-2889-423F-947C-0E44A760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C90321E3-F98B-5CB3-512D-2A08A74E0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624" y="3509217"/>
            <a:ext cx="3236976" cy="2427731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333131A6-CD72-F4F0-199F-5382687193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042" y="3513582"/>
            <a:ext cx="3236976" cy="24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43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D52D21F-CBDB-9875-5A01-3BDEDCA3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/>
          <a:p>
            <a:r>
              <a:rPr lang="en-US" sz="3300" dirty="0"/>
              <a:t>Comparison between PLS-DA and Random forest on Coimbra (train) / Lisbon (test)</a:t>
            </a:r>
            <a:endParaRPr lang="en-GB" sz="3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636D36F-CD53-D191-4C12-EB6AF3852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34" y="331311"/>
            <a:ext cx="3779520" cy="283464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132C076-F50F-B36F-D5A5-50C988773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PLS-DA selects a large number of proteins with high selection frequency, indicating that many features contribute consistently to the model.</a:t>
            </a:r>
            <a:br>
              <a:rPr lang="en-GB" sz="1800" dirty="0"/>
            </a:br>
            <a:r>
              <a:rPr lang="en-GB" sz="1800" dirty="0"/>
              <a:t>In contrast, Random Forest focuses on a smaller subset of highly selected proteins, while treating many other proteins as noise.</a:t>
            </a:r>
            <a:endParaRPr lang="en-US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3DDC043-C01E-D674-5289-C9F4C10A2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34" y="3343830"/>
            <a:ext cx="377952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25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19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980DF22-18E6-36AA-2BCF-B69F6B47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2" y="1144769"/>
            <a:ext cx="3724217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dirty="0"/>
              <a:t>Comparison between PLS-DA and Random forest on Coimbra (train) / Lisbon (test)</a:t>
            </a:r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8249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6557AF3-AC34-DE1E-F3FD-FD496CFDC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463740"/>
            <a:ext cx="3675888" cy="275691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B6C8393-9DE3-A43E-E89F-5E145EF82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463740"/>
            <a:ext cx="3675888" cy="2756915"/>
          </a:xfrm>
          <a:prstGeom prst="rect">
            <a:avLst/>
          </a:prstGeom>
        </p:spPr>
      </p:pic>
      <p:sp>
        <p:nvSpPr>
          <p:cNvPr id="34" name="Rectangle 23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6D9648B-BB14-C46F-A831-894BAE737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3507871"/>
            <a:ext cx="3675888" cy="275691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D2D1AD0-719B-CB88-37A2-78F969AE08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333" y="3507872"/>
            <a:ext cx="3675888" cy="275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10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23FE733-F95B-4DF6-AFC5-BEEB3577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6852464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D4BFA34-BD0A-717B-DE66-D44C2B7D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978408"/>
            <a:ext cx="6007608" cy="1106424"/>
          </a:xfrm>
        </p:spPr>
        <p:txBody>
          <a:bodyPr>
            <a:normAutofit/>
          </a:bodyPr>
          <a:lstStyle/>
          <a:p>
            <a:r>
              <a:rPr lang="en-US" sz="2400" dirty="0"/>
              <a:t>Comparison between PLS-DA and Random forest on Lisbon (train) / Coimbra (test)</a:t>
            </a:r>
            <a:endParaRPr lang="en-GB" sz="2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4" y="2121408"/>
            <a:ext cx="582472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Content Placeholder 10">
            <a:extLst>
              <a:ext uri="{FF2B5EF4-FFF2-40B4-BE49-F238E27FC236}">
                <a16:creationId xmlns:a16="http://schemas.microsoft.com/office/drawing/2014/main" id="{89522797-5D23-9683-4103-0E32470C6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4" y="2359152"/>
            <a:ext cx="6007608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In this case, both models assign high importance to a large number of proteins, indicating that multiple features contribute to the classification.</a:t>
            </a:r>
            <a:br>
              <a:rPr lang="en-GB" sz="2000" dirty="0"/>
            </a:br>
            <a:r>
              <a:rPr lang="en-GB" sz="2000" dirty="0"/>
              <a:t>However, Random Forest selects a higher number of proteins with very high selection frequency, while PLS-DA shows a greater proportion of proteins with intermediate selection frequency.</a:t>
            </a:r>
            <a:endParaRPr lang="en-US" sz="2000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B61BF2B-B706-D962-0B86-1ED12D7E8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956" y="633619"/>
            <a:ext cx="3535680" cy="265176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0B5D55B-2022-A35D-B51A-69851516E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178" y="3472468"/>
            <a:ext cx="353568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23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6EEBB0F-3715-C462-7CF6-F0D17D56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72" y="1144769"/>
            <a:ext cx="3724217" cy="28964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Comparison between PLS-DA and Random forest on Lisbon (train) / Coimbra (test)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8249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4E63FA4-8116-2FA5-7A4B-6B402C372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463740"/>
            <a:ext cx="3675888" cy="275691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3226E0F-68C6-7590-4407-DB525D055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463740"/>
            <a:ext cx="3675888" cy="275691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36286D2-28B4-4E00-4F98-98960F55D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151" y="3507871"/>
            <a:ext cx="3675888" cy="2756915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9FFC97E-117D-FDB7-1A58-6F827B9E9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333" y="3507872"/>
            <a:ext cx="3675888" cy="275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3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71A301-9C4D-D566-433C-8A49FA5B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Comparison Between PLS-DA and Random Forest</a:t>
            </a:r>
            <a:endParaRPr lang="en-GB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17A7E5EC-B22E-3F5C-26A8-C677BDE76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00804"/>
              </p:ext>
            </p:extLst>
          </p:nvPr>
        </p:nvGraphicFramePr>
        <p:xfrm>
          <a:off x="1115568" y="2478024"/>
          <a:ext cx="10168128" cy="369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765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11C8812-E06D-66BF-7560-D52BC8F1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3728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Protein Selection Across Models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E487B43-5980-2437-1521-56A97C08C67F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 dirty="0"/>
              <a:t>Proteins were categorized based on their selection frequency across PLS-DA and Random Forest models.</a:t>
            </a:r>
            <a:br>
              <a:rPr lang="en-US" sz="900" dirty="0"/>
            </a:br>
            <a:r>
              <a:rPr lang="en-US" sz="900" dirty="0"/>
              <a:t>For each protein, selection frequencies from both models were combined and used to define four categories: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Core : frequently selected by both models (≥ 0.5)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Model-specific : highly selected by one model (≥ 0.7) but not the other (&lt; 0.3)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Noise : rarely selected by both models (&lt; 0.3)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Intermediate : all remaining cases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 dirty="0"/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F99B186F-78ED-D16B-355C-DDD1BED8D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029325"/>
              </p:ext>
            </p:extLst>
          </p:nvPr>
        </p:nvGraphicFramePr>
        <p:xfrm>
          <a:off x="557784" y="2897206"/>
          <a:ext cx="11164826" cy="3285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2950">
                  <a:extLst>
                    <a:ext uri="{9D8B030D-6E8A-4147-A177-3AD203B41FA5}">
                      <a16:colId xmlns:a16="http://schemas.microsoft.com/office/drawing/2014/main" val="825996712"/>
                    </a:ext>
                  </a:extLst>
                </a:gridCol>
                <a:gridCol w="2651682">
                  <a:extLst>
                    <a:ext uri="{9D8B030D-6E8A-4147-A177-3AD203B41FA5}">
                      <a16:colId xmlns:a16="http://schemas.microsoft.com/office/drawing/2014/main" val="2778173246"/>
                    </a:ext>
                  </a:extLst>
                </a:gridCol>
                <a:gridCol w="2819003">
                  <a:extLst>
                    <a:ext uri="{9D8B030D-6E8A-4147-A177-3AD203B41FA5}">
                      <a16:colId xmlns:a16="http://schemas.microsoft.com/office/drawing/2014/main" val="2849961801"/>
                    </a:ext>
                  </a:extLst>
                </a:gridCol>
                <a:gridCol w="2871191">
                  <a:extLst>
                    <a:ext uri="{9D8B030D-6E8A-4147-A177-3AD203B41FA5}">
                      <a16:colId xmlns:a16="http://schemas.microsoft.com/office/drawing/2014/main" val="1631354740"/>
                    </a:ext>
                  </a:extLst>
                </a:gridCol>
              </a:tblGrid>
              <a:tr h="555732">
                <a:tc>
                  <a:txBody>
                    <a:bodyPr/>
                    <a:lstStyle/>
                    <a:p>
                      <a:endParaRPr lang="en-GB" sz="250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/>
                        <a:t>LISBON</a:t>
                      </a:r>
                      <a:endParaRPr lang="en-GB" sz="250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/>
                        <a:t>COIMBRA</a:t>
                      </a:r>
                      <a:endParaRPr lang="en-GB" sz="250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100"/>
                        <a:t>LISBON+COIMBRA</a:t>
                      </a:r>
                      <a:endParaRPr lang="en-GB" sz="2100"/>
                    </a:p>
                  </a:txBody>
                  <a:tcPr marL="126303" marR="126303" marT="63151" marB="63151"/>
                </a:tc>
                <a:extLst>
                  <a:ext uri="{0D108BD9-81ED-4DB2-BD59-A6C34878D82A}">
                    <a16:rowId xmlns:a16="http://schemas.microsoft.com/office/drawing/2014/main" val="3314380520"/>
                  </a:ext>
                </a:extLst>
              </a:tr>
              <a:tr h="555732">
                <a:tc>
                  <a:txBody>
                    <a:bodyPr/>
                    <a:lstStyle/>
                    <a:p>
                      <a:r>
                        <a:rPr lang="it-IT" sz="2500"/>
                        <a:t>CORE</a:t>
                      </a:r>
                      <a:endParaRPr lang="en-GB" sz="250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71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58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46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extLst>
                  <a:ext uri="{0D108BD9-81ED-4DB2-BD59-A6C34878D82A}">
                    <a16:rowId xmlns:a16="http://schemas.microsoft.com/office/drawing/2014/main" val="1870843654"/>
                  </a:ext>
                </a:extLst>
              </a:tr>
              <a:tr h="487130">
                <a:tc>
                  <a:txBody>
                    <a:bodyPr/>
                    <a:lstStyle/>
                    <a:p>
                      <a:r>
                        <a:rPr lang="it-IT" sz="1800" dirty="0"/>
                        <a:t>MODEL SPECIFIC</a:t>
                      </a:r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23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48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3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extLst>
                  <a:ext uri="{0D108BD9-81ED-4DB2-BD59-A6C34878D82A}">
                    <a16:rowId xmlns:a16="http://schemas.microsoft.com/office/drawing/2014/main" val="1378060089"/>
                  </a:ext>
                </a:extLst>
              </a:tr>
              <a:tr h="555732">
                <a:tc>
                  <a:txBody>
                    <a:bodyPr/>
                    <a:lstStyle/>
                    <a:p>
                      <a:r>
                        <a:rPr lang="it-IT" sz="2500" dirty="0"/>
                        <a:t>INTERMEDIATE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109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71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55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extLst>
                  <a:ext uri="{0D108BD9-81ED-4DB2-BD59-A6C34878D82A}">
                    <a16:rowId xmlns:a16="http://schemas.microsoft.com/office/drawing/2014/main" val="839986891"/>
                  </a:ext>
                </a:extLst>
              </a:tr>
              <a:tr h="555732">
                <a:tc>
                  <a:txBody>
                    <a:bodyPr/>
                    <a:lstStyle/>
                    <a:p>
                      <a:r>
                        <a:rPr lang="it-IT" sz="2500" dirty="0"/>
                        <a:t>NOISE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56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49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79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extLst>
                  <a:ext uri="{0D108BD9-81ED-4DB2-BD59-A6C34878D82A}">
                    <a16:rowId xmlns:a16="http://schemas.microsoft.com/office/drawing/2014/main" val="2937211895"/>
                  </a:ext>
                </a:extLst>
              </a:tr>
              <a:tr h="555732">
                <a:tc>
                  <a:txBody>
                    <a:bodyPr/>
                    <a:lstStyle/>
                    <a:p>
                      <a:r>
                        <a:rPr lang="it-IT" sz="2500" dirty="0"/>
                        <a:t>TOTAL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259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226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tc>
                  <a:txBody>
                    <a:bodyPr/>
                    <a:lstStyle/>
                    <a:p>
                      <a:r>
                        <a:rPr lang="it-IT" sz="2500" dirty="0"/>
                        <a:t>183</a:t>
                      </a:r>
                      <a:endParaRPr lang="en-GB" sz="2500" dirty="0"/>
                    </a:p>
                  </a:txBody>
                  <a:tcPr marL="126303" marR="126303" marT="63151" marB="63151"/>
                </a:tc>
                <a:extLst>
                  <a:ext uri="{0D108BD9-81ED-4DB2-BD59-A6C34878D82A}">
                    <a16:rowId xmlns:a16="http://schemas.microsoft.com/office/drawing/2014/main" val="2920766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413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Rectangle 33">
            <a:extLst>
              <a:ext uri="{FF2B5EF4-FFF2-40B4-BE49-F238E27FC236}">
                <a16:creationId xmlns:a16="http://schemas.microsoft.com/office/drawing/2014/main" id="{C76F23D8-F48E-4408-B216-AF6FBEB31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3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2EC0FB5-501E-7DA5-E117-ECFBC1A8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83732"/>
            <a:ext cx="5001768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/>
              <a:t>Do Machine Learning Selected Proteins Match Statistical Significance?</a:t>
            </a:r>
          </a:p>
        </p:txBody>
      </p:sp>
      <p:sp>
        <p:nvSpPr>
          <p:cNvPr id="45" name="Rectangle 3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57362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CCBB4DE6-2FDE-57C1-55B2-FB27F360B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78" y="1934438"/>
            <a:ext cx="3137116" cy="2509693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704CD985-970F-02FE-515A-524E70437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726" y="1929962"/>
            <a:ext cx="3137118" cy="2509694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9B227FBE-B0D8-544F-FEF6-001C156B7E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785" y="4295248"/>
            <a:ext cx="3137117" cy="2509694"/>
          </a:xfrm>
          <a:prstGeom prst="rect">
            <a:avLst/>
          </a:prstGeom>
        </p:spPr>
      </p:pic>
      <p:pic>
        <p:nvPicPr>
          <p:cNvPr id="19" name="Segnaposto contenuto 18">
            <a:extLst>
              <a:ext uri="{FF2B5EF4-FFF2-40B4-BE49-F238E27FC236}">
                <a16:creationId xmlns:a16="http://schemas.microsoft.com/office/drawing/2014/main" id="{C4C3CF0F-5F23-2F06-DF36-D0E60E34B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784" y="1924204"/>
            <a:ext cx="3137118" cy="2509694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01D63057-50B1-E743-8E7A-F78B5AD9F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75" y="4295248"/>
            <a:ext cx="3137118" cy="2509694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23305B40-A918-F1FC-2254-F50D7CFF67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668" y="4295248"/>
            <a:ext cx="3137117" cy="250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95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C95D27-8E84-062A-6750-4C1A1163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Some of the top-ranked proteins are </a:t>
            </a:r>
            <a:r>
              <a:rPr lang="en-GB" sz="1800" dirty="0" err="1"/>
              <a:t>labeled</a:t>
            </a:r>
            <a:r>
              <a:rPr lang="en-GB" sz="1800" dirty="0"/>
              <a:t> as </a:t>
            </a:r>
            <a:r>
              <a:rPr lang="en-GB" sz="1800" dirty="0" err="1"/>
              <a:t>cRAP</a:t>
            </a:r>
            <a:r>
              <a:rPr lang="en-GB" sz="1800" dirty="0"/>
              <a:t> proteins. Should these be considered reliable biological signals, or should they be removed as potential contaminants?”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5953E25-77DA-3296-7FC2-1D2E747C6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5" y="2333625"/>
            <a:ext cx="8248649" cy="4124325"/>
          </a:xfrm>
          <a:prstGeom prst="rect">
            <a:avLst/>
          </a:prstGeom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CE06860F-D456-4E82-93D7-A37A8FE0B5C0}"/>
              </a:ext>
            </a:extLst>
          </p:cNvPr>
          <p:cNvSpPr/>
          <p:nvPr/>
        </p:nvSpPr>
        <p:spPr>
          <a:xfrm>
            <a:off x="2305050" y="5876925"/>
            <a:ext cx="133350" cy="5810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CF7803A0-B79D-2CF2-BF00-97F67532BA86}"/>
              </a:ext>
            </a:extLst>
          </p:cNvPr>
          <p:cNvSpPr/>
          <p:nvPr/>
        </p:nvSpPr>
        <p:spPr>
          <a:xfrm>
            <a:off x="3172968" y="5876925"/>
            <a:ext cx="133350" cy="5810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835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3FEB0A-4AA4-96EC-E2D2-2EDBE2C6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/>
              <a:t>OBRIGADO!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183902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9464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5089</TotalTime>
  <Words>1281</Words>
  <Application>Microsoft Office PowerPoint</Application>
  <PresentationFormat>Widescreen</PresentationFormat>
  <Paragraphs>163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Arial</vt:lpstr>
      <vt:lpstr>Avenir Next LT Pro</vt:lpstr>
      <vt:lpstr>Calibri</vt:lpstr>
      <vt:lpstr>Neue Haas Grotesk Text Pro</vt:lpstr>
      <vt:lpstr>AccentBoxVTI</vt:lpstr>
      <vt:lpstr>Comparison Between PLS-DA and Random Forest in Selecting the Most Significant Proteins for MCI-AD vs MCI-CT Classification </vt:lpstr>
      <vt:lpstr>Patient Cohort Overview without threshold</vt:lpstr>
      <vt:lpstr>Patient Cohort Overview with threshold</vt:lpstr>
      <vt:lpstr>Impact of Thresholding on Number of Selected Proteins</vt:lpstr>
      <vt:lpstr>Presentation Overview</vt:lpstr>
      <vt:lpstr>Random Forest pipeline</vt:lpstr>
      <vt:lpstr>PLS-DA pipeline</vt:lpstr>
      <vt:lpstr>Evaluation Metrics: MCC and AUC</vt:lpstr>
      <vt:lpstr>Impact of Thresholding in Data Preprocessing</vt:lpstr>
      <vt:lpstr>Impact of Thresholding in Data Preprocessing</vt:lpstr>
      <vt:lpstr>Impact of Thresholding in Data Preprocessing</vt:lpstr>
      <vt:lpstr>Impact of Thresholding in Data Preprocessing</vt:lpstr>
      <vt:lpstr>Choice of Patient-Level Thresholding</vt:lpstr>
      <vt:lpstr>Performance of a Simple Random Forest Model</vt:lpstr>
      <vt:lpstr>Performance of a Simple PLS-DA Model</vt:lpstr>
      <vt:lpstr>Comparison between PLS-DA and Random forest on Lisbon</vt:lpstr>
      <vt:lpstr>Comparison between PLS-DA and Random forest on Lisbon</vt:lpstr>
      <vt:lpstr>Comparison between PLS-DA and Random forest on Coimbra</vt:lpstr>
      <vt:lpstr>Comparison between  PLS-DA and Random forest on Coimbra</vt:lpstr>
      <vt:lpstr>Comparison between PLS-DA and Random forest on Lisbon + Coimbra</vt:lpstr>
      <vt:lpstr>Comparison between PLS-DA and Random forest on Lisbon + Coimbra</vt:lpstr>
      <vt:lpstr>Comparison between PLS-DA and Random forest on Coimbra (train) / Lisbon (test)</vt:lpstr>
      <vt:lpstr>Comparison between PLS-DA and Random forest on Coimbra (train) / Lisbon (test)</vt:lpstr>
      <vt:lpstr>Comparison between PLS-DA and Random forest on Lisbon (train) / Coimbra (test)</vt:lpstr>
      <vt:lpstr>Comparison between PLS-DA and Random forest on Lisbon (train) / Coimbra (test)</vt:lpstr>
      <vt:lpstr>Comparison Between PLS-DA and Random Forest</vt:lpstr>
      <vt:lpstr>Protein Selection Across Models</vt:lpstr>
      <vt:lpstr>Do Machine Learning Selected Proteins Match Statistical Significance?</vt:lpstr>
      <vt:lpstr>Some of the top-ranked proteins are labeled as cRAP proteins. Should these be considered reliable biological signals, or should they be removed as potential contaminants?”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Valerio Piersanti - valerio.piersanti3@studio.unibo.it</dc:creator>
  <cp:lastModifiedBy>Valerio Piersanti - valerio.piersanti3@studio.unibo.it</cp:lastModifiedBy>
  <cp:revision>8</cp:revision>
  <dcterms:created xsi:type="dcterms:W3CDTF">2026-03-21T17:29:49Z</dcterms:created>
  <dcterms:modified xsi:type="dcterms:W3CDTF">2026-03-25T16:58:44Z</dcterms:modified>
</cp:coreProperties>
</file>