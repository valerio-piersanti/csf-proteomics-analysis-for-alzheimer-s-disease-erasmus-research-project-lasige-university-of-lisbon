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73" r:id="rId8"/>
    <p:sldId id="262" r:id="rId9"/>
    <p:sldId id="274" r:id="rId10"/>
    <p:sldId id="263" r:id="rId11"/>
    <p:sldId id="275" r:id="rId12"/>
    <p:sldId id="264" r:id="rId13"/>
    <p:sldId id="265" r:id="rId14"/>
    <p:sldId id="268" r:id="rId15"/>
    <p:sldId id="267" r:id="rId16"/>
    <p:sldId id="269" r:id="rId17"/>
    <p:sldId id="271" r:id="rId18"/>
    <p:sldId id="270" r:id="rId19"/>
    <p:sldId id="272" r:id="rId20"/>
    <p:sldId id="283" r:id="rId21"/>
    <p:sldId id="284" r:id="rId22"/>
    <p:sldId id="285" r:id="rId23"/>
    <p:sldId id="286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ile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799B23B-EC83-4686-B30A-512413B5E67A}" styleName="Stile chiaro 3 - Color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19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1AEB2F-343A-4605-86A8-EB53B6AFDA82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C37E788-ABDA-43CA-861C-2BC752CD73E1}">
      <dgm:prSet/>
      <dgm:spPr/>
      <dgm:t>
        <a:bodyPr/>
        <a:lstStyle/>
        <a:p>
          <a:r>
            <a:rPr lang="en-GB" b="1"/>
            <a:t>Reconstruction Error</a:t>
          </a:r>
          <a:br>
            <a:rPr lang="en-GB"/>
          </a:br>
          <a:r>
            <a:rPr lang="en-GB"/>
            <a:t>→ measures how well NMF approximates the original data </a:t>
          </a:r>
          <a:endParaRPr lang="en-US"/>
        </a:p>
      </dgm:t>
    </dgm:pt>
    <dgm:pt modelId="{758D83C9-CFB5-4669-9013-0F9D0116F68F}" type="parTrans" cxnId="{6D5A3E01-DC99-45F5-835E-2D2E14ED5217}">
      <dgm:prSet/>
      <dgm:spPr/>
      <dgm:t>
        <a:bodyPr/>
        <a:lstStyle/>
        <a:p>
          <a:endParaRPr lang="en-US"/>
        </a:p>
      </dgm:t>
    </dgm:pt>
    <dgm:pt modelId="{666DE8C3-0608-4ED7-B944-DA6744A1034C}" type="sibTrans" cxnId="{6D5A3E01-DC99-45F5-835E-2D2E14ED5217}">
      <dgm:prSet/>
      <dgm:spPr/>
      <dgm:t>
        <a:bodyPr/>
        <a:lstStyle/>
        <a:p>
          <a:endParaRPr lang="en-US"/>
        </a:p>
      </dgm:t>
    </dgm:pt>
    <dgm:pt modelId="{503E8CAA-0CB0-409D-B276-E783A7DA2DB1}">
      <dgm:prSet/>
      <dgm:spPr/>
      <dgm:t>
        <a:bodyPr/>
        <a:lstStyle/>
        <a:p>
          <a:r>
            <a:rPr lang="el-GR" b="1"/>
            <a:t>Δ </a:t>
          </a:r>
          <a:r>
            <a:rPr lang="en-GB" b="1"/>
            <a:t>Error (Marginal Gain)</a:t>
          </a:r>
          <a:br>
            <a:rPr lang="en-GB"/>
          </a:br>
          <a:r>
            <a:rPr lang="en-GB"/>
            <a:t>→ improvement in reconstruction when increasing k </a:t>
          </a:r>
          <a:endParaRPr lang="en-US"/>
        </a:p>
      </dgm:t>
    </dgm:pt>
    <dgm:pt modelId="{03EE37C9-A72D-4AC1-8808-2B0201F78AC5}" type="parTrans" cxnId="{6C692D21-73AC-4C2B-8552-8D95F66A6411}">
      <dgm:prSet/>
      <dgm:spPr/>
      <dgm:t>
        <a:bodyPr/>
        <a:lstStyle/>
        <a:p>
          <a:endParaRPr lang="en-US"/>
        </a:p>
      </dgm:t>
    </dgm:pt>
    <dgm:pt modelId="{8658CCFD-A6F5-4658-ABBD-992454D371DA}" type="sibTrans" cxnId="{6C692D21-73AC-4C2B-8552-8D95F66A6411}">
      <dgm:prSet/>
      <dgm:spPr/>
      <dgm:t>
        <a:bodyPr/>
        <a:lstStyle/>
        <a:p>
          <a:endParaRPr lang="en-US"/>
        </a:p>
      </dgm:t>
    </dgm:pt>
    <dgm:pt modelId="{05AD7AD0-4002-488F-B3EE-C09BC616CEBF}">
      <dgm:prSet/>
      <dgm:spPr/>
      <dgm:t>
        <a:bodyPr/>
        <a:lstStyle/>
        <a:p>
          <a:r>
            <a:rPr lang="en-GB" b="1"/>
            <a:t>% Variance Explained</a:t>
          </a:r>
          <a:br>
            <a:rPr lang="en-GB"/>
          </a:br>
          <a:r>
            <a:rPr lang="en-GB"/>
            <a:t>→ additional information captured by each component </a:t>
          </a:r>
          <a:endParaRPr lang="en-US"/>
        </a:p>
      </dgm:t>
    </dgm:pt>
    <dgm:pt modelId="{02A3DEB9-11CF-40D6-91BE-B9B3183639D9}" type="parTrans" cxnId="{D92A5759-374C-474C-AE56-3ACD3F9C00B0}">
      <dgm:prSet/>
      <dgm:spPr/>
      <dgm:t>
        <a:bodyPr/>
        <a:lstStyle/>
        <a:p>
          <a:endParaRPr lang="en-US"/>
        </a:p>
      </dgm:t>
    </dgm:pt>
    <dgm:pt modelId="{4212338E-AF50-427F-9E19-6FFECAB81A41}" type="sibTrans" cxnId="{D92A5759-374C-474C-AE56-3ACD3F9C00B0}">
      <dgm:prSet/>
      <dgm:spPr/>
      <dgm:t>
        <a:bodyPr/>
        <a:lstStyle/>
        <a:p>
          <a:endParaRPr lang="en-US"/>
        </a:p>
      </dgm:t>
    </dgm:pt>
    <dgm:pt modelId="{F5C5EB9F-7E94-45AB-880D-217516A6C0B5}">
      <dgm:prSet/>
      <dgm:spPr/>
      <dgm:t>
        <a:bodyPr/>
        <a:lstStyle/>
        <a:p>
          <a:r>
            <a:rPr lang="en-GB" b="1"/>
            <a:t>Cophenetic Coefficient</a:t>
          </a:r>
          <a:br>
            <a:rPr lang="en-GB"/>
          </a:br>
          <a:r>
            <a:rPr lang="en-GB"/>
            <a:t>→ stability of clustering across multiple NMF runs </a:t>
          </a:r>
          <a:endParaRPr lang="en-US"/>
        </a:p>
      </dgm:t>
    </dgm:pt>
    <dgm:pt modelId="{7515F15D-7599-4990-83B1-5792362F7660}" type="parTrans" cxnId="{60306DBB-BF14-4A8F-A38E-B201A12FB2CE}">
      <dgm:prSet/>
      <dgm:spPr/>
      <dgm:t>
        <a:bodyPr/>
        <a:lstStyle/>
        <a:p>
          <a:endParaRPr lang="en-US"/>
        </a:p>
      </dgm:t>
    </dgm:pt>
    <dgm:pt modelId="{519DE072-B47D-45BB-9AA2-8C8844510859}" type="sibTrans" cxnId="{60306DBB-BF14-4A8F-A38E-B201A12FB2CE}">
      <dgm:prSet/>
      <dgm:spPr/>
      <dgm:t>
        <a:bodyPr/>
        <a:lstStyle/>
        <a:p>
          <a:endParaRPr lang="en-US"/>
        </a:p>
      </dgm:t>
    </dgm:pt>
    <dgm:pt modelId="{53E3379D-9323-4251-B162-ED924EB5AA5F}">
      <dgm:prSet/>
      <dgm:spPr/>
      <dgm:t>
        <a:bodyPr/>
        <a:lstStyle/>
        <a:p>
          <a:r>
            <a:rPr lang="en-GB" b="1"/>
            <a:t>Silhouette Score</a:t>
          </a:r>
          <a:br>
            <a:rPr lang="en-GB"/>
          </a:br>
          <a:r>
            <a:rPr lang="en-GB"/>
            <a:t>→ separation between clusters </a:t>
          </a:r>
          <a:endParaRPr lang="en-US"/>
        </a:p>
      </dgm:t>
    </dgm:pt>
    <dgm:pt modelId="{53003D73-86F2-40F3-8C28-42B6F3F82AB5}" type="parTrans" cxnId="{5CB6FFE3-3199-4FD5-9372-5648C17ACD99}">
      <dgm:prSet/>
      <dgm:spPr/>
      <dgm:t>
        <a:bodyPr/>
        <a:lstStyle/>
        <a:p>
          <a:endParaRPr lang="en-US"/>
        </a:p>
      </dgm:t>
    </dgm:pt>
    <dgm:pt modelId="{C032EBDE-D662-4F96-A51F-ED5FB95AEE14}" type="sibTrans" cxnId="{5CB6FFE3-3199-4FD5-9372-5648C17ACD99}">
      <dgm:prSet/>
      <dgm:spPr/>
      <dgm:t>
        <a:bodyPr/>
        <a:lstStyle/>
        <a:p>
          <a:endParaRPr lang="en-US"/>
        </a:p>
      </dgm:t>
    </dgm:pt>
    <dgm:pt modelId="{D66C6419-A5FE-471B-87FA-CD87B433D503}">
      <dgm:prSet/>
      <dgm:spPr/>
      <dgm:t>
        <a:bodyPr/>
        <a:lstStyle/>
        <a:p>
          <a:r>
            <a:rPr lang="en-GB" b="1"/>
            <a:t>Random Baseline</a:t>
          </a:r>
          <a:br>
            <a:rPr lang="en-GB"/>
          </a:br>
          <a:r>
            <a:rPr lang="en-GB"/>
            <a:t>→ performance on permuted data used as noise reference </a:t>
          </a:r>
          <a:endParaRPr lang="en-US"/>
        </a:p>
      </dgm:t>
    </dgm:pt>
    <dgm:pt modelId="{A8195690-DD64-4A61-A023-BED77BE1880D}" type="parTrans" cxnId="{A59373E5-0206-41FE-ADBA-F17DC6DCB3CE}">
      <dgm:prSet/>
      <dgm:spPr/>
      <dgm:t>
        <a:bodyPr/>
        <a:lstStyle/>
        <a:p>
          <a:endParaRPr lang="en-US"/>
        </a:p>
      </dgm:t>
    </dgm:pt>
    <dgm:pt modelId="{91ACF1D7-E23A-47E7-859C-BFFF8164C485}" type="sibTrans" cxnId="{A59373E5-0206-41FE-ADBA-F17DC6DCB3CE}">
      <dgm:prSet/>
      <dgm:spPr/>
      <dgm:t>
        <a:bodyPr/>
        <a:lstStyle/>
        <a:p>
          <a:endParaRPr lang="en-US"/>
        </a:p>
      </dgm:t>
    </dgm:pt>
    <dgm:pt modelId="{69335B9C-FA42-4EF1-9E70-6B1F3B84E12B}">
      <dgm:prSet/>
      <dgm:spPr/>
      <dgm:t>
        <a:bodyPr/>
        <a:lstStyle/>
        <a:p>
          <a:r>
            <a:rPr lang="en-GB" b="1"/>
            <a:t>Fold Improvement</a:t>
          </a:r>
          <a:br>
            <a:rPr lang="en-GB"/>
          </a:br>
          <a:r>
            <a:rPr lang="en-GB"/>
            <a:t>→ ratio between real and random improvement</a:t>
          </a:r>
          <a:br>
            <a:rPr lang="en-GB"/>
          </a:br>
          <a:r>
            <a:rPr lang="en-GB"/>
            <a:t>→ values &gt; 1 indicate non-random structure </a:t>
          </a:r>
          <a:endParaRPr lang="en-US"/>
        </a:p>
      </dgm:t>
    </dgm:pt>
    <dgm:pt modelId="{098BF077-31B5-483F-9F9A-51A204C5842B}" type="parTrans" cxnId="{E69EDE3E-B60D-4A2A-88E9-9740BBA93A08}">
      <dgm:prSet/>
      <dgm:spPr/>
      <dgm:t>
        <a:bodyPr/>
        <a:lstStyle/>
        <a:p>
          <a:endParaRPr lang="en-US"/>
        </a:p>
      </dgm:t>
    </dgm:pt>
    <dgm:pt modelId="{6ABBF888-2ED1-4FBC-B937-4A8CAD947B90}" type="sibTrans" cxnId="{E69EDE3E-B60D-4A2A-88E9-9740BBA93A08}">
      <dgm:prSet/>
      <dgm:spPr/>
      <dgm:t>
        <a:bodyPr/>
        <a:lstStyle/>
        <a:p>
          <a:endParaRPr lang="en-US"/>
        </a:p>
      </dgm:t>
    </dgm:pt>
    <dgm:pt modelId="{D03DFE9D-63AE-418E-AEB1-8AF6573A93AA}" type="pres">
      <dgm:prSet presAssocID="{DA1AEB2F-343A-4605-86A8-EB53B6AFDA82}" presName="diagram" presStyleCnt="0">
        <dgm:presLayoutVars>
          <dgm:dir/>
          <dgm:resizeHandles val="exact"/>
        </dgm:presLayoutVars>
      </dgm:prSet>
      <dgm:spPr/>
    </dgm:pt>
    <dgm:pt modelId="{B5D20893-41F1-4109-A175-720CD55CE27B}" type="pres">
      <dgm:prSet presAssocID="{7C37E788-ABDA-43CA-861C-2BC752CD73E1}" presName="node" presStyleLbl="node1" presStyleIdx="0" presStyleCnt="7">
        <dgm:presLayoutVars>
          <dgm:bulletEnabled val="1"/>
        </dgm:presLayoutVars>
      </dgm:prSet>
      <dgm:spPr/>
    </dgm:pt>
    <dgm:pt modelId="{9D30ABDC-421F-492A-8A06-F8C0ADB87D33}" type="pres">
      <dgm:prSet presAssocID="{666DE8C3-0608-4ED7-B944-DA6744A1034C}" presName="sibTrans" presStyleCnt="0"/>
      <dgm:spPr/>
    </dgm:pt>
    <dgm:pt modelId="{C08935DC-A9BC-46F3-BA4B-F033344E2BA6}" type="pres">
      <dgm:prSet presAssocID="{503E8CAA-0CB0-409D-B276-E783A7DA2DB1}" presName="node" presStyleLbl="node1" presStyleIdx="1" presStyleCnt="7">
        <dgm:presLayoutVars>
          <dgm:bulletEnabled val="1"/>
        </dgm:presLayoutVars>
      </dgm:prSet>
      <dgm:spPr/>
    </dgm:pt>
    <dgm:pt modelId="{48453C31-2211-403A-AD66-F210A1372FEE}" type="pres">
      <dgm:prSet presAssocID="{8658CCFD-A6F5-4658-ABBD-992454D371DA}" presName="sibTrans" presStyleCnt="0"/>
      <dgm:spPr/>
    </dgm:pt>
    <dgm:pt modelId="{DE4FE467-D19A-44DF-9285-C92300FE51BC}" type="pres">
      <dgm:prSet presAssocID="{05AD7AD0-4002-488F-B3EE-C09BC616CEBF}" presName="node" presStyleLbl="node1" presStyleIdx="2" presStyleCnt="7">
        <dgm:presLayoutVars>
          <dgm:bulletEnabled val="1"/>
        </dgm:presLayoutVars>
      </dgm:prSet>
      <dgm:spPr/>
    </dgm:pt>
    <dgm:pt modelId="{94E6F67B-BE87-434D-A907-A51F16EEE9B4}" type="pres">
      <dgm:prSet presAssocID="{4212338E-AF50-427F-9E19-6FFECAB81A41}" presName="sibTrans" presStyleCnt="0"/>
      <dgm:spPr/>
    </dgm:pt>
    <dgm:pt modelId="{9863C829-CCFF-44A6-8A1F-352E6DCBB101}" type="pres">
      <dgm:prSet presAssocID="{F5C5EB9F-7E94-45AB-880D-217516A6C0B5}" presName="node" presStyleLbl="node1" presStyleIdx="3" presStyleCnt="7">
        <dgm:presLayoutVars>
          <dgm:bulletEnabled val="1"/>
        </dgm:presLayoutVars>
      </dgm:prSet>
      <dgm:spPr/>
    </dgm:pt>
    <dgm:pt modelId="{22BAD1BE-3B29-440B-932C-B35495639CB5}" type="pres">
      <dgm:prSet presAssocID="{519DE072-B47D-45BB-9AA2-8C8844510859}" presName="sibTrans" presStyleCnt="0"/>
      <dgm:spPr/>
    </dgm:pt>
    <dgm:pt modelId="{E2ED4EB5-9D6A-4A00-9F62-3D307F3B1812}" type="pres">
      <dgm:prSet presAssocID="{53E3379D-9323-4251-B162-ED924EB5AA5F}" presName="node" presStyleLbl="node1" presStyleIdx="4" presStyleCnt="7">
        <dgm:presLayoutVars>
          <dgm:bulletEnabled val="1"/>
        </dgm:presLayoutVars>
      </dgm:prSet>
      <dgm:spPr/>
    </dgm:pt>
    <dgm:pt modelId="{FD3E1A61-40C9-4EB0-A6A7-A49FCB1DB4BA}" type="pres">
      <dgm:prSet presAssocID="{C032EBDE-D662-4F96-A51F-ED5FB95AEE14}" presName="sibTrans" presStyleCnt="0"/>
      <dgm:spPr/>
    </dgm:pt>
    <dgm:pt modelId="{B6606DA5-4A17-4D19-BDCE-71C2BE1FE72A}" type="pres">
      <dgm:prSet presAssocID="{D66C6419-A5FE-471B-87FA-CD87B433D503}" presName="node" presStyleLbl="node1" presStyleIdx="5" presStyleCnt="7">
        <dgm:presLayoutVars>
          <dgm:bulletEnabled val="1"/>
        </dgm:presLayoutVars>
      </dgm:prSet>
      <dgm:spPr/>
    </dgm:pt>
    <dgm:pt modelId="{262ED5AD-82C9-447D-82AC-14E9B7A74CB7}" type="pres">
      <dgm:prSet presAssocID="{91ACF1D7-E23A-47E7-859C-BFFF8164C485}" presName="sibTrans" presStyleCnt="0"/>
      <dgm:spPr/>
    </dgm:pt>
    <dgm:pt modelId="{30456F8D-EBA9-482C-BDC6-E30BC601FE28}" type="pres">
      <dgm:prSet presAssocID="{69335B9C-FA42-4EF1-9E70-6B1F3B84E12B}" presName="node" presStyleLbl="node1" presStyleIdx="6" presStyleCnt="7">
        <dgm:presLayoutVars>
          <dgm:bulletEnabled val="1"/>
        </dgm:presLayoutVars>
      </dgm:prSet>
      <dgm:spPr/>
    </dgm:pt>
  </dgm:ptLst>
  <dgm:cxnLst>
    <dgm:cxn modelId="{F9CA1E00-303F-4CB5-A2E4-926A6BF1F316}" type="presOf" srcId="{7C37E788-ABDA-43CA-861C-2BC752CD73E1}" destId="{B5D20893-41F1-4109-A175-720CD55CE27B}" srcOrd="0" destOrd="0" presId="urn:microsoft.com/office/officeart/2005/8/layout/default"/>
    <dgm:cxn modelId="{6D5A3E01-DC99-45F5-835E-2D2E14ED5217}" srcId="{DA1AEB2F-343A-4605-86A8-EB53B6AFDA82}" destId="{7C37E788-ABDA-43CA-861C-2BC752CD73E1}" srcOrd="0" destOrd="0" parTransId="{758D83C9-CFB5-4669-9013-0F9D0116F68F}" sibTransId="{666DE8C3-0608-4ED7-B944-DA6744A1034C}"/>
    <dgm:cxn modelId="{0A2A6A10-44C7-4496-9FDB-FFCAEC507867}" type="presOf" srcId="{503E8CAA-0CB0-409D-B276-E783A7DA2DB1}" destId="{C08935DC-A9BC-46F3-BA4B-F033344E2BA6}" srcOrd="0" destOrd="0" presId="urn:microsoft.com/office/officeart/2005/8/layout/default"/>
    <dgm:cxn modelId="{6C692D21-73AC-4C2B-8552-8D95F66A6411}" srcId="{DA1AEB2F-343A-4605-86A8-EB53B6AFDA82}" destId="{503E8CAA-0CB0-409D-B276-E783A7DA2DB1}" srcOrd="1" destOrd="0" parTransId="{03EE37C9-A72D-4AC1-8808-2B0201F78AC5}" sibTransId="{8658CCFD-A6F5-4658-ABBD-992454D371DA}"/>
    <dgm:cxn modelId="{23940238-6FCD-42F1-8F36-046D23165D5C}" type="presOf" srcId="{05AD7AD0-4002-488F-B3EE-C09BC616CEBF}" destId="{DE4FE467-D19A-44DF-9285-C92300FE51BC}" srcOrd="0" destOrd="0" presId="urn:microsoft.com/office/officeart/2005/8/layout/default"/>
    <dgm:cxn modelId="{E69EDE3E-B60D-4A2A-88E9-9740BBA93A08}" srcId="{DA1AEB2F-343A-4605-86A8-EB53B6AFDA82}" destId="{69335B9C-FA42-4EF1-9E70-6B1F3B84E12B}" srcOrd="6" destOrd="0" parTransId="{098BF077-31B5-483F-9F9A-51A204C5842B}" sibTransId="{6ABBF888-2ED1-4FBC-B937-4A8CAD947B90}"/>
    <dgm:cxn modelId="{126DBF57-97D4-4DF2-B17E-38EDFAB93592}" type="presOf" srcId="{69335B9C-FA42-4EF1-9E70-6B1F3B84E12B}" destId="{30456F8D-EBA9-482C-BDC6-E30BC601FE28}" srcOrd="0" destOrd="0" presId="urn:microsoft.com/office/officeart/2005/8/layout/default"/>
    <dgm:cxn modelId="{D92A5759-374C-474C-AE56-3ACD3F9C00B0}" srcId="{DA1AEB2F-343A-4605-86A8-EB53B6AFDA82}" destId="{05AD7AD0-4002-488F-B3EE-C09BC616CEBF}" srcOrd="2" destOrd="0" parTransId="{02A3DEB9-11CF-40D6-91BE-B9B3183639D9}" sibTransId="{4212338E-AF50-427F-9E19-6FFECAB81A41}"/>
    <dgm:cxn modelId="{D736C397-D32D-423A-983D-2C333B1F3A2F}" type="presOf" srcId="{DA1AEB2F-343A-4605-86A8-EB53B6AFDA82}" destId="{D03DFE9D-63AE-418E-AEB1-8AF6573A93AA}" srcOrd="0" destOrd="0" presId="urn:microsoft.com/office/officeart/2005/8/layout/default"/>
    <dgm:cxn modelId="{AB9788B0-1F64-4276-A360-C3F1ACD2D197}" type="presOf" srcId="{D66C6419-A5FE-471B-87FA-CD87B433D503}" destId="{B6606DA5-4A17-4D19-BDCE-71C2BE1FE72A}" srcOrd="0" destOrd="0" presId="urn:microsoft.com/office/officeart/2005/8/layout/default"/>
    <dgm:cxn modelId="{60306DBB-BF14-4A8F-A38E-B201A12FB2CE}" srcId="{DA1AEB2F-343A-4605-86A8-EB53B6AFDA82}" destId="{F5C5EB9F-7E94-45AB-880D-217516A6C0B5}" srcOrd="3" destOrd="0" parTransId="{7515F15D-7599-4990-83B1-5792362F7660}" sibTransId="{519DE072-B47D-45BB-9AA2-8C8844510859}"/>
    <dgm:cxn modelId="{73084ED8-2C7D-4AF4-ADE6-DB5FEA270FAE}" type="presOf" srcId="{F5C5EB9F-7E94-45AB-880D-217516A6C0B5}" destId="{9863C829-CCFF-44A6-8A1F-352E6DCBB101}" srcOrd="0" destOrd="0" presId="urn:microsoft.com/office/officeart/2005/8/layout/default"/>
    <dgm:cxn modelId="{5CB6FFE3-3199-4FD5-9372-5648C17ACD99}" srcId="{DA1AEB2F-343A-4605-86A8-EB53B6AFDA82}" destId="{53E3379D-9323-4251-B162-ED924EB5AA5F}" srcOrd="4" destOrd="0" parTransId="{53003D73-86F2-40F3-8C28-42B6F3F82AB5}" sibTransId="{C032EBDE-D662-4F96-A51F-ED5FB95AEE14}"/>
    <dgm:cxn modelId="{A59373E5-0206-41FE-ADBA-F17DC6DCB3CE}" srcId="{DA1AEB2F-343A-4605-86A8-EB53B6AFDA82}" destId="{D66C6419-A5FE-471B-87FA-CD87B433D503}" srcOrd="5" destOrd="0" parTransId="{A8195690-DD64-4A61-A023-BED77BE1880D}" sibTransId="{91ACF1D7-E23A-47E7-859C-BFFF8164C485}"/>
    <dgm:cxn modelId="{B05997FC-2690-4423-AD48-962F605A97D2}" type="presOf" srcId="{53E3379D-9323-4251-B162-ED924EB5AA5F}" destId="{E2ED4EB5-9D6A-4A00-9F62-3D307F3B1812}" srcOrd="0" destOrd="0" presId="urn:microsoft.com/office/officeart/2005/8/layout/default"/>
    <dgm:cxn modelId="{C6F981D8-E243-48A5-A8DB-81184EE1789C}" type="presParOf" srcId="{D03DFE9D-63AE-418E-AEB1-8AF6573A93AA}" destId="{B5D20893-41F1-4109-A175-720CD55CE27B}" srcOrd="0" destOrd="0" presId="urn:microsoft.com/office/officeart/2005/8/layout/default"/>
    <dgm:cxn modelId="{17562F67-65E4-424B-BDBD-1935D0E35128}" type="presParOf" srcId="{D03DFE9D-63AE-418E-AEB1-8AF6573A93AA}" destId="{9D30ABDC-421F-492A-8A06-F8C0ADB87D33}" srcOrd="1" destOrd="0" presId="urn:microsoft.com/office/officeart/2005/8/layout/default"/>
    <dgm:cxn modelId="{6D229CE4-25C1-42CE-ABE0-82FBCBDF1E29}" type="presParOf" srcId="{D03DFE9D-63AE-418E-AEB1-8AF6573A93AA}" destId="{C08935DC-A9BC-46F3-BA4B-F033344E2BA6}" srcOrd="2" destOrd="0" presId="urn:microsoft.com/office/officeart/2005/8/layout/default"/>
    <dgm:cxn modelId="{725F173A-D644-4087-A909-FA04AD35760C}" type="presParOf" srcId="{D03DFE9D-63AE-418E-AEB1-8AF6573A93AA}" destId="{48453C31-2211-403A-AD66-F210A1372FEE}" srcOrd="3" destOrd="0" presId="urn:microsoft.com/office/officeart/2005/8/layout/default"/>
    <dgm:cxn modelId="{D2AAA21F-5F6C-4751-B602-9E201C915E69}" type="presParOf" srcId="{D03DFE9D-63AE-418E-AEB1-8AF6573A93AA}" destId="{DE4FE467-D19A-44DF-9285-C92300FE51BC}" srcOrd="4" destOrd="0" presId="urn:microsoft.com/office/officeart/2005/8/layout/default"/>
    <dgm:cxn modelId="{DC480FC8-19BA-4A8A-8E05-F7042FCABE1E}" type="presParOf" srcId="{D03DFE9D-63AE-418E-AEB1-8AF6573A93AA}" destId="{94E6F67B-BE87-434D-A907-A51F16EEE9B4}" srcOrd="5" destOrd="0" presId="urn:microsoft.com/office/officeart/2005/8/layout/default"/>
    <dgm:cxn modelId="{EDD03C0A-AEE0-4AE7-B996-C6E1644A1786}" type="presParOf" srcId="{D03DFE9D-63AE-418E-AEB1-8AF6573A93AA}" destId="{9863C829-CCFF-44A6-8A1F-352E6DCBB101}" srcOrd="6" destOrd="0" presId="urn:microsoft.com/office/officeart/2005/8/layout/default"/>
    <dgm:cxn modelId="{194D075B-354D-4D59-B984-93FA93E121E0}" type="presParOf" srcId="{D03DFE9D-63AE-418E-AEB1-8AF6573A93AA}" destId="{22BAD1BE-3B29-440B-932C-B35495639CB5}" srcOrd="7" destOrd="0" presId="urn:microsoft.com/office/officeart/2005/8/layout/default"/>
    <dgm:cxn modelId="{EC14DEE3-701E-44B4-AB48-ADA015AE5C5A}" type="presParOf" srcId="{D03DFE9D-63AE-418E-AEB1-8AF6573A93AA}" destId="{E2ED4EB5-9D6A-4A00-9F62-3D307F3B1812}" srcOrd="8" destOrd="0" presId="urn:microsoft.com/office/officeart/2005/8/layout/default"/>
    <dgm:cxn modelId="{2F4CA167-B7B7-4C13-931A-53C9D957185F}" type="presParOf" srcId="{D03DFE9D-63AE-418E-AEB1-8AF6573A93AA}" destId="{FD3E1A61-40C9-4EB0-A6A7-A49FCB1DB4BA}" srcOrd="9" destOrd="0" presId="urn:microsoft.com/office/officeart/2005/8/layout/default"/>
    <dgm:cxn modelId="{31412220-0C5D-4C88-8A9E-1194A0D6D16C}" type="presParOf" srcId="{D03DFE9D-63AE-418E-AEB1-8AF6573A93AA}" destId="{B6606DA5-4A17-4D19-BDCE-71C2BE1FE72A}" srcOrd="10" destOrd="0" presId="urn:microsoft.com/office/officeart/2005/8/layout/default"/>
    <dgm:cxn modelId="{537FE90D-70EE-42B8-9E05-BA27CA84F55D}" type="presParOf" srcId="{D03DFE9D-63AE-418E-AEB1-8AF6573A93AA}" destId="{262ED5AD-82C9-447D-82AC-14E9B7A74CB7}" srcOrd="11" destOrd="0" presId="urn:microsoft.com/office/officeart/2005/8/layout/default"/>
    <dgm:cxn modelId="{A2CC524E-288F-46C7-82B7-3AA67E20817B}" type="presParOf" srcId="{D03DFE9D-63AE-418E-AEB1-8AF6573A93AA}" destId="{30456F8D-EBA9-482C-BDC6-E30BC601FE28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F6D56B-E225-4091-B7B6-A1BD4791B5B9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F645D08-8776-4B84-9850-67615F02362E}">
      <dgm:prSet/>
      <dgm:spPr/>
      <dgm:t>
        <a:bodyPr/>
        <a:lstStyle/>
        <a:p>
          <a:r>
            <a:rPr lang="en-GB" b="1" dirty="0"/>
            <a:t>Objective</a:t>
          </a:r>
          <a:r>
            <a:rPr lang="en-GB" dirty="0"/>
            <a:t>: To validate the robustness of the biomarkers identified through NMF (Non-negative Matrix Factorization). </a:t>
          </a:r>
          <a:endParaRPr lang="en-US" dirty="0"/>
        </a:p>
      </dgm:t>
    </dgm:pt>
    <dgm:pt modelId="{40F003C5-AE1D-4A55-A48D-F3B77EDD3F4B}" type="parTrans" cxnId="{77415DC7-227E-4D02-8A2C-84F8E2C7E9FD}">
      <dgm:prSet/>
      <dgm:spPr/>
      <dgm:t>
        <a:bodyPr/>
        <a:lstStyle/>
        <a:p>
          <a:endParaRPr lang="en-US"/>
        </a:p>
      </dgm:t>
    </dgm:pt>
    <dgm:pt modelId="{F34F6D08-6408-4558-9951-E68014705243}" type="sibTrans" cxnId="{77415DC7-227E-4D02-8A2C-84F8E2C7E9FD}">
      <dgm:prSet/>
      <dgm:spPr/>
      <dgm:t>
        <a:bodyPr/>
        <a:lstStyle/>
        <a:p>
          <a:endParaRPr lang="en-US"/>
        </a:p>
      </dgm:t>
    </dgm:pt>
    <dgm:pt modelId="{CB071FBC-6C34-4ACF-AF73-58CEBD0E7A5A}">
      <dgm:prSet/>
      <dgm:spPr/>
      <dgm:t>
        <a:bodyPr/>
        <a:lstStyle/>
        <a:p>
          <a:r>
            <a:rPr lang="en-GB" b="1" dirty="0"/>
            <a:t>Orthogonal</a:t>
          </a:r>
          <a:r>
            <a:rPr lang="en-GB" dirty="0"/>
            <a:t> </a:t>
          </a:r>
          <a:r>
            <a:rPr lang="en-GB" b="1" dirty="0"/>
            <a:t>Methodology</a:t>
          </a:r>
          <a:r>
            <a:rPr lang="en-GB" dirty="0"/>
            <a:t>: We implemented a Random Forest supervised learning approach to independently test the discriminative power of the proteins for each cluster. </a:t>
          </a:r>
          <a:endParaRPr lang="en-US" dirty="0"/>
        </a:p>
      </dgm:t>
    </dgm:pt>
    <dgm:pt modelId="{6802553F-92AA-443D-B5A1-8157E7C6AD32}" type="parTrans" cxnId="{85935863-2746-47CF-A0C7-3BCA56D864ED}">
      <dgm:prSet/>
      <dgm:spPr/>
      <dgm:t>
        <a:bodyPr/>
        <a:lstStyle/>
        <a:p>
          <a:endParaRPr lang="en-US"/>
        </a:p>
      </dgm:t>
    </dgm:pt>
    <dgm:pt modelId="{C0E168CA-D538-4D36-A825-2E4446DC9635}" type="sibTrans" cxnId="{85935863-2746-47CF-A0C7-3BCA56D864ED}">
      <dgm:prSet/>
      <dgm:spPr/>
      <dgm:t>
        <a:bodyPr/>
        <a:lstStyle/>
        <a:p>
          <a:endParaRPr lang="en-US"/>
        </a:p>
      </dgm:t>
    </dgm:pt>
    <dgm:pt modelId="{F8BED98B-819E-4D7B-91EF-19F22133712A}">
      <dgm:prSet/>
      <dgm:spPr/>
      <dgm:t>
        <a:bodyPr/>
        <a:lstStyle/>
        <a:p>
          <a:r>
            <a:rPr lang="en-GB" b="1" dirty="0"/>
            <a:t>Consistency</a:t>
          </a:r>
          <a:r>
            <a:rPr lang="en-GB" dirty="0"/>
            <a:t> </a:t>
          </a:r>
          <a:r>
            <a:rPr lang="en-GB" b="1" dirty="0"/>
            <a:t>Metrics</a:t>
          </a:r>
          <a:r>
            <a:rPr lang="en-GB" dirty="0"/>
            <a:t>: Using the Jaccard Similarity Index to quantify the agreement between the mathematical decomposition (NMF) and the predictive model (RF). </a:t>
          </a:r>
          <a:endParaRPr lang="en-US" dirty="0"/>
        </a:p>
      </dgm:t>
    </dgm:pt>
    <dgm:pt modelId="{4F45579E-40C1-488B-9757-DB80C8162E19}" type="parTrans" cxnId="{25204BD4-E6D1-430B-A900-B0F3999C1CEE}">
      <dgm:prSet/>
      <dgm:spPr/>
      <dgm:t>
        <a:bodyPr/>
        <a:lstStyle/>
        <a:p>
          <a:endParaRPr lang="en-US"/>
        </a:p>
      </dgm:t>
    </dgm:pt>
    <dgm:pt modelId="{B11E8B3A-6083-4D8A-8B63-C10CCF6431A0}" type="sibTrans" cxnId="{25204BD4-E6D1-430B-A900-B0F3999C1CEE}">
      <dgm:prSet/>
      <dgm:spPr/>
      <dgm:t>
        <a:bodyPr/>
        <a:lstStyle/>
        <a:p>
          <a:endParaRPr lang="en-US"/>
        </a:p>
      </dgm:t>
    </dgm:pt>
    <dgm:pt modelId="{39CBC5AE-F0F6-4C0A-B37C-32134B74F3E2}">
      <dgm:prSet/>
      <dgm:spPr/>
      <dgm:t>
        <a:bodyPr/>
        <a:lstStyle/>
        <a:p>
          <a:r>
            <a:rPr lang="en-GB" b="1" dirty="0"/>
            <a:t>Key</a:t>
          </a:r>
          <a:r>
            <a:rPr lang="en-GB" dirty="0"/>
            <a:t> </a:t>
          </a:r>
          <a:r>
            <a:rPr lang="en-GB" b="1" dirty="0"/>
            <a:t>Outcome</a:t>
          </a:r>
          <a:r>
            <a:rPr lang="en-GB" dirty="0"/>
            <a:t>: Identification of High-Confidence Biomarkers—proteins consistently selected by both algorithms as primary drivers of cluster identity.</a:t>
          </a:r>
          <a:endParaRPr lang="en-US" dirty="0"/>
        </a:p>
      </dgm:t>
    </dgm:pt>
    <dgm:pt modelId="{062DDDFB-0B92-4E5B-A002-45E37896E7E2}" type="parTrans" cxnId="{D281B73D-7B9B-40F6-90F8-785468367CAE}">
      <dgm:prSet/>
      <dgm:spPr/>
      <dgm:t>
        <a:bodyPr/>
        <a:lstStyle/>
        <a:p>
          <a:endParaRPr lang="en-US"/>
        </a:p>
      </dgm:t>
    </dgm:pt>
    <dgm:pt modelId="{6C3A6C21-B542-4D87-AA25-5ECEADA7BBE4}" type="sibTrans" cxnId="{D281B73D-7B9B-40F6-90F8-785468367CAE}">
      <dgm:prSet/>
      <dgm:spPr/>
      <dgm:t>
        <a:bodyPr/>
        <a:lstStyle/>
        <a:p>
          <a:endParaRPr lang="en-US"/>
        </a:p>
      </dgm:t>
    </dgm:pt>
    <dgm:pt modelId="{D8E398E8-B902-4B91-9988-8BBEA8892AA7}" type="pres">
      <dgm:prSet presAssocID="{AAF6D56B-E225-4091-B7B6-A1BD4791B5B9}" presName="vert0" presStyleCnt="0">
        <dgm:presLayoutVars>
          <dgm:dir/>
          <dgm:animOne val="branch"/>
          <dgm:animLvl val="lvl"/>
        </dgm:presLayoutVars>
      </dgm:prSet>
      <dgm:spPr/>
    </dgm:pt>
    <dgm:pt modelId="{3396A75C-060A-4CEE-A2F0-03BD3EAC4F1B}" type="pres">
      <dgm:prSet presAssocID="{6F645D08-8776-4B84-9850-67615F02362E}" presName="thickLine" presStyleLbl="alignNode1" presStyleIdx="0" presStyleCnt="4"/>
      <dgm:spPr/>
    </dgm:pt>
    <dgm:pt modelId="{DC5CDB3B-F095-4F65-A481-FFE1C0F171DF}" type="pres">
      <dgm:prSet presAssocID="{6F645D08-8776-4B84-9850-67615F02362E}" presName="horz1" presStyleCnt="0"/>
      <dgm:spPr/>
    </dgm:pt>
    <dgm:pt modelId="{27BCD544-4EB4-4885-B4C8-A5843E8619EA}" type="pres">
      <dgm:prSet presAssocID="{6F645D08-8776-4B84-9850-67615F02362E}" presName="tx1" presStyleLbl="revTx" presStyleIdx="0" presStyleCnt="4"/>
      <dgm:spPr/>
    </dgm:pt>
    <dgm:pt modelId="{423B4899-42D4-4F6D-9637-F143AFDAA24D}" type="pres">
      <dgm:prSet presAssocID="{6F645D08-8776-4B84-9850-67615F02362E}" presName="vert1" presStyleCnt="0"/>
      <dgm:spPr/>
    </dgm:pt>
    <dgm:pt modelId="{5DCCDEC1-262C-4C07-BE29-53AC8C94F7C3}" type="pres">
      <dgm:prSet presAssocID="{CB071FBC-6C34-4ACF-AF73-58CEBD0E7A5A}" presName="thickLine" presStyleLbl="alignNode1" presStyleIdx="1" presStyleCnt="4"/>
      <dgm:spPr/>
    </dgm:pt>
    <dgm:pt modelId="{5E701AA8-509D-49A0-B848-B727A1D38A3A}" type="pres">
      <dgm:prSet presAssocID="{CB071FBC-6C34-4ACF-AF73-58CEBD0E7A5A}" presName="horz1" presStyleCnt="0"/>
      <dgm:spPr/>
    </dgm:pt>
    <dgm:pt modelId="{9F799FCB-EB27-4612-BA50-7A3DC749A987}" type="pres">
      <dgm:prSet presAssocID="{CB071FBC-6C34-4ACF-AF73-58CEBD0E7A5A}" presName="tx1" presStyleLbl="revTx" presStyleIdx="1" presStyleCnt="4"/>
      <dgm:spPr/>
    </dgm:pt>
    <dgm:pt modelId="{E91F36E9-368C-4264-992B-DCF07A673C74}" type="pres">
      <dgm:prSet presAssocID="{CB071FBC-6C34-4ACF-AF73-58CEBD0E7A5A}" presName="vert1" presStyleCnt="0"/>
      <dgm:spPr/>
    </dgm:pt>
    <dgm:pt modelId="{78E79D90-79A1-495D-A82C-6189F76D7CC1}" type="pres">
      <dgm:prSet presAssocID="{F8BED98B-819E-4D7B-91EF-19F22133712A}" presName="thickLine" presStyleLbl="alignNode1" presStyleIdx="2" presStyleCnt="4"/>
      <dgm:spPr/>
    </dgm:pt>
    <dgm:pt modelId="{9820D627-64E7-4525-9134-51ABBB3D04E9}" type="pres">
      <dgm:prSet presAssocID="{F8BED98B-819E-4D7B-91EF-19F22133712A}" presName="horz1" presStyleCnt="0"/>
      <dgm:spPr/>
    </dgm:pt>
    <dgm:pt modelId="{AC3AC3A0-3731-4CAA-9F2B-8763A9C8E429}" type="pres">
      <dgm:prSet presAssocID="{F8BED98B-819E-4D7B-91EF-19F22133712A}" presName="tx1" presStyleLbl="revTx" presStyleIdx="2" presStyleCnt="4"/>
      <dgm:spPr/>
    </dgm:pt>
    <dgm:pt modelId="{85112F10-D18B-4E36-884E-174986EECEB1}" type="pres">
      <dgm:prSet presAssocID="{F8BED98B-819E-4D7B-91EF-19F22133712A}" presName="vert1" presStyleCnt="0"/>
      <dgm:spPr/>
    </dgm:pt>
    <dgm:pt modelId="{BEF80DC1-9123-497D-8DA7-B984E9B8AA3C}" type="pres">
      <dgm:prSet presAssocID="{39CBC5AE-F0F6-4C0A-B37C-32134B74F3E2}" presName="thickLine" presStyleLbl="alignNode1" presStyleIdx="3" presStyleCnt="4"/>
      <dgm:spPr/>
    </dgm:pt>
    <dgm:pt modelId="{17726DCC-0460-48E4-B7CF-543C5EB46C59}" type="pres">
      <dgm:prSet presAssocID="{39CBC5AE-F0F6-4C0A-B37C-32134B74F3E2}" presName="horz1" presStyleCnt="0"/>
      <dgm:spPr/>
    </dgm:pt>
    <dgm:pt modelId="{F02214E8-F47B-4E71-9793-0559B2480C54}" type="pres">
      <dgm:prSet presAssocID="{39CBC5AE-F0F6-4C0A-B37C-32134B74F3E2}" presName="tx1" presStyleLbl="revTx" presStyleIdx="3" presStyleCnt="4"/>
      <dgm:spPr/>
    </dgm:pt>
    <dgm:pt modelId="{02F757F3-462C-4F56-B925-6BBC400E3A13}" type="pres">
      <dgm:prSet presAssocID="{39CBC5AE-F0F6-4C0A-B37C-32134B74F3E2}" presName="vert1" presStyleCnt="0"/>
      <dgm:spPr/>
    </dgm:pt>
  </dgm:ptLst>
  <dgm:cxnLst>
    <dgm:cxn modelId="{9097EA19-F3B5-4E87-8501-34DC1EE83275}" type="presOf" srcId="{39CBC5AE-F0F6-4C0A-B37C-32134B74F3E2}" destId="{F02214E8-F47B-4E71-9793-0559B2480C54}" srcOrd="0" destOrd="0" presId="urn:microsoft.com/office/officeart/2008/layout/LinedList"/>
    <dgm:cxn modelId="{D281B73D-7B9B-40F6-90F8-785468367CAE}" srcId="{AAF6D56B-E225-4091-B7B6-A1BD4791B5B9}" destId="{39CBC5AE-F0F6-4C0A-B37C-32134B74F3E2}" srcOrd="3" destOrd="0" parTransId="{062DDDFB-0B92-4E5B-A002-45E37896E7E2}" sibTransId="{6C3A6C21-B542-4D87-AA25-5ECEADA7BBE4}"/>
    <dgm:cxn modelId="{85935863-2746-47CF-A0C7-3BCA56D864ED}" srcId="{AAF6D56B-E225-4091-B7B6-A1BD4791B5B9}" destId="{CB071FBC-6C34-4ACF-AF73-58CEBD0E7A5A}" srcOrd="1" destOrd="0" parTransId="{6802553F-92AA-443D-B5A1-8157E7C6AD32}" sibTransId="{C0E168CA-D538-4D36-A825-2E4446DC9635}"/>
    <dgm:cxn modelId="{0BBAF446-10A8-4F60-BB14-A2CAEF6457C5}" type="presOf" srcId="{6F645D08-8776-4B84-9850-67615F02362E}" destId="{27BCD544-4EB4-4885-B4C8-A5843E8619EA}" srcOrd="0" destOrd="0" presId="urn:microsoft.com/office/officeart/2008/layout/LinedList"/>
    <dgm:cxn modelId="{F40E5E9D-ED47-4EE9-8B4B-4A1BD2E2710B}" type="presOf" srcId="{CB071FBC-6C34-4ACF-AF73-58CEBD0E7A5A}" destId="{9F799FCB-EB27-4612-BA50-7A3DC749A987}" srcOrd="0" destOrd="0" presId="urn:microsoft.com/office/officeart/2008/layout/LinedList"/>
    <dgm:cxn modelId="{77415DC7-227E-4D02-8A2C-84F8E2C7E9FD}" srcId="{AAF6D56B-E225-4091-B7B6-A1BD4791B5B9}" destId="{6F645D08-8776-4B84-9850-67615F02362E}" srcOrd="0" destOrd="0" parTransId="{40F003C5-AE1D-4A55-A48D-F3B77EDD3F4B}" sibTransId="{F34F6D08-6408-4558-9951-E68014705243}"/>
    <dgm:cxn modelId="{25204BD4-E6D1-430B-A900-B0F3999C1CEE}" srcId="{AAF6D56B-E225-4091-B7B6-A1BD4791B5B9}" destId="{F8BED98B-819E-4D7B-91EF-19F22133712A}" srcOrd="2" destOrd="0" parTransId="{4F45579E-40C1-488B-9757-DB80C8162E19}" sibTransId="{B11E8B3A-6083-4D8A-8B63-C10CCF6431A0}"/>
    <dgm:cxn modelId="{61F471D5-E79A-4C4B-A0E0-ABE45444144A}" type="presOf" srcId="{AAF6D56B-E225-4091-B7B6-A1BD4791B5B9}" destId="{D8E398E8-B902-4B91-9988-8BBEA8892AA7}" srcOrd="0" destOrd="0" presId="urn:microsoft.com/office/officeart/2008/layout/LinedList"/>
    <dgm:cxn modelId="{F272C5E0-4523-488D-B13B-D3076A88B152}" type="presOf" srcId="{F8BED98B-819E-4D7B-91EF-19F22133712A}" destId="{AC3AC3A0-3731-4CAA-9F2B-8763A9C8E429}" srcOrd="0" destOrd="0" presId="urn:microsoft.com/office/officeart/2008/layout/LinedList"/>
    <dgm:cxn modelId="{13BADF96-C4C6-413E-9254-7C255E4D3B0D}" type="presParOf" srcId="{D8E398E8-B902-4B91-9988-8BBEA8892AA7}" destId="{3396A75C-060A-4CEE-A2F0-03BD3EAC4F1B}" srcOrd="0" destOrd="0" presId="urn:microsoft.com/office/officeart/2008/layout/LinedList"/>
    <dgm:cxn modelId="{E0CD1885-1CA3-4FDF-995A-D823AA669E77}" type="presParOf" srcId="{D8E398E8-B902-4B91-9988-8BBEA8892AA7}" destId="{DC5CDB3B-F095-4F65-A481-FFE1C0F171DF}" srcOrd="1" destOrd="0" presId="urn:microsoft.com/office/officeart/2008/layout/LinedList"/>
    <dgm:cxn modelId="{7254C309-2AF4-458B-9E34-535A7F8E0134}" type="presParOf" srcId="{DC5CDB3B-F095-4F65-A481-FFE1C0F171DF}" destId="{27BCD544-4EB4-4885-B4C8-A5843E8619EA}" srcOrd="0" destOrd="0" presId="urn:microsoft.com/office/officeart/2008/layout/LinedList"/>
    <dgm:cxn modelId="{77FEC8CE-88ED-47EB-8771-E4B2253538E4}" type="presParOf" srcId="{DC5CDB3B-F095-4F65-A481-FFE1C0F171DF}" destId="{423B4899-42D4-4F6D-9637-F143AFDAA24D}" srcOrd="1" destOrd="0" presId="urn:microsoft.com/office/officeart/2008/layout/LinedList"/>
    <dgm:cxn modelId="{AA0F02FE-A7A7-49DF-88F9-E66DA09810A1}" type="presParOf" srcId="{D8E398E8-B902-4B91-9988-8BBEA8892AA7}" destId="{5DCCDEC1-262C-4C07-BE29-53AC8C94F7C3}" srcOrd="2" destOrd="0" presId="urn:microsoft.com/office/officeart/2008/layout/LinedList"/>
    <dgm:cxn modelId="{5D64109F-23FD-4A69-BABA-0227E9AB29AB}" type="presParOf" srcId="{D8E398E8-B902-4B91-9988-8BBEA8892AA7}" destId="{5E701AA8-509D-49A0-B848-B727A1D38A3A}" srcOrd="3" destOrd="0" presId="urn:microsoft.com/office/officeart/2008/layout/LinedList"/>
    <dgm:cxn modelId="{41121C28-EFCE-4686-9100-C05C673F590A}" type="presParOf" srcId="{5E701AA8-509D-49A0-B848-B727A1D38A3A}" destId="{9F799FCB-EB27-4612-BA50-7A3DC749A987}" srcOrd="0" destOrd="0" presId="urn:microsoft.com/office/officeart/2008/layout/LinedList"/>
    <dgm:cxn modelId="{65E0FCAD-B34A-4FDE-8EEF-70C5B1171DF4}" type="presParOf" srcId="{5E701AA8-509D-49A0-B848-B727A1D38A3A}" destId="{E91F36E9-368C-4264-992B-DCF07A673C74}" srcOrd="1" destOrd="0" presId="urn:microsoft.com/office/officeart/2008/layout/LinedList"/>
    <dgm:cxn modelId="{B4A2CBD0-0F68-4CEC-BD59-6F7BEC5E5F7D}" type="presParOf" srcId="{D8E398E8-B902-4B91-9988-8BBEA8892AA7}" destId="{78E79D90-79A1-495D-A82C-6189F76D7CC1}" srcOrd="4" destOrd="0" presId="urn:microsoft.com/office/officeart/2008/layout/LinedList"/>
    <dgm:cxn modelId="{8CCA39F9-AEB6-4F21-BB17-115963FE21CA}" type="presParOf" srcId="{D8E398E8-B902-4B91-9988-8BBEA8892AA7}" destId="{9820D627-64E7-4525-9134-51ABBB3D04E9}" srcOrd="5" destOrd="0" presId="urn:microsoft.com/office/officeart/2008/layout/LinedList"/>
    <dgm:cxn modelId="{28156DE4-EAF7-4EE1-A243-358C1E047165}" type="presParOf" srcId="{9820D627-64E7-4525-9134-51ABBB3D04E9}" destId="{AC3AC3A0-3731-4CAA-9F2B-8763A9C8E429}" srcOrd="0" destOrd="0" presId="urn:microsoft.com/office/officeart/2008/layout/LinedList"/>
    <dgm:cxn modelId="{21C58B1B-0B0F-4475-A910-5070AA6B5553}" type="presParOf" srcId="{9820D627-64E7-4525-9134-51ABBB3D04E9}" destId="{85112F10-D18B-4E36-884E-174986EECEB1}" srcOrd="1" destOrd="0" presId="urn:microsoft.com/office/officeart/2008/layout/LinedList"/>
    <dgm:cxn modelId="{7D1EBC1F-8CF2-4E1E-B2CB-1B2A297A431B}" type="presParOf" srcId="{D8E398E8-B902-4B91-9988-8BBEA8892AA7}" destId="{BEF80DC1-9123-497D-8DA7-B984E9B8AA3C}" srcOrd="6" destOrd="0" presId="urn:microsoft.com/office/officeart/2008/layout/LinedList"/>
    <dgm:cxn modelId="{B54578D4-F007-4F4F-8DBA-D04FC884AE89}" type="presParOf" srcId="{D8E398E8-B902-4B91-9988-8BBEA8892AA7}" destId="{17726DCC-0460-48E4-B7CF-543C5EB46C59}" srcOrd="7" destOrd="0" presId="urn:microsoft.com/office/officeart/2008/layout/LinedList"/>
    <dgm:cxn modelId="{43ED6056-1E19-4382-B582-1BE1AAC9FC8E}" type="presParOf" srcId="{17726DCC-0460-48E4-B7CF-543C5EB46C59}" destId="{F02214E8-F47B-4E71-9793-0559B2480C54}" srcOrd="0" destOrd="0" presId="urn:microsoft.com/office/officeart/2008/layout/LinedList"/>
    <dgm:cxn modelId="{DEB40AEA-99EB-4F55-8764-F4D71EF1685B}" type="presParOf" srcId="{17726DCC-0460-48E4-B7CF-543C5EB46C59}" destId="{02F757F3-462C-4F56-B925-6BBC400E3A1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D20893-41F1-4109-A175-720CD55CE27B}">
      <dsp:nvSpPr>
        <dsp:cNvPr id="0" name=""/>
        <dsp:cNvSpPr/>
      </dsp:nvSpPr>
      <dsp:spPr>
        <a:xfrm>
          <a:off x="3002" y="83503"/>
          <a:ext cx="2382274" cy="142936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/>
            <a:t>Reconstruction Error</a:t>
          </a:r>
          <a:br>
            <a:rPr lang="en-GB" sz="1500" kern="1200"/>
          </a:br>
          <a:r>
            <a:rPr lang="en-GB" sz="1500" kern="1200"/>
            <a:t>→ measures how well NMF approximates the original data </a:t>
          </a:r>
          <a:endParaRPr lang="en-US" sz="1500" kern="1200"/>
        </a:p>
      </dsp:txBody>
      <dsp:txXfrm>
        <a:off x="3002" y="83503"/>
        <a:ext cx="2382274" cy="1429364"/>
      </dsp:txXfrm>
    </dsp:sp>
    <dsp:sp modelId="{C08935DC-A9BC-46F3-BA4B-F033344E2BA6}">
      <dsp:nvSpPr>
        <dsp:cNvPr id="0" name=""/>
        <dsp:cNvSpPr/>
      </dsp:nvSpPr>
      <dsp:spPr>
        <a:xfrm>
          <a:off x="2623505" y="83503"/>
          <a:ext cx="2382274" cy="14293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500" b="1" kern="1200"/>
            <a:t>Δ </a:t>
          </a:r>
          <a:r>
            <a:rPr lang="en-GB" sz="1500" b="1" kern="1200"/>
            <a:t>Error (Marginal Gain)</a:t>
          </a:r>
          <a:br>
            <a:rPr lang="en-GB" sz="1500" kern="1200"/>
          </a:br>
          <a:r>
            <a:rPr lang="en-GB" sz="1500" kern="1200"/>
            <a:t>→ improvement in reconstruction when increasing k </a:t>
          </a:r>
          <a:endParaRPr lang="en-US" sz="1500" kern="1200"/>
        </a:p>
      </dsp:txBody>
      <dsp:txXfrm>
        <a:off x="2623505" y="83503"/>
        <a:ext cx="2382274" cy="1429364"/>
      </dsp:txXfrm>
    </dsp:sp>
    <dsp:sp modelId="{DE4FE467-D19A-44DF-9285-C92300FE51BC}">
      <dsp:nvSpPr>
        <dsp:cNvPr id="0" name=""/>
        <dsp:cNvSpPr/>
      </dsp:nvSpPr>
      <dsp:spPr>
        <a:xfrm>
          <a:off x="5244007" y="83503"/>
          <a:ext cx="2382274" cy="14293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/>
            <a:t>% Variance Explained</a:t>
          </a:r>
          <a:br>
            <a:rPr lang="en-GB" sz="1500" kern="1200"/>
          </a:br>
          <a:r>
            <a:rPr lang="en-GB" sz="1500" kern="1200"/>
            <a:t>→ additional information captured by each component </a:t>
          </a:r>
          <a:endParaRPr lang="en-US" sz="1500" kern="1200"/>
        </a:p>
      </dsp:txBody>
      <dsp:txXfrm>
        <a:off x="5244007" y="83503"/>
        <a:ext cx="2382274" cy="1429364"/>
      </dsp:txXfrm>
    </dsp:sp>
    <dsp:sp modelId="{9863C829-CCFF-44A6-8A1F-352E6DCBB101}">
      <dsp:nvSpPr>
        <dsp:cNvPr id="0" name=""/>
        <dsp:cNvSpPr/>
      </dsp:nvSpPr>
      <dsp:spPr>
        <a:xfrm>
          <a:off x="7864509" y="83503"/>
          <a:ext cx="2382274" cy="142936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/>
            <a:t>Cophenetic Coefficient</a:t>
          </a:r>
          <a:br>
            <a:rPr lang="en-GB" sz="1500" kern="1200"/>
          </a:br>
          <a:r>
            <a:rPr lang="en-GB" sz="1500" kern="1200"/>
            <a:t>→ stability of clustering across multiple NMF runs </a:t>
          </a:r>
          <a:endParaRPr lang="en-US" sz="1500" kern="1200"/>
        </a:p>
      </dsp:txBody>
      <dsp:txXfrm>
        <a:off x="7864509" y="83503"/>
        <a:ext cx="2382274" cy="1429364"/>
      </dsp:txXfrm>
    </dsp:sp>
    <dsp:sp modelId="{E2ED4EB5-9D6A-4A00-9F62-3D307F3B1812}">
      <dsp:nvSpPr>
        <dsp:cNvPr id="0" name=""/>
        <dsp:cNvSpPr/>
      </dsp:nvSpPr>
      <dsp:spPr>
        <a:xfrm>
          <a:off x="1313253" y="1751095"/>
          <a:ext cx="2382274" cy="142936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/>
            <a:t>Silhouette Score</a:t>
          </a:r>
          <a:br>
            <a:rPr lang="en-GB" sz="1500" kern="1200"/>
          </a:br>
          <a:r>
            <a:rPr lang="en-GB" sz="1500" kern="1200"/>
            <a:t>→ separation between clusters </a:t>
          </a:r>
          <a:endParaRPr lang="en-US" sz="1500" kern="1200"/>
        </a:p>
      </dsp:txBody>
      <dsp:txXfrm>
        <a:off x="1313253" y="1751095"/>
        <a:ext cx="2382274" cy="1429364"/>
      </dsp:txXfrm>
    </dsp:sp>
    <dsp:sp modelId="{B6606DA5-4A17-4D19-BDCE-71C2BE1FE72A}">
      <dsp:nvSpPr>
        <dsp:cNvPr id="0" name=""/>
        <dsp:cNvSpPr/>
      </dsp:nvSpPr>
      <dsp:spPr>
        <a:xfrm>
          <a:off x="3933756" y="1751095"/>
          <a:ext cx="2382274" cy="142936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/>
            <a:t>Random Baseline</a:t>
          </a:r>
          <a:br>
            <a:rPr lang="en-GB" sz="1500" kern="1200"/>
          </a:br>
          <a:r>
            <a:rPr lang="en-GB" sz="1500" kern="1200"/>
            <a:t>→ performance on permuted data used as noise reference </a:t>
          </a:r>
          <a:endParaRPr lang="en-US" sz="1500" kern="1200"/>
        </a:p>
      </dsp:txBody>
      <dsp:txXfrm>
        <a:off x="3933756" y="1751095"/>
        <a:ext cx="2382274" cy="1429364"/>
      </dsp:txXfrm>
    </dsp:sp>
    <dsp:sp modelId="{30456F8D-EBA9-482C-BDC6-E30BC601FE28}">
      <dsp:nvSpPr>
        <dsp:cNvPr id="0" name=""/>
        <dsp:cNvSpPr/>
      </dsp:nvSpPr>
      <dsp:spPr>
        <a:xfrm>
          <a:off x="6554258" y="1751095"/>
          <a:ext cx="2382274" cy="14293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/>
            <a:t>Fold Improvement</a:t>
          </a:r>
          <a:br>
            <a:rPr lang="en-GB" sz="1500" kern="1200"/>
          </a:br>
          <a:r>
            <a:rPr lang="en-GB" sz="1500" kern="1200"/>
            <a:t>→ ratio between real and random improvement</a:t>
          </a:r>
          <a:br>
            <a:rPr lang="en-GB" sz="1500" kern="1200"/>
          </a:br>
          <a:r>
            <a:rPr lang="en-GB" sz="1500" kern="1200"/>
            <a:t>→ values &gt; 1 indicate non-random structure </a:t>
          </a:r>
          <a:endParaRPr lang="en-US" sz="1500" kern="1200"/>
        </a:p>
      </dsp:txBody>
      <dsp:txXfrm>
        <a:off x="6554258" y="1751095"/>
        <a:ext cx="2382274" cy="14293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96A75C-060A-4CEE-A2F0-03BD3EAC4F1B}">
      <dsp:nvSpPr>
        <dsp:cNvPr id="0" name=""/>
        <dsp:cNvSpPr/>
      </dsp:nvSpPr>
      <dsp:spPr>
        <a:xfrm>
          <a:off x="0" y="0"/>
          <a:ext cx="631626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CD544-4EB4-4885-B4C8-A5843E8619EA}">
      <dsp:nvSpPr>
        <dsp:cNvPr id="0" name=""/>
        <dsp:cNvSpPr/>
      </dsp:nvSpPr>
      <dsp:spPr>
        <a:xfrm>
          <a:off x="0" y="0"/>
          <a:ext cx="6316266" cy="1269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 dirty="0"/>
            <a:t>Objective</a:t>
          </a:r>
          <a:r>
            <a:rPr lang="en-GB" sz="1900" kern="1200" dirty="0"/>
            <a:t>: To validate the robustness of the biomarkers identified through NMF (Non-negative Matrix Factorization). </a:t>
          </a:r>
          <a:endParaRPr lang="en-US" sz="1900" kern="1200" dirty="0"/>
        </a:p>
      </dsp:txBody>
      <dsp:txXfrm>
        <a:off x="0" y="0"/>
        <a:ext cx="6316266" cy="1269294"/>
      </dsp:txXfrm>
    </dsp:sp>
    <dsp:sp modelId="{5DCCDEC1-262C-4C07-BE29-53AC8C94F7C3}">
      <dsp:nvSpPr>
        <dsp:cNvPr id="0" name=""/>
        <dsp:cNvSpPr/>
      </dsp:nvSpPr>
      <dsp:spPr>
        <a:xfrm>
          <a:off x="0" y="1269294"/>
          <a:ext cx="6316266" cy="0"/>
        </a:xfrm>
        <a:prstGeom prst="line">
          <a:avLst/>
        </a:prstGeom>
        <a:solidFill>
          <a:schemeClr val="accent2">
            <a:hueOff val="-675307"/>
            <a:satOff val="-5166"/>
            <a:lumOff val="-64"/>
            <a:alphaOff val="0"/>
          </a:schemeClr>
        </a:solidFill>
        <a:ln w="12700" cap="flat" cmpd="sng" algn="ctr">
          <a:solidFill>
            <a:schemeClr val="accent2">
              <a:hueOff val="-675307"/>
              <a:satOff val="-5166"/>
              <a:lumOff val="-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799FCB-EB27-4612-BA50-7A3DC749A987}">
      <dsp:nvSpPr>
        <dsp:cNvPr id="0" name=""/>
        <dsp:cNvSpPr/>
      </dsp:nvSpPr>
      <dsp:spPr>
        <a:xfrm>
          <a:off x="0" y="1269294"/>
          <a:ext cx="6316266" cy="1269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 dirty="0"/>
            <a:t>Orthogonal</a:t>
          </a:r>
          <a:r>
            <a:rPr lang="en-GB" sz="1900" kern="1200" dirty="0"/>
            <a:t> </a:t>
          </a:r>
          <a:r>
            <a:rPr lang="en-GB" sz="1900" b="1" kern="1200" dirty="0"/>
            <a:t>Methodology</a:t>
          </a:r>
          <a:r>
            <a:rPr lang="en-GB" sz="1900" kern="1200" dirty="0"/>
            <a:t>: We implemented a Random Forest supervised learning approach to independently test the discriminative power of the proteins for each cluster. </a:t>
          </a:r>
          <a:endParaRPr lang="en-US" sz="1900" kern="1200" dirty="0"/>
        </a:p>
      </dsp:txBody>
      <dsp:txXfrm>
        <a:off x="0" y="1269294"/>
        <a:ext cx="6316266" cy="1269294"/>
      </dsp:txXfrm>
    </dsp:sp>
    <dsp:sp modelId="{78E79D90-79A1-495D-A82C-6189F76D7CC1}">
      <dsp:nvSpPr>
        <dsp:cNvPr id="0" name=""/>
        <dsp:cNvSpPr/>
      </dsp:nvSpPr>
      <dsp:spPr>
        <a:xfrm>
          <a:off x="0" y="2538589"/>
          <a:ext cx="6316266" cy="0"/>
        </a:xfrm>
        <a:prstGeom prst="line">
          <a:avLst/>
        </a:prstGeom>
        <a:solidFill>
          <a:schemeClr val="accent2">
            <a:hueOff val="-1350615"/>
            <a:satOff val="-10333"/>
            <a:lumOff val="-128"/>
            <a:alphaOff val="0"/>
          </a:schemeClr>
        </a:solidFill>
        <a:ln w="12700" cap="flat" cmpd="sng" algn="ctr">
          <a:solidFill>
            <a:schemeClr val="accent2">
              <a:hueOff val="-1350615"/>
              <a:satOff val="-10333"/>
              <a:lumOff val="-1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3AC3A0-3731-4CAA-9F2B-8763A9C8E429}">
      <dsp:nvSpPr>
        <dsp:cNvPr id="0" name=""/>
        <dsp:cNvSpPr/>
      </dsp:nvSpPr>
      <dsp:spPr>
        <a:xfrm>
          <a:off x="0" y="2538589"/>
          <a:ext cx="6316266" cy="1269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 dirty="0"/>
            <a:t>Consistency</a:t>
          </a:r>
          <a:r>
            <a:rPr lang="en-GB" sz="1900" kern="1200" dirty="0"/>
            <a:t> </a:t>
          </a:r>
          <a:r>
            <a:rPr lang="en-GB" sz="1900" b="1" kern="1200" dirty="0"/>
            <a:t>Metrics</a:t>
          </a:r>
          <a:r>
            <a:rPr lang="en-GB" sz="1900" kern="1200" dirty="0"/>
            <a:t>: Using the Jaccard Similarity Index to quantify the agreement between the mathematical decomposition (NMF) and the predictive model (RF). </a:t>
          </a:r>
          <a:endParaRPr lang="en-US" sz="1900" kern="1200" dirty="0"/>
        </a:p>
      </dsp:txBody>
      <dsp:txXfrm>
        <a:off x="0" y="2538589"/>
        <a:ext cx="6316266" cy="1269294"/>
      </dsp:txXfrm>
    </dsp:sp>
    <dsp:sp modelId="{BEF80DC1-9123-497D-8DA7-B984E9B8AA3C}">
      <dsp:nvSpPr>
        <dsp:cNvPr id="0" name=""/>
        <dsp:cNvSpPr/>
      </dsp:nvSpPr>
      <dsp:spPr>
        <a:xfrm>
          <a:off x="0" y="3807885"/>
          <a:ext cx="6316266" cy="0"/>
        </a:xfrm>
        <a:prstGeom prst="line">
          <a:avLst/>
        </a:prstGeom>
        <a:solidFill>
          <a:schemeClr val="accent2">
            <a:hueOff val="-2025922"/>
            <a:satOff val="-15499"/>
            <a:lumOff val="-192"/>
            <a:alphaOff val="0"/>
          </a:schemeClr>
        </a:solidFill>
        <a:ln w="12700" cap="flat" cmpd="sng" algn="ctr">
          <a:solidFill>
            <a:schemeClr val="accent2">
              <a:hueOff val="-2025922"/>
              <a:satOff val="-15499"/>
              <a:lumOff val="-1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2214E8-F47B-4E71-9793-0559B2480C54}">
      <dsp:nvSpPr>
        <dsp:cNvPr id="0" name=""/>
        <dsp:cNvSpPr/>
      </dsp:nvSpPr>
      <dsp:spPr>
        <a:xfrm>
          <a:off x="0" y="3807885"/>
          <a:ext cx="6316266" cy="1269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 dirty="0"/>
            <a:t>Key</a:t>
          </a:r>
          <a:r>
            <a:rPr lang="en-GB" sz="1900" kern="1200" dirty="0"/>
            <a:t> </a:t>
          </a:r>
          <a:r>
            <a:rPr lang="en-GB" sz="1900" b="1" kern="1200" dirty="0"/>
            <a:t>Outcome</a:t>
          </a:r>
          <a:r>
            <a:rPr lang="en-GB" sz="1900" kern="1200" dirty="0"/>
            <a:t>: Identification of High-Confidence Biomarkers—proteins consistently selected by both algorithms as primary drivers of cluster identity.</a:t>
          </a:r>
          <a:endParaRPr lang="en-US" sz="1900" kern="1200" dirty="0"/>
        </a:p>
      </dsp:txBody>
      <dsp:txXfrm>
        <a:off x="0" y="3807885"/>
        <a:ext cx="6316266" cy="12692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4/18/2026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91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577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627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120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612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493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203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834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5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3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028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98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F2B51C-9578-EB41-A17E-FFF9D491A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4E9CAEA-4CF4-D249-8127-CD2FA2018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85">
              <a:extLst>
                <a:ext uri="{FF2B5EF4-FFF2-40B4-BE49-F238E27FC236}">
                  <a16:creationId xmlns:a16="http://schemas.microsoft.com/office/drawing/2014/main" id="{E51EDD93-C3A3-DF47-BCFC-43B049E34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86">
              <a:extLst>
                <a:ext uri="{FF2B5EF4-FFF2-40B4-BE49-F238E27FC236}">
                  <a16:creationId xmlns:a16="http://schemas.microsoft.com/office/drawing/2014/main" id="{D574DB0D-896A-D649-89B1-33753E1D46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87">
              <a:extLst>
                <a:ext uri="{FF2B5EF4-FFF2-40B4-BE49-F238E27FC236}">
                  <a16:creationId xmlns:a16="http://schemas.microsoft.com/office/drawing/2014/main" id="{62256DD9-FEA3-4A40-80D1-B33F0FF15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88">
              <a:extLst>
                <a:ext uri="{FF2B5EF4-FFF2-40B4-BE49-F238E27FC236}">
                  <a16:creationId xmlns:a16="http://schemas.microsoft.com/office/drawing/2014/main" id="{534E9839-EAD7-3C49-8D10-E4BFE0820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89">
              <a:extLst>
                <a:ext uri="{FF2B5EF4-FFF2-40B4-BE49-F238E27FC236}">
                  <a16:creationId xmlns:a16="http://schemas.microsoft.com/office/drawing/2014/main" id="{DDFC3FA6-9BB5-A34E-9337-A2E9A1EED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97">
              <a:extLst>
                <a:ext uri="{FF2B5EF4-FFF2-40B4-BE49-F238E27FC236}">
                  <a16:creationId xmlns:a16="http://schemas.microsoft.com/office/drawing/2014/main" id="{45000D9E-4AD7-5A4F-8E99-302F388C83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Sottotitolo 2">
            <a:extLst>
              <a:ext uri="{FF2B5EF4-FFF2-40B4-BE49-F238E27FC236}">
                <a16:creationId xmlns:a16="http://schemas.microsoft.com/office/drawing/2014/main" id="{565D484E-615F-BC2D-D31C-A86FEAB2C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9751" y="768334"/>
            <a:ext cx="6479629" cy="286640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700" b="1" dirty="0"/>
              <a:t>Identification of Alzheimer’s Disease Subtypes using NMF</a:t>
            </a:r>
            <a:br>
              <a:rPr lang="en-GB" sz="4700" dirty="0"/>
            </a:br>
            <a:endParaRPr lang="en-GB" sz="47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E375B6-0316-A610-F069-ED8EBBC6CC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44" r="32505" b="-1"/>
          <a:stretch>
            <a:fillRect/>
          </a:stretch>
        </p:blipFill>
        <p:spPr>
          <a:xfrm>
            <a:off x="20" y="1"/>
            <a:ext cx="4173349" cy="6857999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39752" y="6087110"/>
            <a:ext cx="688374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09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B723717-1ED9-CF12-820D-8EC730D44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4818126"/>
            <a:ext cx="6402597" cy="106324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GB" sz="4800" dirty="0"/>
              <a:t>From Full Cohort to AD Population</a:t>
            </a:r>
            <a:endParaRPr lang="en-US" sz="4800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0EC93BF0-FB3E-EC3D-CD92-BD3B94027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59" y="1120984"/>
            <a:ext cx="3474720" cy="2606039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071D062-11D3-F720-6281-C07AED1C18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072" y="1120984"/>
            <a:ext cx="3474720" cy="2606039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A637262-7483-9F43-A425-2A50FAE31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63FD55EF-F62E-7764-E31E-112C7AD4DF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384" y="1120984"/>
            <a:ext cx="3474720" cy="2606039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1B96028-BC88-E342-92F9-207761463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220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C871885-DA52-EBA2-ECB6-C1A16B4DC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4541445" cy="158744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400"/>
              <a:t>Data Normalization Across Cohorts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AC45527-14BD-1260-0F59-9AC49C27B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5706" y="817197"/>
            <a:ext cx="5457725" cy="154114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2000"/>
              <a:t>Z-score normalization was applied to standardize features while preserving relative differences, followed by a shift to ensure non-negativity required for NMF</a:t>
            </a:r>
          </a:p>
        </p:txBody>
      </p:sp>
      <p:pic>
        <p:nvPicPr>
          <p:cNvPr id="42" name="Immagine 41">
            <a:extLst>
              <a:ext uri="{FF2B5EF4-FFF2-40B4-BE49-F238E27FC236}">
                <a16:creationId xmlns:a16="http://schemas.microsoft.com/office/drawing/2014/main" id="{AAD65043-F106-D820-7A17-8B51B290F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46" y="2933427"/>
            <a:ext cx="3714284" cy="2382794"/>
          </a:xfrm>
          <a:prstGeom prst="rect">
            <a:avLst/>
          </a:prstGeom>
        </p:spPr>
      </p:pic>
      <p:pic>
        <p:nvPicPr>
          <p:cNvPr id="50" name="Immagine 49">
            <a:extLst>
              <a:ext uri="{FF2B5EF4-FFF2-40B4-BE49-F238E27FC236}">
                <a16:creationId xmlns:a16="http://schemas.microsoft.com/office/drawing/2014/main" id="{7F119F2F-2A38-1D5B-E7DD-EB1B43AC1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962" y="2933426"/>
            <a:ext cx="3714284" cy="2382791"/>
          </a:xfrm>
          <a:prstGeom prst="rect">
            <a:avLst/>
          </a:prstGeom>
        </p:spPr>
      </p:pic>
      <p:pic>
        <p:nvPicPr>
          <p:cNvPr id="40" name="Immagine 39">
            <a:extLst>
              <a:ext uri="{FF2B5EF4-FFF2-40B4-BE49-F238E27FC236}">
                <a16:creationId xmlns:a16="http://schemas.microsoft.com/office/drawing/2014/main" id="{67EF714B-3C4C-95C9-BB00-83F9259D77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593" y="2933427"/>
            <a:ext cx="3714284" cy="2382790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05ADD15B-C747-D340-BF8A-A1DD2A6A9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0B0B662E-0152-FD4E-B468-3F3593C15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1BFFC99-6B9D-F240-BD39-160F4C573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57">
              <a:extLst>
                <a:ext uri="{FF2B5EF4-FFF2-40B4-BE49-F238E27FC236}">
                  <a16:creationId xmlns:a16="http://schemas.microsoft.com/office/drawing/2014/main" id="{4DC6AEB9-EEFF-D243-AEE2-42D0F9E53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58">
              <a:extLst>
                <a:ext uri="{FF2B5EF4-FFF2-40B4-BE49-F238E27FC236}">
                  <a16:creationId xmlns:a16="http://schemas.microsoft.com/office/drawing/2014/main" id="{D89DA958-651D-0049-A549-A9D22E494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FE039F1-6D47-C642-B506-452A83B0A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315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F892BE0-C720-EAA6-9162-C697F5A6D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5995137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NMF-Based Subtype Identification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5DD664E-BB59-9FA0-AB90-67844DD82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160016"/>
            <a:ext cx="5995137" cy="360121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1400" b="1" dirty="0"/>
              <a:t>Pipeline (for each k = 2–9)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Perform multiple NMF runs (n = 60) with random initialization 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Select the best model based on minimum reconstruction error 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Extract top features for each component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2491038-9ABB-BC2A-ED21-6D95A2575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287" y="1934412"/>
            <a:ext cx="4880590" cy="360120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7620302-BEE8-1447-8324-5F4178AA1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3" name="Freeform 37">
              <a:extLst>
                <a:ext uri="{FF2B5EF4-FFF2-40B4-BE49-F238E27FC236}">
                  <a16:creationId xmlns:a16="http://schemas.microsoft.com/office/drawing/2014/main" id="{075332F5-EA0C-8B40-ADC9-D024EBD77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9">
              <a:extLst>
                <a:ext uri="{FF2B5EF4-FFF2-40B4-BE49-F238E27FC236}">
                  <a16:creationId xmlns:a16="http://schemas.microsoft.com/office/drawing/2014/main" id="{2619F114-DF39-F544-B487-5430D00E1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41">
              <a:extLst>
                <a:ext uri="{FF2B5EF4-FFF2-40B4-BE49-F238E27FC236}">
                  <a16:creationId xmlns:a16="http://schemas.microsoft.com/office/drawing/2014/main" id="{5CDF6368-32C4-A64F-8D2E-11DE400CD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42">
              <a:extLst>
                <a:ext uri="{FF2B5EF4-FFF2-40B4-BE49-F238E27FC236}">
                  <a16:creationId xmlns:a16="http://schemas.microsoft.com/office/drawing/2014/main" id="{148F19D8-49E5-0945-BC17-56044D43D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8C50EA3-7CF1-9542-A21D-5B3EBACC5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7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07BE294-650E-F43A-4340-80ED1BCA1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</p:spPr>
        <p:txBody>
          <a:bodyPr>
            <a:normAutofit/>
          </a:bodyPr>
          <a:lstStyle/>
          <a:p>
            <a:r>
              <a:rPr lang="en-GB" dirty="0"/>
              <a:t>Evaluation Metrics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824CF1-E973-7D48-9ECB-68CF79EC0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D01A2A1A-EA65-CF50-A922-D3FFB248D0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3664410"/>
              </p:ext>
            </p:extLst>
          </p:nvPr>
        </p:nvGraphicFramePr>
        <p:xfrm>
          <a:off x="967562" y="2497074"/>
          <a:ext cx="10249787" cy="3263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2276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0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1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7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8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9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0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1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5" name="Rectangle 114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079023F-9ED1-F10E-F1ED-D16768043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34"/>
            <a:ext cx="4134537" cy="286640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 dirty="0"/>
              <a:t>Selection of optimal number of subtypes in Coimbra dataset</a:t>
            </a:r>
          </a:p>
        </p:txBody>
      </p:sp>
      <p:pic>
        <p:nvPicPr>
          <p:cNvPr id="80" name="Immagine 79">
            <a:extLst>
              <a:ext uri="{FF2B5EF4-FFF2-40B4-BE49-F238E27FC236}">
                <a16:creationId xmlns:a16="http://schemas.microsoft.com/office/drawing/2014/main" id="{DF10F1F2-89E7-F7C9-0972-590E0C2C5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067" y="983661"/>
            <a:ext cx="3026664" cy="2020298"/>
          </a:xfrm>
          <a:prstGeom prst="rect">
            <a:avLst/>
          </a:prstGeom>
        </p:spPr>
      </p:pic>
      <p:pic>
        <p:nvPicPr>
          <p:cNvPr id="76" name="Immagine 75">
            <a:extLst>
              <a:ext uri="{FF2B5EF4-FFF2-40B4-BE49-F238E27FC236}">
                <a16:creationId xmlns:a16="http://schemas.microsoft.com/office/drawing/2014/main" id="{4BFF95D1-2641-220B-8995-A33863DF1D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091" y="3846239"/>
            <a:ext cx="3026664" cy="2020298"/>
          </a:xfrm>
          <a:prstGeom prst="rect">
            <a:avLst/>
          </a:prstGeom>
        </p:spPr>
      </p:pic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65B630C-8A26-BF40-AD00-AAAB3F8DF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18" name="Freeform 85">
              <a:extLst>
                <a:ext uri="{FF2B5EF4-FFF2-40B4-BE49-F238E27FC236}">
                  <a16:creationId xmlns:a16="http://schemas.microsoft.com/office/drawing/2014/main" id="{47332152-49D9-5F42-9522-9424EDC70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9" name="Freeform 87">
              <a:extLst>
                <a:ext uri="{FF2B5EF4-FFF2-40B4-BE49-F238E27FC236}">
                  <a16:creationId xmlns:a16="http://schemas.microsoft.com/office/drawing/2014/main" id="{60C97C94-6942-C048-8F6F-55E05CBA1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0" name="Freeform 89">
              <a:extLst>
                <a:ext uri="{FF2B5EF4-FFF2-40B4-BE49-F238E27FC236}">
                  <a16:creationId xmlns:a16="http://schemas.microsoft.com/office/drawing/2014/main" id="{BD92967A-BFB2-E441-AC07-5997DDDD5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1" name="Freeform 100">
              <a:extLst>
                <a:ext uri="{FF2B5EF4-FFF2-40B4-BE49-F238E27FC236}">
                  <a16:creationId xmlns:a16="http://schemas.microsoft.com/office/drawing/2014/main" id="{DC25488D-5181-EC40-A6AC-862FC3787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82" name="Immagine 81">
            <a:extLst>
              <a:ext uri="{FF2B5EF4-FFF2-40B4-BE49-F238E27FC236}">
                <a16:creationId xmlns:a16="http://schemas.microsoft.com/office/drawing/2014/main" id="{5EA7E9FA-F9C9-7230-4808-92F9BCFA7E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646" y="983661"/>
            <a:ext cx="3026664" cy="2020298"/>
          </a:xfrm>
          <a:prstGeom prst="rect">
            <a:avLst/>
          </a:prstGeom>
        </p:spPr>
      </p:pic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Immagine 77">
            <a:extLst>
              <a:ext uri="{FF2B5EF4-FFF2-40B4-BE49-F238E27FC236}">
                <a16:creationId xmlns:a16="http://schemas.microsoft.com/office/drawing/2014/main" id="{272FD00F-A8A7-15DE-B878-85051B3D04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872" y="3847650"/>
            <a:ext cx="3022438" cy="2017477"/>
          </a:xfrm>
          <a:prstGeom prst="rect">
            <a:avLst/>
          </a:prstGeom>
        </p:spPr>
      </p:pic>
      <p:pic>
        <p:nvPicPr>
          <p:cNvPr id="86" name="Immagine 85">
            <a:extLst>
              <a:ext uri="{FF2B5EF4-FFF2-40B4-BE49-F238E27FC236}">
                <a16:creationId xmlns:a16="http://schemas.microsoft.com/office/drawing/2014/main" id="{4DDF0722-4A69-F992-02ED-2DF3C0DBC1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956" y="3853445"/>
            <a:ext cx="3026664" cy="201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roup 97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1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6" name="Rectangle 125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A3083ED-FFFB-CBDD-B3E4-C56AFC6B8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765768"/>
            <a:ext cx="6402597" cy="106324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Selection of optimal number of subtypes in Coimbra dataset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9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0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1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2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7" name="Immagine 16">
            <a:extLst>
              <a:ext uri="{FF2B5EF4-FFF2-40B4-BE49-F238E27FC236}">
                <a16:creationId xmlns:a16="http://schemas.microsoft.com/office/drawing/2014/main" id="{B4E51DFF-CF03-41F5-EF16-061448319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89" y="2746243"/>
            <a:ext cx="10885620" cy="2558120"/>
          </a:xfrm>
          <a:prstGeom prst="rect">
            <a:avLst/>
          </a:prstGeom>
        </p:spPr>
      </p:pic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51D4F49C-5EE1-6C4F-858E-AE02CC2C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1077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BD10678-4DD9-831C-7E69-0F2D6B334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34"/>
            <a:ext cx="4134537" cy="286640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 dirty="0"/>
              <a:t>Selection of optimal number of subtypes in Lisbon dataset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2DC8C7A9-38CB-4C52-BEB6-EDE781FCB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067" y="983661"/>
            <a:ext cx="3026664" cy="2020298"/>
          </a:xfrm>
          <a:prstGeom prst="rect">
            <a:avLst/>
          </a:prstGeom>
        </p:spPr>
      </p:pic>
      <p:pic>
        <p:nvPicPr>
          <p:cNvPr id="43" name="Immagine 42">
            <a:extLst>
              <a:ext uri="{FF2B5EF4-FFF2-40B4-BE49-F238E27FC236}">
                <a16:creationId xmlns:a16="http://schemas.microsoft.com/office/drawing/2014/main" id="{8065924F-2618-F01F-C855-A2C5101CD4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091" y="3846239"/>
            <a:ext cx="3026664" cy="2020298"/>
          </a:xfrm>
          <a:prstGeom prst="rect">
            <a:avLst/>
          </a:prstGeom>
        </p:spPr>
      </p:pic>
      <p:grpSp>
        <p:nvGrpSpPr>
          <p:cNvPr id="89" name="Group 88">
            <a:extLst>
              <a:ext uri="{FF2B5EF4-FFF2-40B4-BE49-F238E27FC236}">
                <a16:creationId xmlns:a16="http://schemas.microsoft.com/office/drawing/2014/main" id="{665B630C-8A26-BF40-AD00-AAAB3F8DF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90" name="Freeform 85">
              <a:extLst>
                <a:ext uri="{FF2B5EF4-FFF2-40B4-BE49-F238E27FC236}">
                  <a16:creationId xmlns:a16="http://schemas.microsoft.com/office/drawing/2014/main" id="{47332152-49D9-5F42-9522-9424EDC70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1" name="Freeform 87">
              <a:extLst>
                <a:ext uri="{FF2B5EF4-FFF2-40B4-BE49-F238E27FC236}">
                  <a16:creationId xmlns:a16="http://schemas.microsoft.com/office/drawing/2014/main" id="{60C97C94-6942-C048-8F6F-55E05CBA1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" name="Freeform 89">
              <a:extLst>
                <a:ext uri="{FF2B5EF4-FFF2-40B4-BE49-F238E27FC236}">
                  <a16:creationId xmlns:a16="http://schemas.microsoft.com/office/drawing/2014/main" id="{BD92967A-BFB2-E441-AC07-5997DDDD5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3" name="Freeform 100">
              <a:extLst>
                <a:ext uri="{FF2B5EF4-FFF2-40B4-BE49-F238E27FC236}">
                  <a16:creationId xmlns:a16="http://schemas.microsoft.com/office/drawing/2014/main" id="{DC25488D-5181-EC40-A6AC-862FC3787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4" name="Immagine 53">
            <a:extLst>
              <a:ext uri="{FF2B5EF4-FFF2-40B4-BE49-F238E27FC236}">
                <a16:creationId xmlns:a16="http://schemas.microsoft.com/office/drawing/2014/main" id="{EEFB8024-DE1E-6721-A0BB-C9A5941071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646" y="983661"/>
            <a:ext cx="3026664" cy="2020298"/>
          </a:xfrm>
          <a:prstGeom prst="rect">
            <a:avLst/>
          </a:prstGeom>
        </p:spPr>
      </p:pic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Immagine 50">
            <a:extLst>
              <a:ext uri="{FF2B5EF4-FFF2-40B4-BE49-F238E27FC236}">
                <a16:creationId xmlns:a16="http://schemas.microsoft.com/office/drawing/2014/main" id="{4449610C-FC3B-3ECD-2F49-64C5BBE104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872" y="3847650"/>
            <a:ext cx="3022438" cy="2017477"/>
          </a:xfrm>
          <a:prstGeom prst="rect">
            <a:avLst/>
          </a:prstGeom>
        </p:spPr>
      </p:pic>
      <p:pic>
        <p:nvPicPr>
          <p:cNvPr id="56" name="Immagine 55">
            <a:extLst>
              <a:ext uri="{FF2B5EF4-FFF2-40B4-BE49-F238E27FC236}">
                <a16:creationId xmlns:a16="http://schemas.microsoft.com/office/drawing/2014/main" id="{E7FAE643-B174-DBA2-3F19-9E05176AC9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955" y="3846239"/>
            <a:ext cx="3026665" cy="201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530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83063DD-2464-1F67-3A99-C1A24AF55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765768"/>
            <a:ext cx="6402597" cy="106324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Selection of optimal number of subtypes in Lisbon dataset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1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Immagine 4">
            <a:extLst>
              <a:ext uri="{FF2B5EF4-FFF2-40B4-BE49-F238E27FC236}">
                <a16:creationId xmlns:a16="http://schemas.microsoft.com/office/drawing/2014/main" id="{6FC35DE3-63B6-B08F-9A11-ED33B2750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89" y="2746243"/>
            <a:ext cx="10885620" cy="255812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1D4F49C-5EE1-6C4F-858E-AE02CC2C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892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6642454-4901-C128-6B3F-1B4DDFB13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34"/>
            <a:ext cx="4134537" cy="286640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 dirty="0"/>
              <a:t>Selection of optimal number of subtypes in Lisbon + Coimbra dataset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244A6CD-F922-3242-798C-973A50236F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067" y="983661"/>
            <a:ext cx="3026664" cy="202029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DF49ED90-FB39-84E6-9D13-7548A0449E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091" y="3846239"/>
            <a:ext cx="3026664" cy="2020298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665B630C-8A26-BF40-AD00-AAAB3F8DF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7" name="Freeform 85">
              <a:extLst>
                <a:ext uri="{FF2B5EF4-FFF2-40B4-BE49-F238E27FC236}">
                  <a16:creationId xmlns:a16="http://schemas.microsoft.com/office/drawing/2014/main" id="{47332152-49D9-5F42-9522-9424EDC70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87">
              <a:extLst>
                <a:ext uri="{FF2B5EF4-FFF2-40B4-BE49-F238E27FC236}">
                  <a16:creationId xmlns:a16="http://schemas.microsoft.com/office/drawing/2014/main" id="{60C97C94-6942-C048-8F6F-55E05CBA1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89">
              <a:extLst>
                <a:ext uri="{FF2B5EF4-FFF2-40B4-BE49-F238E27FC236}">
                  <a16:creationId xmlns:a16="http://schemas.microsoft.com/office/drawing/2014/main" id="{BD92967A-BFB2-E441-AC07-5997DDDD5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100">
              <a:extLst>
                <a:ext uri="{FF2B5EF4-FFF2-40B4-BE49-F238E27FC236}">
                  <a16:creationId xmlns:a16="http://schemas.microsoft.com/office/drawing/2014/main" id="{DC25488D-5181-EC40-A6AC-862FC3787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" name="Immagine 8">
            <a:extLst>
              <a:ext uri="{FF2B5EF4-FFF2-40B4-BE49-F238E27FC236}">
                <a16:creationId xmlns:a16="http://schemas.microsoft.com/office/drawing/2014/main" id="{A877A87E-9E30-883B-FC68-A6F4740945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646" y="983661"/>
            <a:ext cx="3026664" cy="2020298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E2C255B8-B85A-48C8-A6A5-76C1461C03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872" y="3847650"/>
            <a:ext cx="3022438" cy="2017477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A52BD3E7-2BA2-C86C-6B89-37E466178F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956" y="3844830"/>
            <a:ext cx="3026664" cy="202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178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roup 502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504" name="Oval 503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5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6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7" name="Oval 506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8" name="Oval 507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9" name="Oval 508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0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1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4" name="Oval 513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5" name="Oval 514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6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7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0" name="Oval 519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1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2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3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4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5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6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7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529" name="Straight Connector 528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31" name="Rectangle 530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F465AFF-8348-145C-D898-1955C5C6D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765768"/>
            <a:ext cx="6402597" cy="106324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/>
              <a:t>Selection of optimal number of subtypes in Lisbon + Coimbra dataset</a:t>
            </a:r>
          </a:p>
        </p:txBody>
      </p:sp>
      <p:grpSp>
        <p:nvGrpSpPr>
          <p:cNvPr id="533" name="Group 532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534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5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6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7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89" name="Immagine 488">
            <a:extLst>
              <a:ext uri="{FF2B5EF4-FFF2-40B4-BE49-F238E27FC236}">
                <a16:creationId xmlns:a16="http://schemas.microsoft.com/office/drawing/2014/main" id="{C32C028C-3121-9DC7-57D1-D01FC8540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89" y="2732636"/>
            <a:ext cx="10885620" cy="2585333"/>
          </a:xfrm>
          <a:prstGeom prst="rect">
            <a:avLst/>
          </a:prstGeom>
        </p:spPr>
      </p:pic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51D4F49C-5EE1-6C4F-858E-AE02CC2C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306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65FE0DD-62D9-12C1-4E5B-758B4DBCC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4541445" cy="158744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400"/>
              <a:t>Final NMF Model and Subtype Visualization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288C052-4B88-3AD7-4BBC-9B92586FA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5706" y="817197"/>
            <a:ext cx="5457725" cy="154114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300"/>
              <a:t>NMF trained using the selected number of components (k) </a:t>
            </a:r>
          </a:p>
          <a:p>
            <a:pPr>
              <a:lnSpc>
                <a:spcPct val="90000"/>
              </a:lnSpc>
            </a:pPr>
            <a:r>
              <a:rPr lang="en-GB" sz="1300"/>
              <a:t>Deterministic initialization (</a:t>
            </a:r>
            <a:r>
              <a:rPr lang="en-GB" sz="1300" b="1"/>
              <a:t>NNDSVD</a:t>
            </a:r>
            <a:r>
              <a:rPr lang="en-GB" sz="1300"/>
              <a:t>) for improved stability and reproducibility </a:t>
            </a:r>
          </a:p>
          <a:p>
            <a:pPr>
              <a:lnSpc>
                <a:spcPct val="90000"/>
              </a:lnSpc>
            </a:pPr>
            <a:r>
              <a:rPr lang="en-GB" sz="1300"/>
              <a:t>Top 30 proteins extracted per component (from H matrix) </a:t>
            </a:r>
          </a:p>
          <a:p>
            <a:pPr>
              <a:lnSpc>
                <a:spcPct val="90000"/>
              </a:lnSpc>
            </a:pPr>
            <a:r>
              <a:rPr lang="en-GB" sz="1300"/>
              <a:t>Patients assigned to subtypes based on W 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AE0E244-C977-8424-B8F3-70F1F5060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59" y="2840713"/>
            <a:ext cx="3474720" cy="289270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10022790-5DDC-30BC-548D-6A3018B12A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071" y="2845056"/>
            <a:ext cx="3474720" cy="288401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E8E7ABE-6DA2-7C84-D387-F2198775A9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384" y="2845056"/>
            <a:ext cx="3474720" cy="288401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5ADD15B-C747-D340-BF8A-A1DD2A6A9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7" name="Freeform 53">
              <a:extLst>
                <a:ext uri="{FF2B5EF4-FFF2-40B4-BE49-F238E27FC236}">
                  <a16:creationId xmlns:a16="http://schemas.microsoft.com/office/drawing/2014/main" id="{0B0B662E-0152-FD4E-B468-3F3593C15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55">
              <a:extLst>
                <a:ext uri="{FF2B5EF4-FFF2-40B4-BE49-F238E27FC236}">
                  <a16:creationId xmlns:a16="http://schemas.microsoft.com/office/drawing/2014/main" id="{81BFFC99-6B9D-F240-BD39-160F4C573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57">
              <a:extLst>
                <a:ext uri="{FF2B5EF4-FFF2-40B4-BE49-F238E27FC236}">
                  <a16:creationId xmlns:a16="http://schemas.microsoft.com/office/drawing/2014/main" id="{4DC6AEB9-EEFF-D243-AEE2-42D0F9E53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58">
              <a:extLst>
                <a:ext uri="{FF2B5EF4-FFF2-40B4-BE49-F238E27FC236}">
                  <a16:creationId xmlns:a16="http://schemas.microsoft.com/office/drawing/2014/main" id="{D89DA958-651D-0049-A549-A9D22E494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FE039F1-6D47-C642-B506-452A83B0A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482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7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2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8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3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4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5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6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7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8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2" name="Rectangle 121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BA42DA2-5B27-F4C4-490C-066F1D9F3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765768"/>
            <a:ext cx="6402597" cy="106324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Latent Space Colored by Dataset and follow-up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5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6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7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8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1" name="Immagine 10">
            <a:extLst>
              <a:ext uri="{FF2B5EF4-FFF2-40B4-BE49-F238E27FC236}">
                <a16:creationId xmlns:a16="http://schemas.microsoft.com/office/drawing/2014/main" id="{C44735D3-6088-0927-8C74-FA85AA252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59" y="2539860"/>
            <a:ext cx="3474720" cy="297088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58ADED0E-FD27-4C5C-76B8-18CC26E82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071" y="2561577"/>
            <a:ext cx="3474720" cy="292745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2E20982-0B8F-C71A-9203-B142067FAC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384" y="2583294"/>
            <a:ext cx="3474720" cy="2884018"/>
          </a:xfrm>
          <a:prstGeom prst="rect">
            <a:avLst/>
          </a:prstGeom>
        </p:spPr>
      </p:pic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51D4F49C-5EE1-6C4F-858E-AE02CC2C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Immagine 38">
            <a:extLst>
              <a:ext uri="{FF2B5EF4-FFF2-40B4-BE49-F238E27FC236}">
                <a16:creationId xmlns:a16="http://schemas.microsoft.com/office/drawing/2014/main" id="{47B81CFD-93F6-39A3-FDEB-B46AA97FC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0453" y="920118"/>
            <a:ext cx="5596328" cy="487071"/>
          </a:xfrm>
          <a:prstGeom prst="rect">
            <a:avLst/>
          </a:prstGeom>
        </p:spPr>
      </p:pic>
      <p:pic>
        <p:nvPicPr>
          <p:cNvPr id="50" name="Immagine 49">
            <a:extLst>
              <a:ext uri="{FF2B5EF4-FFF2-40B4-BE49-F238E27FC236}">
                <a16:creationId xmlns:a16="http://schemas.microsoft.com/office/drawing/2014/main" id="{3E9686DF-3B96-2ABB-2E43-9FA9325546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489" y="1403616"/>
            <a:ext cx="5480255" cy="28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382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2632CD6-65F9-1C9B-1AC5-A74F5B79F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4818126"/>
            <a:ext cx="6402597" cy="106324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Further analysis on follow-up conditions in Lisbon+Coimbra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A637262-7483-9F43-A425-2A50FAE31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B96028-BC88-E342-92F9-207761463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71EE19B0-00F6-2032-9C77-9C552D3F6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053607"/>
              </p:ext>
            </p:extLst>
          </p:nvPr>
        </p:nvGraphicFramePr>
        <p:xfrm>
          <a:off x="651489" y="1076268"/>
          <a:ext cx="10885624" cy="269224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402209">
                  <a:extLst>
                    <a:ext uri="{9D8B030D-6E8A-4147-A177-3AD203B41FA5}">
                      <a16:colId xmlns:a16="http://schemas.microsoft.com/office/drawing/2014/main" val="1234908875"/>
                    </a:ext>
                  </a:extLst>
                </a:gridCol>
                <a:gridCol w="1499497">
                  <a:extLst>
                    <a:ext uri="{9D8B030D-6E8A-4147-A177-3AD203B41FA5}">
                      <a16:colId xmlns:a16="http://schemas.microsoft.com/office/drawing/2014/main" val="769296013"/>
                    </a:ext>
                  </a:extLst>
                </a:gridCol>
                <a:gridCol w="1782899">
                  <a:extLst>
                    <a:ext uri="{9D8B030D-6E8A-4147-A177-3AD203B41FA5}">
                      <a16:colId xmlns:a16="http://schemas.microsoft.com/office/drawing/2014/main" val="54868388"/>
                    </a:ext>
                  </a:extLst>
                </a:gridCol>
                <a:gridCol w="1581979">
                  <a:extLst>
                    <a:ext uri="{9D8B030D-6E8A-4147-A177-3AD203B41FA5}">
                      <a16:colId xmlns:a16="http://schemas.microsoft.com/office/drawing/2014/main" val="4090503606"/>
                    </a:ext>
                  </a:extLst>
                </a:gridCol>
                <a:gridCol w="1154760">
                  <a:extLst>
                    <a:ext uri="{9D8B030D-6E8A-4147-A177-3AD203B41FA5}">
                      <a16:colId xmlns:a16="http://schemas.microsoft.com/office/drawing/2014/main" val="3843178890"/>
                    </a:ext>
                  </a:extLst>
                </a:gridCol>
                <a:gridCol w="1154760">
                  <a:extLst>
                    <a:ext uri="{9D8B030D-6E8A-4147-A177-3AD203B41FA5}">
                      <a16:colId xmlns:a16="http://schemas.microsoft.com/office/drawing/2014/main" val="3260085712"/>
                    </a:ext>
                  </a:extLst>
                </a:gridCol>
                <a:gridCol w="1154760">
                  <a:extLst>
                    <a:ext uri="{9D8B030D-6E8A-4147-A177-3AD203B41FA5}">
                      <a16:colId xmlns:a16="http://schemas.microsoft.com/office/drawing/2014/main" val="2199473813"/>
                    </a:ext>
                  </a:extLst>
                </a:gridCol>
                <a:gridCol w="1154760">
                  <a:extLst>
                    <a:ext uri="{9D8B030D-6E8A-4147-A177-3AD203B41FA5}">
                      <a16:colId xmlns:a16="http://schemas.microsoft.com/office/drawing/2014/main" val="1421092673"/>
                    </a:ext>
                  </a:extLst>
                </a:gridCol>
              </a:tblGrid>
              <a:tr h="901474">
                <a:tc>
                  <a:txBody>
                    <a:bodyPr/>
                    <a:lstStyle/>
                    <a:p>
                      <a:r>
                        <a:rPr lang="it-IT" sz="2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Cluster</a:t>
                      </a:r>
                      <a:endParaRPr lang="en-GB" sz="20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2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N-</a:t>
                      </a:r>
                      <a:r>
                        <a:rPr lang="it-IT" sz="20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patients</a:t>
                      </a:r>
                      <a:endParaRPr lang="en-GB" sz="20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2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%Coimbra</a:t>
                      </a:r>
                      <a:endParaRPr lang="en-GB" sz="20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2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%</a:t>
                      </a:r>
                      <a:r>
                        <a:rPr lang="it-IT" sz="20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Lisbon</a:t>
                      </a:r>
                      <a:endParaRPr lang="en-GB" sz="20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% FU=2</a:t>
                      </a:r>
                      <a:endParaRPr lang="en-GB" sz="1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2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% FU=3</a:t>
                      </a:r>
                      <a:endParaRPr lang="en-GB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2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% FU=4</a:t>
                      </a:r>
                      <a:endParaRPr lang="en-GB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2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% FU=5</a:t>
                      </a:r>
                      <a:endParaRPr lang="en-GB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163155"/>
                  </a:ext>
                </a:extLst>
              </a:tr>
              <a:tr h="596922">
                <a:tc>
                  <a:txBody>
                    <a:bodyPr/>
                    <a:lstStyle/>
                    <a:p>
                      <a:r>
                        <a:rPr lang="it-IT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  <a:endParaRPr lang="en-GB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None/>
                      </a:pPr>
                      <a:r>
                        <a:rPr lang="it-IT" sz="20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enlo"/>
                        </a:rPr>
                        <a:t>26</a:t>
                      </a:r>
                      <a:endParaRPr lang="en-GB" sz="20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enlo"/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None/>
                      </a:pPr>
                      <a:r>
                        <a:rPr lang="it-IT" sz="20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enlo"/>
                        </a:rPr>
                        <a:t>0</a:t>
                      </a:r>
                      <a:endParaRPr lang="en-GB" sz="20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enlo"/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None/>
                      </a:pPr>
                      <a:r>
                        <a:rPr lang="it-IT" sz="20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enlo"/>
                        </a:rPr>
                        <a:t>100</a:t>
                      </a:r>
                      <a:endParaRPr lang="en-GB" sz="20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enlo"/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None/>
                      </a:pPr>
                      <a:r>
                        <a:rPr lang="it-IT" sz="20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enlo"/>
                        </a:rPr>
                        <a:t>35</a:t>
                      </a:r>
                      <a:endParaRPr lang="en-GB" sz="20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enlo"/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None/>
                      </a:pPr>
                      <a:r>
                        <a:rPr lang="it-IT" sz="20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enlo"/>
                        </a:rPr>
                        <a:t>15</a:t>
                      </a:r>
                      <a:endParaRPr lang="en-GB" sz="20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enlo"/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None/>
                      </a:pPr>
                      <a:r>
                        <a:rPr lang="it-IT" sz="20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enlo"/>
                        </a:rPr>
                        <a:t>15</a:t>
                      </a:r>
                      <a:endParaRPr lang="en-GB" sz="20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enlo"/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None/>
                      </a:pPr>
                      <a:r>
                        <a:rPr lang="it-IT" sz="20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enlo"/>
                        </a:rPr>
                        <a:t>35</a:t>
                      </a:r>
                      <a:endParaRPr lang="en-GB" sz="20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enlo"/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38384"/>
                  </a:ext>
                </a:extLst>
              </a:tr>
              <a:tr h="596922">
                <a:tc>
                  <a:txBody>
                    <a:bodyPr/>
                    <a:lstStyle/>
                    <a:p>
                      <a:r>
                        <a:rPr lang="it-IT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</a:t>
                      </a:r>
                      <a:endParaRPr lang="en-GB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12</a:t>
                      </a:r>
                      <a:endParaRPr lang="en-GB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75</a:t>
                      </a:r>
                      <a:endParaRPr lang="en-GB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25</a:t>
                      </a:r>
                      <a:endParaRPr lang="en-GB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60</a:t>
                      </a:r>
                      <a:endParaRPr lang="en-GB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</a:t>
                      </a:r>
                      <a:endParaRPr lang="en-GB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</a:t>
                      </a:r>
                      <a:endParaRPr lang="en-GB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</a:t>
                      </a:r>
                      <a:endParaRPr lang="en-GB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090570"/>
                  </a:ext>
                </a:extLst>
              </a:tr>
              <a:tr h="596922">
                <a:tc>
                  <a:txBody>
                    <a:bodyPr/>
                    <a:lstStyle/>
                    <a:p>
                      <a:r>
                        <a:rPr lang="it-IT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</a:t>
                      </a:r>
                      <a:endParaRPr lang="en-GB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29</a:t>
                      </a:r>
                      <a:endParaRPr lang="en-GB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44.8</a:t>
                      </a:r>
                      <a:endParaRPr lang="en-GB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55.2</a:t>
                      </a:r>
                      <a:endParaRPr lang="en-GB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52</a:t>
                      </a:r>
                      <a:endParaRPr lang="en-GB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24</a:t>
                      </a:r>
                      <a:endParaRPr lang="en-GB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12</a:t>
                      </a:r>
                      <a:endParaRPr lang="en-GB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12</a:t>
                      </a:r>
                      <a:endParaRPr lang="en-GB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43642" marR="121821" marT="121821" marB="12182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082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9807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B7ADFC-A45E-AAE8-93DC-7A32A3275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765768"/>
            <a:ext cx="6402597" cy="106324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Pathway Enrichment Across NMF Subtypes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3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Immagine 4">
            <a:extLst>
              <a:ext uri="{FF2B5EF4-FFF2-40B4-BE49-F238E27FC236}">
                <a16:creationId xmlns:a16="http://schemas.microsoft.com/office/drawing/2014/main" id="{FFCEC293-9131-AD9C-480E-36E1CE0BA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670" y="673651"/>
            <a:ext cx="3718765" cy="530538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1B2D2CF-942F-B258-707C-7473E99E5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157" y="1734932"/>
            <a:ext cx="3718764" cy="4244100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1D4F49C-5EE1-6C4F-858E-AE02CC2C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534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roup 175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4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0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5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6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7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8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9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0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4" name="Rectangle 203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2DCF091-2947-19EF-1DA3-08F96AEEB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765768"/>
            <a:ext cx="6402597" cy="106324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Biological Signatures of Identified Subtypes Coimbra</a:t>
            </a: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207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8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9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0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9" name="Segnaposto contenuto 10">
            <a:extLst>
              <a:ext uri="{FF2B5EF4-FFF2-40B4-BE49-F238E27FC236}">
                <a16:creationId xmlns:a16="http://schemas.microsoft.com/office/drawing/2014/main" id="{0D2285D0-4790-B313-8E9E-86878BCE0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758" y="2169236"/>
            <a:ext cx="7983082" cy="3712134"/>
          </a:xfrm>
          <a:prstGeom prst="rect">
            <a:avLst/>
          </a:prstGeom>
        </p:spPr>
      </p:pic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51D4F49C-5EE1-6C4F-858E-AE02CC2C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646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7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2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8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3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4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5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6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7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8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2" name="Rectangle 121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F7A3FD9-DC3F-ECFC-02C3-23ED103A1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765768"/>
            <a:ext cx="6402597" cy="106324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Biological Signatures of Identified Subtypes Lisbon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5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6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7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8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39" name="Segnaposto contenuto 38">
            <a:extLst>
              <a:ext uri="{FF2B5EF4-FFF2-40B4-BE49-F238E27FC236}">
                <a16:creationId xmlns:a16="http://schemas.microsoft.com/office/drawing/2014/main" id="{C90618A8-6A65-BD6E-13EE-7696C7176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758" y="2169236"/>
            <a:ext cx="7983082" cy="3712134"/>
          </a:xfrm>
          <a:prstGeom prst="rect">
            <a:avLst/>
          </a:prstGeom>
        </p:spPr>
      </p:pic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51D4F49C-5EE1-6C4F-858E-AE02CC2C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025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9FA2D6E-3462-0483-606C-8FD6FD1E7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765768"/>
            <a:ext cx="6402597" cy="106324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Differential Protein Expression Across Subtypes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7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1" name="Immagine 10">
            <a:extLst>
              <a:ext uri="{FF2B5EF4-FFF2-40B4-BE49-F238E27FC236}">
                <a16:creationId xmlns:a16="http://schemas.microsoft.com/office/drawing/2014/main" id="{C0533896-624A-3300-85DE-8FD283369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759" y="2168907"/>
            <a:ext cx="2230092" cy="371682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0EE4F90-4AA4-4EF1-5927-CA20B68B4F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0308" y="2168907"/>
            <a:ext cx="2222760" cy="3704602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1D4F49C-5EE1-6C4F-858E-AE02CC2C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7D30B1D-99D8-5B33-FF44-3D38B7723FD1}"/>
              </a:ext>
            </a:extLst>
          </p:cNvPr>
          <p:cNvSpPr txBox="1"/>
          <p:nvPr/>
        </p:nvSpPr>
        <p:spPr>
          <a:xfrm>
            <a:off x="7678994" y="353961"/>
            <a:ext cx="326430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300" dirty="0"/>
              <a:t>Top discriminative proteins per subtype are shown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300" dirty="0"/>
              <a:t>Values represent standardized expression (z-score)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300" dirty="0"/>
              <a:t>Distinct protein patterns characterize each subtype</a:t>
            </a:r>
          </a:p>
        </p:txBody>
      </p:sp>
    </p:spTree>
    <p:extLst>
      <p:ext uri="{BB962C8B-B14F-4D97-AF65-F5344CB8AC3E}">
        <p14:creationId xmlns:p14="http://schemas.microsoft.com/office/powerpoint/2010/main" val="1492189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6C321DA-1EDE-3E4B-8B73-6477B2C6D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C13524B-3A91-1E40-840D-09EDE65E0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 85">
              <a:extLst>
                <a:ext uri="{FF2B5EF4-FFF2-40B4-BE49-F238E27FC236}">
                  <a16:creationId xmlns:a16="http://schemas.microsoft.com/office/drawing/2014/main" id="{E03B804C-EF61-0141-A6AB-D81EDA5AC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 86">
              <a:extLst>
                <a:ext uri="{FF2B5EF4-FFF2-40B4-BE49-F238E27FC236}">
                  <a16:creationId xmlns:a16="http://schemas.microsoft.com/office/drawing/2014/main" id="{CAB80ED1-EE7D-3843-9750-C6C8C5F8E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87">
              <a:extLst>
                <a:ext uri="{FF2B5EF4-FFF2-40B4-BE49-F238E27FC236}">
                  <a16:creationId xmlns:a16="http://schemas.microsoft.com/office/drawing/2014/main" id="{8BCD1EDB-B320-594D-86D1-7A73424B2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 88">
              <a:extLst>
                <a:ext uri="{FF2B5EF4-FFF2-40B4-BE49-F238E27FC236}">
                  <a16:creationId xmlns:a16="http://schemas.microsoft.com/office/drawing/2014/main" id="{A6B97414-A09F-8647-823F-295A0FEF5D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89">
              <a:extLst>
                <a:ext uri="{FF2B5EF4-FFF2-40B4-BE49-F238E27FC236}">
                  <a16:creationId xmlns:a16="http://schemas.microsoft.com/office/drawing/2014/main" id="{BA92AD33-EF27-124E-AF6E-9BA5401EC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98">
              <a:extLst>
                <a:ext uri="{FF2B5EF4-FFF2-40B4-BE49-F238E27FC236}">
                  <a16:creationId xmlns:a16="http://schemas.microsoft.com/office/drawing/2014/main" id="{24B8C792-BD2C-6D48-93EE-D615EF38F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8B69867F-7D2F-3F33-E910-4C7BB66A8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6648" y="768334"/>
            <a:ext cx="4025901" cy="286640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/>
              <a:t>Cross-Dataset Subtype Similarity (Jaccard Index)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DB35827-CA9F-9AF9-4500-CF93ECCB3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89" y="1364291"/>
            <a:ext cx="6150394" cy="4120767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86649" y="6087110"/>
            <a:ext cx="413453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8FE3D4D-B6CF-346E-0EB8-02A10067024E}"/>
              </a:ext>
            </a:extLst>
          </p:cNvPr>
          <p:cNvSpPr txBox="1"/>
          <p:nvPr/>
        </p:nvSpPr>
        <p:spPr>
          <a:xfrm>
            <a:off x="7564253" y="3305925"/>
            <a:ext cx="40569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Similarity between Coimbra and Lisbon subtypes was quantified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Jaccard index measures overlap in biological categories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High similarity supports reproducibility of subtypes</a:t>
            </a:r>
          </a:p>
        </p:txBody>
      </p:sp>
    </p:spTree>
    <p:extLst>
      <p:ext uri="{BB962C8B-B14F-4D97-AF65-F5344CB8AC3E}">
        <p14:creationId xmlns:p14="http://schemas.microsoft.com/office/powerpoint/2010/main" val="3120931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3D782E9-4CCE-077E-EBBD-3328D61F0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2485898"/>
            <a:ext cx="3608387" cy="339547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Cross-Validation of Cluster Biomarkers: NMF vs. Random Forest</a:t>
            </a:r>
          </a:p>
        </p:txBody>
      </p:sp>
      <p:grpSp>
        <p:nvGrpSpPr>
          <p:cNvPr id="19" name="Group 11">
            <a:extLst>
              <a:ext uri="{FF2B5EF4-FFF2-40B4-BE49-F238E27FC236}">
                <a16:creationId xmlns:a16="http://schemas.microsoft.com/office/drawing/2014/main" id="{05ADD15B-C747-D340-BF8A-A1DD2A6A9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3" name="Freeform 53">
              <a:extLst>
                <a:ext uri="{FF2B5EF4-FFF2-40B4-BE49-F238E27FC236}">
                  <a16:creationId xmlns:a16="http://schemas.microsoft.com/office/drawing/2014/main" id="{0B0B662E-0152-FD4E-B468-3F3593C15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55">
              <a:extLst>
                <a:ext uri="{FF2B5EF4-FFF2-40B4-BE49-F238E27FC236}">
                  <a16:creationId xmlns:a16="http://schemas.microsoft.com/office/drawing/2014/main" id="{81BFFC99-6B9D-F240-BD39-160F4C573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57">
              <a:extLst>
                <a:ext uri="{FF2B5EF4-FFF2-40B4-BE49-F238E27FC236}">
                  <a16:creationId xmlns:a16="http://schemas.microsoft.com/office/drawing/2014/main" id="{4DC6AEB9-EEFF-D243-AEE2-42D0F9E53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58">
              <a:extLst>
                <a:ext uri="{FF2B5EF4-FFF2-40B4-BE49-F238E27FC236}">
                  <a16:creationId xmlns:a16="http://schemas.microsoft.com/office/drawing/2014/main" id="{D89DA958-651D-0049-A549-A9D22E494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FE039F1-6D47-C642-B506-452A83B0A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asellaDiTesto 3">
            <a:extLst>
              <a:ext uri="{FF2B5EF4-FFF2-40B4-BE49-F238E27FC236}">
                <a16:creationId xmlns:a16="http://schemas.microsoft.com/office/drawing/2014/main" id="{CB1CB2BA-3643-6C52-7728-8C960AAEAE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6891654"/>
              </p:ext>
            </p:extLst>
          </p:nvPr>
        </p:nvGraphicFramePr>
        <p:xfrm>
          <a:off x="5224243" y="685667"/>
          <a:ext cx="6316267" cy="5077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2490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657FF65-8BE4-C3B6-7BE3-D2B23EFF8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765768"/>
            <a:ext cx="6402597" cy="106324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 dirty="0"/>
              <a:t>Consensus-Driven Biomarker Discovery: Overlap Analysis on Coimbra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82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Immagine 4">
            <a:extLst>
              <a:ext uri="{FF2B5EF4-FFF2-40B4-BE49-F238E27FC236}">
                <a16:creationId xmlns:a16="http://schemas.microsoft.com/office/drawing/2014/main" id="{7AE33261-D6A7-F34D-A899-27559594C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89" y="2215569"/>
            <a:ext cx="10885620" cy="3619467"/>
          </a:xfrm>
          <a:prstGeom prst="rect">
            <a:avLst/>
          </a:prstGeom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1D4F49C-5EE1-6C4F-858E-AE02CC2C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49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EAD1033-69EB-1374-7860-A4A42FA5B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765768"/>
            <a:ext cx="6402597" cy="106324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/>
              <a:t>Consensus-Driven Biomarker Discovery: Overlap Analysis on Lisbon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1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Immagine 4">
            <a:extLst>
              <a:ext uri="{FF2B5EF4-FFF2-40B4-BE49-F238E27FC236}">
                <a16:creationId xmlns:a16="http://schemas.microsoft.com/office/drawing/2014/main" id="{A96DE723-FFD4-1C19-210B-B13AE6986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2743457"/>
            <a:ext cx="11387207" cy="295280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1D4F49C-5EE1-6C4F-858E-AE02CC2C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939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F2AA697-68FC-E315-2D31-53796AE4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765768"/>
            <a:ext cx="6402597" cy="106324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Quantitative Validation: Jaccard Similarity Analysis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3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Immagine 4">
            <a:extLst>
              <a:ext uri="{FF2B5EF4-FFF2-40B4-BE49-F238E27FC236}">
                <a16:creationId xmlns:a16="http://schemas.microsoft.com/office/drawing/2014/main" id="{6A3BE241-6273-93BC-0661-EEBCF8713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89" y="2362745"/>
            <a:ext cx="5326632" cy="332914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67C1F68E-DC13-FA95-0A8E-2E387D2879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759" y="2355627"/>
            <a:ext cx="5329858" cy="3331162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1D4F49C-5EE1-6C4F-858E-AE02CC2C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AC38D12-9877-F20F-574A-8D1E41FC5CCC}"/>
              </a:ext>
            </a:extLst>
          </p:cNvPr>
          <p:cNvSpPr txBox="1"/>
          <p:nvPr/>
        </p:nvSpPr>
        <p:spPr>
          <a:xfrm>
            <a:off x="7150308" y="329784"/>
            <a:ext cx="39873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Measuring Consistency</a:t>
            </a:r>
            <a:r>
              <a:rPr lang="en-GB" sz="1400" dirty="0"/>
              <a:t>: The Jaccard Index evaluates the intersection over the union of features selected by NMF and Random Forest.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Statistical Significance</a:t>
            </a:r>
            <a:r>
              <a:rPr lang="en-GB" sz="1400" dirty="0"/>
              <a:t>: * The red dashed line represents a 20% threshold, often considered a strong consensus in high-dimensional proteomic data.</a:t>
            </a:r>
          </a:p>
        </p:txBody>
      </p:sp>
    </p:spTree>
    <p:extLst>
      <p:ext uri="{BB962C8B-B14F-4D97-AF65-F5344CB8AC3E}">
        <p14:creationId xmlns:p14="http://schemas.microsoft.com/office/powerpoint/2010/main" val="3378733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5C1B35D-67F9-A128-F346-E1DB9E6BA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34"/>
            <a:ext cx="7335835" cy="28664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7200" dirty="0"/>
              <a:t>OBRIGADO!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A7C2670-8081-9C42-82A1-23BBFAEAA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C054FC3-922A-EC40-AC25-A59AF5378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52B27A6-BDD2-B247-9494-C90C996DB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A368B3AC-A3AC-C949-864D-1C05AADBAD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2">
              <a:extLst>
                <a:ext uri="{FF2B5EF4-FFF2-40B4-BE49-F238E27FC236}">
                  <a16:creationId xmlns:a16="http://schemas.microsoft.com/office/drawing/2014/main" id="{EB848571-59FE-B34A-8561-FD4325EC1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F3C3152-8488-E444-BBA7-E9CD62AC1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36756F0-72A6-9F45-86A4-7D8C5E1ACD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E18A883-69CF-FB4D-A4F9-6835E196C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83415627-4FAA-3B4B-8A88-63E862A5F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7">
              <a:extLst>
                <a:ext uri="{FF2B5EF4-FFF2-40B4-BE49-F238E27FC236}">
                  <a16:creationId xmlns:a16="http://schemas.microsoft.com/office/drawing/2014/main" id="{BF96A3B0-DCC7-1647-8383-429159B1D9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392468EE-53D9-F243-B2B0-FA9D2A7429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6C6EB606-ED6D-3D47-B27D-C7736D781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50">
              <a:extLst>
                <a:ext uri="{FF2B5EF4-FFF2-40B4-BE49-F238E27FC236}">
                  <a16:creationId xmlns:a16="http://schemas.microsoft.com/office/drawing/2014/main" id="{1E551583-A0DA-C64D-8385-F579D091EA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51">
              <a:extLst>
                <a:ext uri="{FF2B5EF4-FFF2-40B4-BE49-F238E27FC236}">
                  <a16:creationId xmlns:a16="http://schemas.microsoft.com/office/drawing/2014/main" id="{3C9B75DD-4CC7-0143-9DF3-9249A306A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59CDD5E1-EB61-2847-B3B3-33771B104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6209911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7100</TotalTime>
  <Words>567</Words>
  <Application>Microsoft Office PowerPoint</Application>
  <PresentationFormat>Widescreen</PresentationFormat>
  <Paragraphs>84</Paragraphs>
  <Slides>24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28" baseType="lpstr">
      <vt:lpstr>Arial</vt:lpstr>
      <vt:lpstr>menlo</vt:lpstr>
      <vt:lpstr>Neue Haas Grotesk Text Pro</vt:lpstr>
      <vt:lpstr>PunchcardVTI</vt:lpstr>
      <vt:lpstr>Identification of Alzheimer’s Disease Subtypes using NMF </vt:lpstr>
      <vt:lpstr>From Full Cohort to AD Population</vt:lpstr>
      <vt:lpstr>Data Normalization Across Cohorts</vt:lpstr>
      <vt:lpstr>NMF-Based Subtype Identification</vt:lpstr>
      <vt:lpstr>Evaluation Metrics</vt:lpstr>
      <vt:lpstr>Selection of optimal number of subtypes in Coimbra dataset</vt:lpstr>
      <vt:lpstr>Selection of optimal number of subtypes in Coimbra dataset</vt:lpstr>
      <vt:lpstr>Selection of optimal number of subtypes in Lisbon dataset</vt:lpstr>
      <vt:lpstr>Selection of optimal number of subtypes in Lisbon dataset</vt:lpstr>
      <vt:lpstr>Selection of optimal number of subtypes in Lisbon + Coimbra dataset</vt:lpstr>
      <vt:lpstr>Selection of optimal number of subtypes in Lisbon + Coimbra dataset</vt:lpstr>
      <vt:lpstr>Final NMF Model and Subtype Visualization</vt:lpstr>
      <vt:lpstr>Latent Space Colored by Dataset and follow-up</vt:lpstr>
      <vt:lpstr>Further analysis on follow-up conditions in Lisbon+Coimbra</vt:lpstr>
      <vt:lpstr>Pathway Enrichment Across NMF Subtypes</vt:lpstr>
      <vt:lpstr>Biological Signatures of Identified Subtypes Coimbra</vt:lpstr>
      <vt:lpstr>Biological Signatures of Identified Subtypes Lisbon</vt:lpstr>
      <vt:lpstr>Differential Protein Expression Across Subtypes</vt:lpstr>
      <vt:lpstr>Cross-Dataset Subtype Similarity (Jaccard Index)</vt:lpstr>
      <vt:lpstr>Cross-Validation of Cluster Biomarkers: NMF vs. Random Forest</vt:lpstr>
      <vt:lpstr>Consensus-Driven Biomarker Discovery: Overlap Analysis on Coimbra</vt:lpstr>
      <vt:lpstr>Consensus-Driven Biomarker Discovery: Overlap Analysis on Lisbon</vt:lpstr>
      <vt:lpstr>Quantitative Validation: Jaccard Similarity Analysis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Valerio Piersanti - valerio.piersanti3@studio.unibo.it</dc:creator>
  <cp:lastModifiedBy>Valerio Piersanti - valerio.piersanti3@studio.unibo.it</cp:lastModifiedBy>
  <cp:revision>4</cp:revision>
  <dcterms:created xsi:type="dcterms:W3CDTF">2026-04-18T09:41:41Z</dcterms:created>
  <dcterms:modified xsi:type="dcterms:W3CDTF">2026-04-23T08:02:04Z</dcterms:modified>
</cp:coreProperties>
</file>