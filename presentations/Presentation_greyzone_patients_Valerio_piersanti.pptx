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  <p:sldId id="265" r:id="rId9"/>
    <p:sldId id="264" r:id="rId10"/>
    <p:sldId id="263" r:id="rId11"/>
    <p:sldId id="266" r:id="rId12"/>
    <p:sldId id="267" r:id="rId13"/>
    <p:sldId id="268" r:id="rId14"/>
    <p:sldId id="269" r:id="rId15"/>
    <p:sldId id="270" r:id="rId16"/>
    <p:sldId id="272" r:id="rId17"/>
    <p:sldId id="275" r:id="rId18"/>
    <p:sldId id="271" r:id="rId19"/>
    <p:sldId id="278" r:id="rId20"/>
    <p:sldId id="276" r:id="rId21"/>
    <p:sldId id="277" r:id="rId22"/>
    <p:sldId id="279" r:id="rId23"/>
    <p:sldId id="280" r:id="rId24"/>
    <p:sldId id="281" r:id="rId25"/>
    <p:sldId id="27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5CFCE"/>
    <a:srgbClr val="B7AEAE"/>
    <a:srgbClr val="FAE9E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AD1736-EECE-4B44-B732-DD7CC63B6AA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BDB7EFE-F4E3-431A-9280-2D634B6ADD5E}">
      <dgm:prSet/>
      <dgm:spPr/>
      <dgm:t>
        <a:bodyPr/>
        <a:lstStyle/>
        <a:p>
          <a:r>
            <a:rPr lang="en-GB" b="1" baseline="0"/>
            <a:t>Where do grey zone patients go across models?</a:t>
          </a:r>
          <a:r>
            <a:rPr lang="en-GB" b="0" baseline="0"/>
            <a:t> </a:t>
          </a:r>
          <a:endParaRPr lang="en-US"/>
        </a:p>
      </dgm:t>
    </dgm:pt>
    <dgm:pt modelId="{FDACCFD6-B6E6-4D9C-8983-37DB9D8E21CA}" type="parTrans" cxnId="{19F82955-8DEC-43B6-BD1C-B770FCA7B749}">
      <dgm:prSet/>
      <dgm:spPr/>
      <dgm:t>
        <a:bodyPr/>
        <a:lstStyle/>
        <a:p>
          <a:endParaRPr lang="en-US"/>
        </a:p>
      </dgm:t>
    </dgm:pt>
    <dgm:pt modelId="{CF4F994E-CA30-4EF6-B03B-96D4254E1625}" type="sibTrans" cxnId="{19F82955-8DEC-43B6-BD1C-B770FCA7B749}">
      <dgm:prSet/>
      <dgm:spPr/>
      <dgm:t>
        <a:bodyPr/>
        <a:lstStyle/>
        <a:p>
          <a:endParaRPr lang="en-US"/>
        </a:p>
      </dgm:t>
    </dgm:pt>
    <dgm:pt modelId="{66B70175-D63A-481E-9317-D2B95CDDDF45}">
      <dgm:prSet/>
      <dgm:spPr/>
      <dgm:t>
        <a:bodyPr/>
        <a:lstStyle/>
        <a:p>
          <a:r>
            <a:rPr lang="en-GB" b="1" baseline="0"/>
            <a:t>How are clusters composed in terms of grey zone vs non-grey zone patients?</a:t>
          </a:r>
          <a:r>
            <a:rPr lang="en-GB" b="0" baseline="0"/>
            <a:t> </a:t>
          </a:r>
          <a:endParaRPr lang="en-US"/>
        </a:p>
      </dgm:t>
    </dgm:pt>
    <dgm:pt modelId="{7EC83334-BDF1-469E-85F2-5D4D71988738}" type="parTrans" cxnId="{0EA1BDA9-8D29-4D8B-9695-2220A5940365}">
      <dgm:prSet/>
      <dgm:spPr/>
      <dgm:t>
        <a:bodyPr/>
        <a:lstStyle/>
        <a:p>
          <a:endParaRPr lang="en-US"/>
        </a:p>
      </dgm:t>
    </dgm:pt>
    <dgm:pt modelId="{D6C31283-C11E-4F00-AE39-FFBE58F8B61D}" type="sibTrans" cxnId="{0EA1BDA9-8D29-4D8B-9695-2220A5940365}">
      <dgm:prSet/>
      <dgm:spPr/>
      <dgm:t>
        <a:bodyPr/>
        <a:lstStyle/>
        <a:p>
          <a:endParaRPr lang="en-US"/>
        </a:p>
      </dgm:t>
    </dgm:pt>
    <dgm:pt modelId="{9A479C70-DCB1-48FD-B42C-86685F8FD276}">
      <dgm:prSet/>
      <dgm:spPr/>
      <dgm:t>
        <a:bodyPr/>
        <a:lstStyle/>
        <a:p>
          <a:r>
            <a:rPr lang="en-GB" b="1" baseline="0"/>
            <a:t>Are clusters driven by dataset origin (Coimbra and Lisbon) or by underlying biological structure?</a:t>
          </a:r>
          <a:r>
            <a:rPr lang="en-GB" b="0" baseline="0"/>
            <a:t> </a:t>
          </a:r>
          <a:endParaRPr lang="en-US"/>
        </a:p>
      </dgm:t>
    </dgm:pt>
    <dgm:pt modelId="{CABD8688-FCA9-4B31-A4DC-3C0DD69A9747}" type="parTrans" cxnId="{D5F5596F-2E9F-48D5-9F99-0BF11CEC98DB}">
      <dgm:prSet/>
      <dgm:spPr/>
      <dgm:t>
        <a:bodyPr/>
        <a:lstStyle/>
        <a:p>
          <a:endParaRPr lang="en-US"/>
        </a:p>
      </dgm:t>
    </dgm:pt>
    <dgm:pt modelId="{D81DDB67-118F-48C6-9B62-7DACC8E9F92B}" type="sibTrans" cxnId="{D5F5596F-2E9F-48D5-9F99-0BF11CEC98DB}">
      <dgm:prSet/>
      <dgm:spPr/>
      <dgm:t>
        <a:bodyPr/>
        <a:lstStyle/>
        <a:p>
          <a:endParaRPr lang="en-US"/>
        </a:p>
      </dgm:t>
    </dgm:pt>
    <dgm:pt modelId="{D2C885F5-39BA-409A-9400-0E778B30611A}">
      <dgm:prSet/>
      <dgm:spPr/>
      <dgm:t>
        <a:bodyPr/>
        <a:lstStyle/>
        <a:p>
          <a:r>
            <a:rPr lang="en-GB" b="1" baseline="0"/>
            <a:t>Do ambiguous patients with K = 2 form a distinct third cluster?</a:t>
          </a:r>
          <a:r>
            <a:rPr lang="en-GB" b="0" baseline="0"/>
            <a:t> </a:t>
          </a:r>
          <a:endParaRPr lang="en-US"/>
        </a:p>
      </dgm:t>
    </dgm:pt>
    <dgm:pt modelId="{E13BDF3C-A8B9-4695-8228-A2D4D44101B7}" type="parTrans" cxnId="{FCB0436C-0246-425C-8986-23A5B720F7F0}">
      <dgm:prSet/>
      <dgm:spPr/>
      <dgm:t>
        <a:bodyPr/>
        <a:lstStyle/>
        <a:p>
          <a:endParaRPr lang="en-US"/>
        </a:p>
      </dgm:t>
    </dgm:pt>
    <dgm:pt modelId="{AD352765-E12B-4C1D-A03F-B47526D894ED}" type="sibTrans" cxnId="{FCB0436C-0246-425C-8986-23A5B720F7F0}">
      <dgm:prSet/>
      <dgm:spPr/>
      <dgm:t>
        <a:bodyPr/>
        <a:lstStyle/>
        <a:p>
          <a:endParaRPr lang="en-US"/>
        </a:p>
      </dgm:t>
    </dgm:pt>
    <dgm:pt modelId="{5FEDFCE7-5ED4-4DD2-B40D-48099AD977C7}" type="pres">
      <dgm:prSet presAssocID="{A1AD1736-EECE-4B44-B732-DD7CC63B6AA4}" presName="linear" presStyleCnt="0">
        <dgm:presLayoutVars>
          <dgm:animLvl val="lvl"/>
          <dgm:resizeHandles val="exact"/>
        </dgm:presLayoutVars>
      </dgm:prSet>
      <dgm:spPr/>
    </dgm:pt>
    <dgm:pt modelId="{91FCA207-0F0B-4BCA-B8F3-1D11452B2FBB}" type="pres">
      <dgm:prSet presAssocID="{DBDB7EFE-F4E3-431A-9280-2D634B6ADD5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55AD5A2-1BC2-4D47-ADA5-5EFC600627F4}" type="pres">
      <dgm:prSet presAssocID="{CF4F994E-CA30-4EF6-B03B-96D4254E1625}" presName="spacer" presStyleCnt="0"/>
      <dgm:spPr/>
    </dgm:pt>
    <dgm:pt modelId="{3EB8C936-AE97-4E15-92BD-D48A9A3547AB}" type="pres">
      <dgm:prSet presAssocID="{66B70175-D63A-481E-9317-D2B95CDDDF4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07FB179-7C21-4E17-9A09-562BD01851D2}" type="pres">
      <dgm:prSet presAssocID="{D6C31283-C11E-4F00-AE39-FFBE58F8B61D}" presName="spacer" presStyleCnt="0"/>
      <dgm:spPr/>
    </dgm:pt>
    <dgm:pt modelId="{1CC63E1D-5837-4F2C-BEB3-63C41AF22984}" type="pres">
      <dgm:prSet presAssocID="{9A479C70-DCB1-48FD-B42C-86685F8FD27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6877F26-1ACA-4343-8952-30BEBC2FAC75}" type="pres">
      <dgm:prSet presAssocID="{D81DDB67-118F-48C6-9B62-7DACC8E9F92B}" presName="spacer" presStyleCnt="0"/>
      <dgm:spPr/>
    </dgm:pt>
    <dgm:pt modelId="{BDBAA1C5-E841-49BB-8FC3-55B97E208D9C}" type="pres">
      <dgm:prSet presAssocID="{D2C885F5-39BA-409A-9400-0E778B30611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4F67A2C-576C-41F5-910E-EFF2A33915F3}" type="presOf" srcId="{66B70175-D63A-481E-9317-D2B95CDDDF45}" destId="{3EB8C936-AE97-4E15-92BD-D48A9A3547AB}" srcOrd="0" destOrd="0" presId="urn:microsoft.com/office/officeart/2005/8/layout/vList2"/>
    <dgm:cxn modelId="{DD102862-DC78-4D67-B6D3-3DD615CDD12C}" type="presOf" srcId="{A1AD1736-EECE-4B44-B732-DD7CC63B6AA4}" destId="{5FEDFCE7-5ED4-4DD2-B40D-48099AD977C7}" srcOrd="0" destOrd="0" presId="urn:microsoft.com/office/officeart/2005/8/layout/vList2"/>
    <dgm:cxn modelId="{FCB0436C-0246-425C-8986-23A5B720F7F0}" srcId="{A1AD1736-EECE-4B44-B732-DD7CC63B6AA4}" destId="{D2C885F5-39BA-409A-9400-0E778B30611A}" srcOrd="3" destOrd="0" parTransId="{E13BDF3C-A8B9-4695-8228-A2D4D44101B7}" sibTransId="{AD352765-E12B-4C1D-A03F-B47526D894ED}"/>
    <dgm:cxn modelId="{D5F5596F-2E9F-48D5-9F99-0BF11CEC98DB}" srcId="{A1AD1736-EECE-4B44-B732-DD7CC63B6AA4}" destId="{9A479C70-DCB1-48FD-B42C-86685F8FD276}" srcOrd="2" destOrd="0" parTransId="{CABD8688-FCA9-4B31-A4DC-3C0DD69A9747}" sibTransId="{D81DDB67-118F-48C6-9B62-7DACC8E9F92B}"/>
    <dgm:cxn modelId="{0DC26973-FA14-4734-BBC9-4D2492C42AD6}" type="presOf" srcId="{D2C885F5-39BA-409A-9400-0E778B30611A}" destId="{BDBAA1C5-E841-49BB-8FC3-55B97E208D9C}" srcOrd="0" destOrd="0" presId="urn:microsoft.com/office/officeart/2005/8/layout/vList2"/>
    <dgm:cxn modelId="{19F82955-8DEC-43B6-BD1C-B770FCA7B749}" srcId="{A1AD1736-EECE-4B44-B732-DD7CC63B6AA4}" destId="{DBDB7EFE-F4E3-431A-9280-2D634B6ADD5E}" srcOrd="0" destOrd="0" parTransId="{FDACCFD6-B6E6-4D9C-8983-37DB9D8E21CA}" sibTransId="{CF4F994E-CA30-4EF6-B03B-96D4254E1625}"/>
    <dgm:cxn modelId="{A8B1CE92-B27E-4C8B-BD02-A61232D83ADC}" type="presOf" srcId="{9A479C70-DCB1-48FD-B42C-86685F8FD276}" destId="{1CC63E1D-5837-4F2C-BEB3-63C41AF22984}" srcOrd="0" destOrd="0" presId="urn:microsoft.com/office/officeart/2005/8/layout/vList2"/>
    <dgm:cxn modelId="{0EA1BDA9-8D29-4D8B-9695-2220A5940365}" srcId="{A1AD1736-EECE-4B44-B732-DD7CC63B6AA4}" destId="{66B70175-D63A-481E-9317-D2B95CDDDF45}" srcOrd="1" destOrd="0" parTransId="{7EC83334-BDF1-469E-85F2-5D4D71988738}" sibTransId="{D6C31283-C11E-4F00-AE39-FFBE58F8B61D}"/>
    <dgm:cxn modelId="{10295FB0-B80C-4C34-A87F-7CB0BD8849BA}" type="presOf" srcId="{DBDB7EFE-F4E3-431A-9280-2D634B6ADD5E}" destId="{91FCA207-0F0B-4BCA-B8F3-1D11452B2FBB}" srcOrd="0" destOrd="0" presId="urn:microsoft.com/office/officeart/2005/8/layout/vList2"/>
    <dgm:cxn modelId="{D0F6EA75-DD23-4559-B0CC-BBE625CC7FF7}" type="presParOf" srcId="{5FEDFCE7-5ED4-4DD2-B40D-48099AD977C7}" destId="{91FCA207-0F0B-4BCA-B8F3-1D11452B2FBB}" srcOrd="0" destOrd="0" presId="urn:microsoft.com/office/officeart/2005/8/layout/vList2"/>
    <dgm:cxn modelId="{29A4A9DD-CC67-42B7-B651-4450C964F955}" type="presParOf" srcId="{5FEDFCE7-5ED4-4DD2-B40D-48099AD977C7}" destId="{255AD5A2-1BC2-4D47-ADA5-5EFC600627F4}" srcOrd="1" destOrd="0" presId="urn:microsoft.com/office/officeart/2005/8/layout/vList2"/>
    <dgm:cxn modelId="{27F46BA5-C36A-4346-B171-E8B6FEE0CED6}" type="presParOf" srcId="{5FEDFCE7-5ED4-4DD2-B40D-48099AD977C7}" destId="{3EB8C936-AE97-4E15-92BD-D48A9A3547AB}" srcOrd="2" destOrd="0" presId="urn:microsoft.com/office/officeart/2005/8/layout/vList2"/>
    <dgm:cxn modelId="{141C7AE0-EDA2-4F35-8E21-9826AFEA4B40}" type="presParOf" srcId="{5FEDFCE7-5ED4-4DD2-B40D-48099AD977C7}" destId="{307FB179-7C21-4E17-9A09-562BD01851D2}" srcOrd="3" destOrd="0" presId="urn:microsoft.com/office/officeart/2005/8/layout/vList2"/>
    <dgm:cxn modelId="{1EE8E077-6980-4283-8D19-FA8028D0AFCF}" type="presParOf" srcId="{5FEDFCE7-5ED4-4DD2-B40D-48099AD977C7}" destId="{1CC63E1D-5837-4F2C-BEB3-63C41AF22984}" srcOrd="4" destOrd="0" presId="urn:microsoft.com/office/officeart/2005/8/layout/vList2"/>
    <dgm:cxn modelId="{26DFC646-2068-4A0A-8804-C3EF5059A620}" type="presParOf" srcId="{5FEDFCE7-5ED4-4DD2-B40D-48099AD977C7}" destId="{D6877F26-1ACA-4343-8952-30BEBC2FAC75}" srcOrd="5" destOrd="0" presId="urn:microsoft.com/office/officeart/2005/8/layout/vList2"/>
    <dgm:cxn modelId="{4F003A6F-3863-469D-8A4C-4C8E8DCB67B5}" type="presParOf" srcId="{5FEDFCE7-5ED4-4DD2-B40D-48099AD977C7}" destId="{BDBAA1C5-E841-49BB-8FC3-55B97E208D9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523901-1A75-4FD8-9DE9-E1E493C0AE5B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1679647-81BA-4401-AFA8-B498B4E10DA7}">
      <dgm:prSet/>
      <dgm:spPr/>
      <dgm:t>
        <a:bodyPr/>
        <a:lstStyle/>
        <a:p>
          <a:r>
            <a:rPr lang="en-GB" b="0" baseline="0"/>
            <a:t>K-means and Ward almost perfectly separate Lisbon and Coimbra patients </a:t>
          </a:r>
          <a:endParaRPr lang="en-US"/>
        </a:p>
      </dgm:t>
    </dgm:pt>
    <dgm:pt modelId="{D76C7772-66CA-4CFE-B60F-C2088B039A67}" type="parTrans" cxnId="{78CB7BF6-59DA-4DAE-A417-BB8C5DDB963A}">
      <dgm:prSet/>
      <dgm:spPr/>
      <dgm:t>
        <a:bodyPr/>
        <a:lstStyle/>
        <a:p>
          <a:endParaRPr lang="en-US"/>
        </a:p>
      </dgm:t>
    </dgm:pt>
    <dgm:pt modelId="{69E4BE32-4D5A-4563-AFF2-6C60AF227F3F}" type="sibTrans" cxnId="{78CB7BF6-59DA-4DAE-A417-BB8C5DDB963A}">
      <dgm:prSet/>
      <dgm:spPr/>
      <dgm:t>
        <a:bodyPr/>
        <a:lstStyle/>
        <a:p>
          <a:endParaRPr lang="en-US"/>
        </a:p>
      </dgm:t>
    </dgm:pt>
    <dgm:pt modelId="{28919B7E-5304-4794-87B5-273900FCE896}">
      <dgm:prSet/>
      <dgm:spPr/>
      <dgm:t>
        <a:bodyPr/>
        <a:lstStyle/>
        <a:p>
          <a:r>
            <a:rPr lang="en-GB" b="0" baseline="0"/>
            <a:t>NMF and spectral co-clustering show substantial dataset mixing </a:t>
          </a:r>
          <a:endParaRPr lang="en-US"/>
        </a:p>
      </dgm:t>
    </dgm:pt>
    <dgm:pt modelId="{D2F9A291-4051-46B6-8397-8057C5D175DC}" type="parTrans" cxnId="{CD203740-9E6F-4FE5-9526-3AE745A44D9A}">
      <dgm:prSet/>
      <dgm:spPr/>
      <dgm:t>
        <a:bodyPr/>
        <a:lstStyle/>
        <a:p>
          <a:endParaRPr lang="en-US"/>
        </a:p>
      </dgm:t>
    </dgm:pt>
    <dgm:pt modelId="{3B226948-2D56-421F-837F-55AB4E3F1A98}" type="sibTrans" cxnId="{CD203740-9E6F-4FE5-9526-3AE745A44D9A}">
      <dgm:prSet/>
      <dgm:spPr/>
      <dgm:t>
        <a:bodyPr/>
        <a:lstStyle/>
        <a:p>
          <a:endParaRPr lang="en-US"/>
        </a:p>
      </dgm:t>
    </dgm:pt>
    <dgm:pt modelId="{88469B2E-B5D5-4C76-B814-0A8ADEAF3CF5}">
      <dgm:prSet/>
      <dgm:spPr/>
      <dgm:t>
        <a:bodyPr/>
        <a:lstStyle/>
        <a:p>
          <a:r>
            <a:rPr lang="en-GB" b="0" baseline="0"/>
            <a:t>Perfect balance is not expected due to LC cohort imbalance</a:t>
          </a:r>
          <a:endParaRPr lang="en-US"/>
        </a:p>
      </dgm:t>
    </dgm:pt>
    <dgm:pt modelId="{3B07A460-692B-4A22-8CF0-553E7611E557}" type="parTrans" cxnId="{FA1DBBB0-3217-4AE3-B776-6D97196D3CD7}">
      <dgm:prSet/>
      <dgm:spPr/>
      <dgm:t>
        <a:bodyPr/>
        <a:lstStyle/>
        <a:p>
          <a:endParaRPr lang="en-US"/>
        </a:p>
      </dgm:t>
    </dgm:pt>
    <dgm:pt modelId="{4BF00726-3B3E-45C8-89A8-FE9D558177AD}" type="sibTrans" cxnId="{FA1DBBB0-3217-4AE3-B776-6D97196D3CD7}">
      <dgm:prSet/>
      <dgm:spPr/>
      <dgm:t>
        <a:bodyPr/>
        <a:lstStyle/>
        <a:p>
          <a:endParaRPr lang="en-US"/>
        </a:p>
      </dgm:t>
    </dgm:pt>
    <dgm:pt modelId="{1AA329D3-3D8A-430C-8B5D-9E724C054882}" type="pres">
      <dgm:prSet presAssocID="{24523901-1A75-4FD8-9DE9-E1E493C0AE5B}" presName="diagram" presStyleCnt="0">
        <dgm:presLayoutVars>
          <dgm:dir/>
          <dgm:resizeHandles val="exact"/>
        </dgm:presLayoutVars>
      </dgm:prSet>
      <dgm:spPr/>
    </dgm:pt>
    <dgm:pt modelId="{97C63B2D-A702-4A53-92FE-ECD437BB7704}" type="pres">
      <dgm:prSet presAssocID="{41679647-81BA-4401-AFA8-B498B4E10DA7}" presName="node" presStyleLbl="node1" presStyleIdx="0" presStyleCnt="3">
        <dgm:presLayoutVars>
          <dgm:bulletEnabled val="1"/>
        </dgm:presLayoutVars>
      </dgm:prSet>
      <dgm:spPr/>
    </dgm:pt>
    <dgm:pt modelId="{8D91F3FB-456F-4794-9FFA-73EA451F4960}" type="pres">
      <dgm:prSet presAssocID="{69E4BE32-4D5A-4563-AFF2-6C60AF227F3F}" presName="sibTrans" presStyleLbl="sibTrans2D1" presStyleIdx="0" presStyleCnt="2"/>
      <dgm:spPr/>
    </dgm:pt>
    <dgm:pt modelId="{8335341B-23C7-48A0-9C5E-2D65B7DCDB36}" type="pres">
      <dgm:prSet presAssocID="{69E4BE32-4D5A-4563-AFF2-6C60AF227F3F}" presName="connectorText" presStyleLbl="sibTrans2D1" presStyleIdx="0" presStyleCnt="2"/>
      <dgm:spPr/>
    </dgm:pt>
    <dgm:pt modelId="{62D44714-BB3D-4C0F-B5FB-01A1C2DA4BB8}" type="pres">
      <dgm:prSet presAssocID="{28919B7E-5304-4794-87B5-273900FCE896}" presName="node" presStyleLbl="node1" presStyleIdx="1" presStyleCnt="3">
        <dgm:presLayoutVars>
          <dgm:bulletEnabled val="1"/>
        </dgm:presLayoutVars>
      </dgm:prSet>
      <dgm:spPr/>
    </dgm:pt>
    <dgm:pt modelId="{FDBFC58B-0962-4CF8-AF32-33BE9AFCC63F}" type="pres">
      <dgm:prSet presAssocID="{3B226948-2D56-421F-837F-55AB4E3F1A98}" presName="sibTrans" presStyleLbl="sibTrans2D1" presStyleIdx="1" presStyleCnt="2"/>
      <dgm:spPr/>
    </dgm:pt>
    <dgm:pt modelId="{B0935248-567B-45E1-B5A1-9EE6C268C35C}" type="pres">
      <dgm:prSet presAssocID="{3B226948-2D56-421F-837F-55AB4E3F1A98}" presName="connectorText" presStyleLbl="sibTrans2D1" presStyleIdx="1" presStyleCnt="2"/>
      <dgm:spPr/>
    </dgm:pt>
    <dgm:pt modelId="{1C97FB80-93B4-4DEB-813C-1C627C6C9587}" type="pres">
      <dgm:prSet presAssocID="{88469B2E-B5D5-4C76-B814-0A8ADEAF3CF5}" presName="node" presStyleLbl="node1" presStyleIdx="2" presStyleCnt="3">
        <dgm:presLayoutVars>
          <dgm:bulletEnabled val="1"/>
        </dgm:presLayoutVars>
      </dgm:prSet>
      <dgm:spPr/>
    </dgm:pt>
  </dgm:ptLst>
  <dgm:cxnLst>
    <dgm:cxn modelId="{CD203740-9E6F-4FE5-9526-3AE745A44D9A}" srcId="{24523901-1A75-4FD8-9DE9-E1E493C0AE5B}" destId="{28919B7E-5304-4794-87B5-273900FCE896}" srcOrd="1" destOrd="0" parTransId="{D2F9A291-4051-46B6-8397-8057C5D175DC}" sibTransId="{3B226948-2D56-421F-837F-55AB4E3F1A98}"/>
    <dgm:cxn modelId="{424E7587-8509-42FE-8F46-5688C1EA4A9C}" type="presOf" srcId="{69E4BE32-4D5A-4563-AFF2-6C60AF227F3F}" destId="{8335341B-23C7-48A0-9C5E-2D65B7DCDB36}" srcOrd="1" destOrd="0" presId="urn:microsoft.com/office/officeart/2005/8/layout/process5"/>
    <dgm:cxn modelId="{29343688-2C9E-4199-858A-887A936E9CEC}" type="presOf" srcId="{41679647-81BA-4401-AFA8-B498B4E10DA7}" destId="{97C63B2D-A702-4A53-92FE-ECD437BB7704}" srcOrd="0" destOrd="0" presId="urn:microsoft.com/office/officeart/2005/8/layout/process5"/>
    <dgm:cxn modelId="{2EDF5B8D-1187-4557-AAFE-4CF321F0402D}" type="presOf" srcId="{24523901-1A75-4FD8-9DE9-E1E493C0AE5B}" destId="{1AA329D3-3D8A-430C-8B5D-9E724C054882}" srcOrd="0" destOrd="0" presId="urn:microsoft.com/office/officeart/2005/8/layout/process5"/>
    <dgm:cxn modelId="{46E89F99-725F-48C2-ABD6-0CA41C064966}" type="presOf" srcId="{3B226948-2D56-421F-837F-55AB4E3F1A98}" destId="{FDBFC58B-0962-4CF8-AF32-33BE9AFCC63F}" srcOrd="0" destOrd="0" presId="urn:microsoft.com/office/officeart/2005/8/layout/process5"/>
    <dgm:cxn modelId="{2282D6A7-ECFD-4DF6-9E4A-E800363EECD0}" type="presOf" srcId="{88469B2E-B5D5-4C76-B814-0A8ADEAF3CF5}" destId="{1C97FB80-93B4-4DEB-813C-1C627C6C9587}" srcOrd="0" destOrd="0" presId="urn:microsoft.com/office/officeart/2005/8/layout/process5"/>
    <dgm:cxn modelId="{314874AE-6289-43AC-A393-A517E9342ED5}" type="presOf" srcId="{69E4BE32-4D5A-4563-AFF2-6C60AF227F3F}" destId="{8D91F3FB-456F-4794-9FFA-73EA451F4960}" srcOrd="0" destOrd="0" presId="urn:microsoft.com/office/officeart/2005/8/layout/process5"/>
    <dgm:cxn modelId="{FA1DBBB0-3217-4AE3-B776-6D97196D3CD7}" srcId="{24523901-1A75-4FD8-9DE9-E1E493C0AE5B}" destId="{88469B2E-B5D5-4C76-B814-0A8ADEAF3CF5}" srcOrd="2" destOrd="0" parTransId="{3B07A460-692B-4A22-8CF0-553E7611E557}" sibTransId="{4BF00726-3B3E-45C8-89A8-FE9D558177AD}"/>
    <dgm:cxn modelId="{812B2AC4-9AF4-42CC-AE1D-DBD1D16A0A5B}" type="presOf" srcId="{3B226948-2D56-421F-837F-55AB4E3F1A98}" destId="{B0935248-567B-45E1-B5A1-9EE6C268C35C}" srcOrd="1" destOrd="0" presId="urn:microsoft.com/office/officeart/2005/8/layout/process5"/>
    <dgm:cxn modelId="{828DDDCD-D31A-41AF-9875-A35831B9B3A2}" type="presOf" srcId="{28919B7E-5304-4794-87B5-273900FCE896}" destId="{62D44714-BB3D-4C0F-B5FB-01A1C2DA4BB8}" srcOrd="0" destOrd="0" presId="urn:microsoft.com/office/officeart/2005/8/layout/process5"/>
    <dgm:cxn modelId="{78CB7BF6-59DA-4DAE-A417-BB8C5DDB963A}" srcId="{24523901-1A75-4FD8-9DE9-E1E493C0AE5B}" destId="{41679647-81BA-4401-AFA8-B498B4E10DA7}" srcOrd="0" destOrd="0" parTransId="{D76C7772-66CA-4CFE-B60F-C2088B039A67}" sibTransId="{69E4BE32-4D5A-4563-AFF2-6C60AF227F3F}"/>
    <dgm:cxn modelId="{0C08D7AF-A88F-4E06-ACF5-C529618794D6}" type="presParOf" srcId="{1AA329D3-3D8A-430C-8B5D-9E724C054882}" destId="{97C63B2D-A702-4A53-92FE-ECD437BB7704}" srcOrd="0" destOrd="0" presId="urn:microsoft.com/office/officeart/2005/8/layout/process5"/>
    <dgm:cxn modelId="{147B020D-1BBE-4D3B-90E2-AE3EDEA11E93}" type="presParOf" srcId="{1AA329D3-3D8A-430C-8B5D-9E724C054882}" destId="{8D91F3FB-456F-4794-9FFA-73EA451F4960}" srcOrd="1" destOrd="0" presId="urn:microsoft.com/office/officeart/2005/8/layout/process5"/>
    <dgm:cxn modelId="{E2257CE1-A862-4B1A-83D4-22C971DEBF51}" type="presParOf" srcId="{8D91F3FB-456F-4794-9FFA-73EA451F4960}" destId="{8335341B-23C7-48A0-9C5E-2D65B7DCDB36}" srcOrd="0" destOrd="0" presId="urn:microsoft.com/office/officeart/2005/8/layout/process5"/>
    <dgm:cxn modelId="{BD8737BE-D9F8-4265-AF76-61C1E5536FB4}" type="presParOf" srcId="{1AA329D3-3D8A-430C-8B5D-9E724C054882}" destId="{62D44714-BB3D-4C0F-B5FB-01A1C2DA4BB8}" srcOrd="2" destOrd="0" presId="urn:microsoft.com/office/officeart/2005/8/layout/process5"/>
    <dgm:cxn modelId="{B9930540-2068-4D24-A842-0ED098E1BDBB}" type="presParOf" srcId="{1AA329D3-3D8A-430C-8B5D-9E724C054882}" destId="{FDBFC58B-0962-4CF8-AF32-33BE9AFCC63F}" srcOrd="3" destOrd="0" presId="urn:microsoft.com/office/officeart/2005/8/layout/process5"/>
    <dgm:cxn modelId="{0F585389-00DC-4D63-BDB7-A778660F6E43}" type="presParOf" srcId="{FDBFC58B-0962-4CF8-AF32-33BE9AFCC63F}" destId="{B0935248-567B-45E1-B5A1-9EE6C268C35C}" srcOrd="0" destOrd="0" presId="urn:microsoft.com/office/officeart/2005/8/layout/process5"/>
    <dgm:cxn modelId="{0DC8242A-DC63-4996-A136-AF83B53EB38F}" type="presParOf" srcId="{1AA329D3-3D8A-430C-8B5D-9E724C054882}" destId="{1C97FB80-93B4-4DEB-813C-1C627C6C9587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E3D620-5DFF-401D-B848-070C93A405D6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E4AEF7C-096C-455A-95C8-0A2A653CB718}">
      <dgm:prSet/>
      <dgm:spPr/>
      <dgm:t>
        <a:bodyPr/>
        <a:lstStyle/>
        <a:p>
          <a:r>
            <a:rPr lang="en-GB" b="0" baseline="0"/>
            <a:t>Main observations </a:t>
          </a:r>
          <a:endParaRPr lang="en-US"/>
        </a:p>
      </dgm:t>
    </dgm:pt>
    <dgm:pt modelId="{DE82E48A-3F54-4103-99AD-9827A2104FBC}" type="parTrans" cxnId="{164BCDE4-542F-400E-B24D-20FFAD3A1952}">
      <dgm:prSet/>
      <dgm:spPr/>
      <dgm:t>
        <a:bodyPr/>
        <a:lstStyle/>
        <a:p>
          <a:endParaRPr lang="en-US"/>
        </a:p>
      </dgm:t>
    </dgm:pt>
    <dgm:pt modelId="{C5EAD005-ABBD-48D7-8333-A544CA1CAB3A}" type="sibTrans" cxnId="{164BCDE4-542F-400E-B24D-20FFAD3A1952}">
      <dgm:prSet/>
      <dgm:spPr/>
      <dgm:t>
        <a:bodyPr/>
        <a:lstStyle/>
        <a:p>
          <a:endParaRPr lang="en-US"/>
        </a:p>
      </dgm:t>
    </dgm:pt>
    <dgm:pt modelId="{410A1E8B-9D17-4CFE-8AE7-9A4219B5FE55}">
      <dgm:prSet/>
      <dgm:spPr/>
      <dgm:t>
        <a:bodyPr/>
        <a:lstStyle/>
        <a:p>
          <a:r>
            <a:rPr lang="en-GB" b="0" baseline="0"/>
            <a:t>Greyzone patients identified at k=2 largely remain grey at k=3 </a:t>
          </a:r>
          <a:endParaRPr lang="en-US"/>
        </a:p>
      </dgm:t>
    </dgm:pt>
    <dgm:pt modelId="{13B7150F-9835-4D39-A2B2-3BEC33FA7965}" type="parTrans" cxnId="{3971D3BF-1E7B-49C0-AD80-0404DAABE5A7}">
      <dgm:prSet/>
      <dgm:spPr/>
      <dgm:t>
        <a:bodyPr/>
        <a:lstStyle/>
        <a:p>
          <a:endParaRPr lang="en-US"/>
        </a:p>
      </dgm:t>
    </dgm:pt>
    <dgm:pt modelId="{A52C9007-8602-41F3-9945-0E0ABC056DAE}" type="sibTrans" cxnId="{3971D3BF-1E7B-49C0-AD80-0404DAABE5A7}">
      <dgm:prSet/>
      <dgm:spPr/>
      <dgm:t>
        <a:bodyPr/>
        <a:lstStyle/>
        <a:p>
          <a:endParaRPr lang="en-US"/>
        </a:p>
      </dgm:t>
    </dgm:pt>
    <dgm:pt modelId="{61E03AEE-324B-4A50-9C02-DBB143F40F78}">
      <dgm:prSet/>
      <dgm:spPr/>
      <dgm:t>
        <a:bodyPr/>
        <a:lstStyle/>
        <a:p>
          <a:r>
            <a:rPr lang="en-GB" b="0" baseline="0"/>
            <a:t>Increasing cluster resolution does not produce a stable third 	subgroup </a:t>
          </a:r>
          <a:endParaRPr lang="en-US"/>
        </a:p>
      </dgm:t>
    </dgm:pt>
    <dgm:pt modelId="{5745135C-B5EE-472A-9C44-6E38D1B3CEF1}" type="parTrans" cxnId="{78328E6B-426A-48B2-8DF6-EA368454B803}">
      <dgm:prSet/>
      <dgm:spPr/>
      <dgm:t>
        <a:bodyPr/>
        <a:lstStyle/>
        <a:p>
          <a:endParaRPr lang="en-US"/>
        </a:p>
      </dgm:t>
    </dgm:pt>
    <dgm:pt modelId="{E1294299-A244-49E6-8CEC-FB96E8CABD5E}" type="sibTrans" cxnId="{78328E6B-426A-48B2-8DF6-EA368454B803}">
      <dgm:prSet/>
      <dgm:spPr/>
      <dgm:t>
        <a:bodyPr/>
        <a:lstStyle/>
        <a:p>
          <a:endParaRPr lang="en-US"/>
        </a:p>
      </dgm:t>
    </dgm:pt>
    <dgm:pt modelId="{8CA5F3E5-39CD-4A7E-A7CA-42EF801B8341}">
      <dgm:prSet/>
      <dgm:spPr/>
      <dgm:t>
        <a:bodyPr/>
        <a:lstStyle/>
        <a:p>
          <a:r>
            <a:rPr lang="en-GB" b="0" baseline="0"/>
            <a:t>Membership confidence remains low/intermediate across runs</a:t>
          </a:r>
          <a:endParaRPr lang="en-US"/>
        </a:p>
      </dgm:t>
    </dgm:pt>
    <dgm:pt modelId="{E5F670F2-C220-4DC7-B190-FC598A34FFB4}" type="parTrans" cxnId="{FA741A24-4AB6-45F8-BB95-3E7BD766D71E}">
      <dgm:prSet/>
      <dgm:spPr/>
      <dgm:t>
        <a:bodyPr/>
        <a:lstStyle/>
        <a:p>
          <a:endParaRPr lang="en-US"/>
        </a:p>
      </dgm:t>
    </dgm:pt>
    <dgm:pt modelId="{E5B49819-89BB-4DD0-9D22-0312015E836D}" type="sibTrans" cxnId="{FA741A24-4AB6-45F8-BB95-3E7BD766D71E}">
      <dgm:prSet/>
      <dgm:spPr/>
      <dgm:t>
        <a:bodyPr/>
        <a:lstStyle/>
        <a:p>
          <a:endParaRPr lang="en-US"/>
        </a:p>
      </dgm:t>
    </dgm:pt>
    <dgm:pt modelId="{D15690D7-AEC4-4191-965B-E3FB1D15A1CC}">
      <dgm:prSet/>
      <dgm:spPr/>
      <dgm:t>
        <a:bodyPr/>
        <a:lstStyle/>
        <a:p>
          <a:r>
            <a:rPr lang="en-GB" b="0" baseline="0"/>
            <a:t>Interpretation </a:t>
          </a:r>
          <a:endParaRPr lang="en-US"/>
        </a:p>
      </dgm:t>
    </dgm:pt>
    <dgm:pt modelId="{991DAE0D-C43F-42CD-8FCA-68FF97B46764}" type="parTrans" cxnId="{12C7E610-93B9-4489-A5D7-939480E63C9C}">
      <dgm:prSet/>
      <dgm:spPr/>
      <dgm:t>
        <a:bodyPr/>
        <a:lstStyle/>
        <a:p>
          <a:endParaRPr lang="en-US"/>
        </a:p>
      </dgm:t>
    </dgm:pt>
    <dgm:pt modelId="{F3D1E57B-5A32-4890-9314-41D4285E2F5E}" type="sibTrans" cxnId="{12C7E610-93B9-4489-A5D7-939480E63C9C}">
      <dgm:prSet/>
      <dgm:spPr/>
      <dgm:t>
        <a:bodyPr/>
        <a:lstStyle/>
        <a:p>
          <a:endParaRPr lang="en-US"/>
        </a:p>
      </dgm:t>
    </dgm:pt>
    <dgm:pt modelId="{C5B463ED-F506-466F-AEBC-6A3E7CC7014A}">
      <dgm:prSet/>
      <dgm:spPr/>
      <dgm:t>
        <a:bodyPr/>
        <a:lstStyle/>
        <a:p>
          <a:r>
            <a:rPr lang="en-GB" b="0" baseline="0"/>
            <a:t>Current results support a bipartite structure (k=2) </a:t>
          </a:r>
          <a:endParaRPr lang="en-US"/>
        </a:p>
      </dgm:t>
    </dgm:pt>
    <dgm:pt modelId="{76D07BC3-B8EA-48D5-9CBD-B45079203E0F}" type="parTrans" cxnId="{8AE4CCDB-ED00-4AD6-9070-A33D17CDB5C4}">
      <dgm:prSet/>
      <dgm:spPr/>
      <dgm:t>
        <a:bodyPr/>
        <a:lstStyle/>
        <a:p>
          <a:endParaRPr lang="en-US"/>
        </a:p>
      </dgm:t>
    </dgm:pt>
    <dgm:pt modelId="{94207460-89D8-41C7-B55D-55E8FC40FD84}" type="sibTrans" cxnId="{8AE4CCDB-ED00-4AD6-9070-A33D17CDB5C4}">
      <dgm:prSet/>
      <dgm:spPr/>
      <dgm:t>
        <a:bodyPr/>
        <a:lstStyle/>
        <a:p>
          <a:endParaRPr lang="en-US"/>
        </a:p>
      </dgm:t>
    </dgm:pt>
    <dgm:pt modelId="{7280EB9A-DBB9-42AC-967B-3555EB6EA474}">
      <dgm:prSet/>
      <dgm:spPr/>
      <dgm:t>
        <a:bodyPr/>
        <a:lstStyle/>
        <a:p>
          <a:r>
            <a:rPr lang="en-GB" b="0" baseline="0"/>
            <a:t>Greyzone patients may represent intermediate/transitional profiles rather 	than a distinct cluster. </a:t>
          </a:r>
          <a:endParaRPr lang="en-US"/>
        </a:p>
      </dgm:t>
    </dgm:pt>
    <dgm:pt modelId="{46722E21-D71C-4162-83AA-895F16793DFB}" type="parTrans" cxnId="{AD4B3A6C-68C7-462C-962E-0140A43C4D2F}">
      <dgm:prSet/>
      <dgm:spPr/>
      <dgm:t>
        <a:bodyPr/>
        <a:lstStyle/>
        <a:p>
          <a:endParaRPr lang="en-US"/>
        </a:p>
      </dgm:t>
    </dgm:pt>
    <dgm:pt modelId="{A64B81A6-0A0B-4CDE-A003-5FB588E3B0F0}" type="sibTrans" cxnId="{AD4B3A6C-68C7-462C-962E-0140A43C4D2F}">
      <dgm:prSet/>
      <dgm:spPr/>
      <dgm:t>
        <a:bodyPr/>
        <a:lstStyle/>
        <a:p>
          <a:endParaRPr lang="en-US"/>
        </a:p>
      </dgm:t>
    </dgm:pt>
    <dgm:pt modelId="{937598E8-30A8-4FE3-9D55-0AE5B3849C23}">
      <dgm:prSet/>
      <dgm:spPr/>
      <dgm:t>
        <a:bodyPr/>
        <a:lstStyle/>
        <a:p>
          <a:r>
            <a:rPr lang="en-GB" b="0" baseline="0"/>
            <a:t>Next step </a:t>
          </a:r>
          <a:endParaRPr lang="en-US"/>
        </a:p>
      </dgm:t>
    </dgm:pt>
    <dgm:pt modelId="{2BAFE8D6-4ABF-4B82-AE33-74720374F613}" type="parTrans" cxnId="{10E2B8B8-AE62-4647-98FF-8EAC5CE3AF37}">
      <dgm:prSet/>
      <dgm:spPr/>
      <dgm:t>
        <a:bodyPr/>
        <a:lstStyle/>
        <a:p>
          <a:endParaRPr lang="en-US"/>
        </a:p>
      </dgm:t>
    </dgm:pt>
    <dgm:pt modelId="{ED53A9B7-BF5D-4B2E-A346-BA66B293DA93}" type="sibTrans" cxnId="{10E2B8B8-AE62-4647-98FF-8EAC5CE3AF37}">
      <dgm:prSet/>
      <dgm:spPr/>
      <dgm:t>
        <a:bodyPr/>
        <a:lstStyle/>
        <a:p>
          <a:endParaRPr lang="en-US"/>
        </a:p>
      </dgm:t>
    </dgm:pt>
    <dgm:pt modelId="{F36A6FF6-A7BB-4404-8E3D-B98364FF1AB4}">
      <dgm:prSet/>
      <dgm:spPr/>
      <dgm:t>
        <a:bodyPr/>
        <a:lstStyle/>
        <a:p>
          <a:r>
            <a:rPr lang="en-GB" b="0" baseline="0"/>
            <a:t>A deeper biological comparison between k=2 and k=3 is required </a:t>
          </a:r>
          <a:endParaRPr lang="en-US"/>
        </a:p>
      </dgm:t>
    </dgm:pt>
    <dgm:pt modelId="{B8CC3DA3-F63E-435E-8A77-B62BE860AFD5}" type="parTrans" cxnId="{CAA5B0A7-17A0-4BA4-8034-9962127987FB}">
      <dgm:prSet/>
      <dgm:spPr/>
      <dgm:t>
        <a:bodyPr/>
        <a:lstStyle/>
        <a:p>
          <a:endParaRPr lang="en-US"/>
        </a:p>
      </dgm:t>
    </dgm:pt>
    <dgm:pt modelId="{45C7657D-55E8-4BCC-9F3E-2BDFC8DD542E}" type="sibTrans" cxnId="{CAA5B0A7-17A0-4BA4-8034-9962127987FB}">
      <dgm:prSet/>
      <dgm:spPr/>
      <dgm:t>
        <a:bodyPr/>
        <a:lstStyle/>
        <a:p>
          <a:endParaRPr lang="en-US"/>
        </a:p>
      </dgm:t>
    </dgm:pt>
    <dgm:pt modelId="{93BC9B8F-6C2B-46D1-994A-428C49229C1C}">
      <dgm:prSet/>
      <dgm:spPr/>
      <dgm:t>
        <a:bodyPr/>
        <a:lstStyle/>
        <a:p>
          <a:r>
            <a:rPr lang="en-GB" b="0" baseline="0"/>
            <a:t>Pathway enrichment and biological interpretability will determine whether the third 	cluster reflects meaningful biology or clustering noise</a:t>
          </a:r>
          <a:endParaRPr lang="en-US"/>
        </a:p>
      </dgm:t>
    </dgm:pt>
    <dgm:pt modelId="{66213E7E-657A-4FF3-A6A9-F601ED0D6465}" type="parTrans" cxnId="{F710D044-E428-4FC6-867A-237A092E29D5}">
      <dgm:prSet/>
      <dgm:spPr/>
      <dgm:t>
        <a:bodyPr/>
        <a:lstStyle/>
        <a:p>
          <a:endParaRPr lang="en-US"/>
        </a:p>
      </dgm:t>
    </dgm:pt>
    <dgm:pt modelId="{56A2F45E-DB11-4EF5-AC7D-6124C714BBE9}" type="sibTrans" cxnId="{F710D044-E428-4FC6-867A-237A092E29D5}">
      <dgm:prSet/>
      <dgm:spPr/>
      <dgm:t>
        <a:bodyPr/>
        <a:lstStyle/>
        <a:p>
          <a:endParaRPr lang="en-US"/>
        </a:p>
      </dgm:t>
    </dgm:pt>
    <dgm:pt modelId="{53135645-D5F7-4718-8C60-1B44CDC7043A}" type="pres">
      <dgm:prSet presAssocID="{99E3D620-5DFF-401D-B848-070C93A405D6}" presName="Name0" presStyleCnt="0">
        <dgm:presLayoutVars>
          <dgm:dir/>
          <dgm:animLvl val="lvl"/>
          <dgm:resizeHandles val="exact"/>
        </dgm:presLayoutVars>
      </dgm:prSet>
      <dgm:spPr/>
    </dgm:pt>
    <dgm:pt modelId="{D7AFCC1F-03F5-4FC1-BCD6-FABA56F9B520}" type="pres">
      <dgm:prSet presAssocID="{937598E8-30A8-4FE3-9D55-0AE5B3849C23}" presName="boxAndChildren" presStyleCnt="0"/>
      <dgm:spPr/>
    </dgm:pt>
    <dgm:pt modelId="{BA83AC6C-5305-48FB-A7AA-0EB926C0E895}" type="pres">
      <dgm:prSet presAssocID="{937598E8-30A8-4FE3-9D55-0AE5B3849C23}" presName="parentTextBox" presStyleLbl="node1" presStyleIdx="0" presStyleCnt="3"/>
      <dgm:spPr/>
    </dgm:pt>
    <dgm:pt modelId="{4EBE41C2-1A9F-4924-BF2B-83B310B64021}" type="pres">
      <dgm:prSet presAssocID="{937598E8-30A8-4FE3-9D55-0AE5B3849C23}" presName="entireBox" presStyleLbl="node1" presStyleIdx="0" presStyleCnt="3"/>
      <dgm:spPr/>
    </dgm:pt>
    <dgm:pt modelId="{7632155B-42F4-4374-ACDA-4D797BDA8B56}" type="pres">
      <dgm:prSet presAssocID="{937598E8-30A8-4FE3-9D55-0AE5B3849C23}" presName="descendantBox" presStyleCnt="0"/>
      <dgm:spPr/>
    </dgm:pt>
    <dgm:pt modelId="{77800694-9B7E-44D2-B401-2A5E58A6D353}" type="pres">
      <dgm:prSet presAssocID="{F36A6FF6-A7BB-4404-8E3D-B98364FF1AB4}" presName="childTextBox" presStyleLbl="fgAccFollowNode1" presStyleIdx="0" presStyleCnt="7">
        <dgm:presLayoutVars>
          <dgm:bulletEnabled val="1"/>
        </dgm:presLayoutVars>
      </dgm:prSet>
      <dgm:spPr/>
    </dgm:pt>
    <dgm:pt modelId="{7ECB4765-62AD-4DD0-A1B4-CCA7E469F00F}" type="pres">
      <dgm:prSet presAssocID="{93BC9B8F-6C2B-46D1-994A-428C49229C1C}" presName="childTextBox" presStyleLbl="fgAccFollowNode1" presStyleIdx="1" presStyleCnt="7">
        <dgm:presLayoutVars>
          <dgm:bulletEnabled val="1"/>
        </dgm:presLayoutVars>
      </dgm:prSet>
      <dgm:spPr/>
    </dgm:pt>
    <dgm:pt modelId="{53B511A4-0EF2-4EEE-ADC1-C731663E1E6C}" type="pres">
      <dgm:prSet presAssocID="{F3D1E57B-5A32-4890-9314-41D4285E2F5E}" presName="sp" presStyleCnt="0"/>
      <dgm:spPr/>
    </dgm:pt>
    <dgm:pt modelId="{F9249EE7-BD2E-4CFD-99AE-DFCBC981D5CC}" type="pres">
      <dgm:prSet presAssocID="{D15690D7-AEC4-4191-965B-E3FB1D15A1CC}" presName="arrowAndChildren" presStyleCnt="0"/>
      <dgm:spPr/>
    </dgm:pt>
    <dgm:pt modelId="{D85F4121-F68B-4407-8205-5D311A31AC12}" type="pres">
      <dgm:prSet presAssocID="{D15690D7-AEC4-4191-965B-E3FB1D15A1CC}" presName="parentTextArrow" presStyleLbl="node1" presStyleIdx="0" presStyleCnt="3"/>
      <dgm:spPr/>
    </dgm:pt>
    <dgm:pt modelId="{E6504BF7-4895-4239-853C-6C21041418A4}" type="pres">
      <dgm:prSet presAssocID="{D15690D7-AEC4-4191-965B-E3FB1D15A1CC}" presName="arrow" presStyleLbl="node1" presStyleIdx="1" presStyleCnt="3"/>
      <dgm:spPr/>
    </dgm:pt>
    <dgm:pt modelId="{4365302E-7C49-4D60-9700-9133AF48B78D}" type="pres">
      <dgm:prSet presAssocID="{D15690D7-AEC4-4191-965B-E3FB1D15A1CC}" presName="descendantArrow" presStyleCnt="0"/>
      <dgm:spPr/>
    </dgm:pt>
    <dgm:pt modelId="{641CEA9B-CB5D-4258-B25A-A5895AEB8329}" type="pres">
      <dgm:prSet presAssocID="{C5B463ED-F506-466F-AEBC-6A3E7CC7014A}" presName="childTextArrow" presStyleLbl="fgAccFollowNode1" presStyleIdx="2" presStyleCnt="7">
        <dgm:presLayoutVars>
          <dgm:bulletEnabled val="1"/>
        </dgm:presLayoutVars>
      </dgm:prSet>
      <dgm:spPr/>
    </dgm:pt>
    <dgm:pt modelId="{F06D1917-180E-4AD0-B097-CB7FECF3F854}" type="pres">
      <dgm:prSet presAssocID="{7280EB9A-DBB9-42AC-967B-3555EB6EA474}" presName="childTextArrow" presStyleLbl="fgAccFollowNode1" presStyleIdx="3" presStyleCnt="7">
        <dgm:presLayoutVars>
          <dgm:bulletEnabled val="1"/>
        </dgm:presLayoutVars>
      </dgm:prSet>
      <dgm:spPr/>
    </dgm:pt>
    <dgm:pt modelId="{3D24C8AF-BB98-42FC-A830-79D1DC2EF4A7}" type="pres">
      <dgm:prSet presAssocID="{C5EAD005-ABBD-48D7-8333-A544CA1CAB3A}" presName="sp" presStyleCnt="0"/>
      <dgm:spPr/>
    </dgm:pt>
    <dgm:pt modelId="{84EE464B-85D9-4D68-8B9B-C7C72057D26B}" type="pres">
      <dgm:prSet presAssocID="{1E4AEF7C-096C-455A-95C8-0A2A653CB718}" presName="arrowAndChildren" presStyleCnt="0"/>
      <dgm:spPr/>
    </dgm:pt>
    <dgm:pt modelId="{8FF1920C-2FC7-4CE0-96DD-5E114FDF5750}" type="pres">
      <dgm:prSet presAssocID="{1E4AEF7C-096C-455A-95C8-0A2A653CB718}" presName="parentTextArrow" presStyleLbl="node1" presStyleIdx="1" presStyleCnt="3"/>
      <dgm:spPr/>
    </dgm:pt>
    <dgm:pt modelId="{B5111693-035D-484B-BF87-8D5E061B0B1C}" type="pres">
      <dgm:prSet presAssocID="{1E4AEF7C-096C-455A-95C8-0A2A653CB718}" presName="arrow" presStyleLbl="node1" presStyleIdx="2" presStyleCnt="3"/>
      <dgm:spPr/>
    </dgm:pt>
    <dgm:pt modelId="{C70EEFDD-1CD3-4BCA-8394-DD985CD69626}" type="pres">
      <dgm:prSet presAssocID="{1E4AEF7C-096C-455A-95C8-0A2A653CB718}" presName="descendantArrow" presStyleCnt="0"/>
      <dgm:spPr/>
    </dgm:pt>
    <dgm:pt modelId="{A4A63DB6-CBEF-4B3A-A551-B238107E2AC4}" type="pres">
      <dgm:prSet presAssocID="{410A1E8B-9D17-4CFE-8AE7-9A4219B5FE55}" presName="childTextArrow" presStyleLbl="fgAccFollowNode1" presStyleIdx="4" presStyleCnt="7">
        <dgm:presLayoutVars>
          <dgm:bulletEnabled val="1"/>
        </dgm:presLayoutVars>
      </dgm:prSet>
      <dgm:spPr/>
    </dgm:pt>
    <dgm:pt modelId="{F839D945-90EE-44A1-9DB9-668ED66FEFDA}" type="pres">
      <dgm:prSet presAssocID="{61E03AEE-324B-4A50-9C02-DBB143F40F78}" presName="childTextArrow" presStyleLbl="fgAccFollowNode1" presStyleIdx="5" presStyleCnt="7">
        <dgm:presLayoutVars>
          <dgm:bulletEnabled val="1"/>
        </dgm:presLayoutVars>
      </dgm:prSet>
      <dgm:spPr/>
    </dgm:pt>
    <dgm:pt modelId="{3CDDFA51-8FE4-4C93-A47C-5184BEDD0603}" type="pres">
      <dgm:prSet presAssocID="{8CA5F3E5-39CD-4A7E-A7CA-42EF801B8341}" presName="childTextArrow" presStyleLbl="fgAccFollowNode1" presStyleIdx="6" presStyleCnt="7">
        <dgm:presLayoutVars>
          <dgm:bulletEnabled val="1"/>
        </dgm:presLayoutVars>
      </dgm:prSet>
      <dgm:spPr/>
    </dgm:pt>
  </dgm:ptLst>
  <dgm:cxnLst>
    <dgm:cxn modelId="{434AC801-D5FB-4BE2-A074-E5D47AF9309E}" type="presOf" srcId="{D15690D7-AEC4-4191-965B-E3FB1D15A1CC}" destId="{E6504BF7-4895-4239-853C-6C21041418A4}" srcOrd="1" destOrd="0" presId="urn:microsoft.com/office/officeart/2005/8/layout/process4"/>
    <dgm:cxn modelId="{E78EC809-623D-4E54-A02F-FBC0CEE41B22}" type="presOf" srcId="{8CA5F3E5-39CD-4A7E-A7CA-42EF801B8341}" destId="{3CDDFA51-8FE4-4C93-A47C-5184BEDD0603}" srcOrd="0" destOrd="0" presId="urn:microsoft.com/office/officeart/2005/8/layout/process4"/>
    <dgm:cxn modelId="{12C7E610-93B9-4489-A5D7-939480E63C9C}" srcId="{99E3D620-5DFF-401D-B848-070C93A405D6}" destId="{D15690D7-AEC4-4191-965B-E3FB1D15A1CC}" srcOrd="1" destOrd="0" parTransId="{991DAE0D-C43F-42CD-8FCA-68FF97B46764}" sibTransId="{F3D1E57B-5A32-4890-9314-41D4285E2F5E}"/>
    <dgm:cxn modelId="{67BD4119-1AA5-4FD2-852A-45D73D9C5ECC}" type="presOf" srcId="{C5B463ED-F506-466F-AEBC-6A3E7CC7014A}" destId="{641CEA9B-CB5D-4258-B25A-A5895AEB8329}" srcOrd="0" destOrd="0" presId="urn:microsoft.com/office/officeart/2005/8/layout/process4"/>
    <dgm:cxn modelId="{FA741A24-4AB6-45F8-BB95-3E7BD766D71E}" srcId="{1E4AEF7C-096C-455A-95C8-0A2A653CB718}" destId="{8CA5F3E5-39CD-4A7E-A7CA-42EF801B8341}" srcOrd="2" destOrd="0" parTransId="{E5F670F2-C220-4DC7-B190-FC598A34FFB4}" sibTransId="{E5B49819-89BB-4DD0-9D22-0312015E836D}"/>
    <dgm:cxn modelId="{B9833A31-7669-493A-80A6-AFACAA9EF16E}" type="presOf" srcId="{1E4AEF7C-096C-455A-95C8-0A2A653CB718}" destId="{B5111693-035D-484B-BF87-8D5E061B0B1C}" srcOrd="1" destOrd="0" presId="urn:microsoft.com/office/officeart/2005/8/layout/process4"/>
    <dgm:cxn modelId="{73545D3B-98A3-4DA0-AE74-56809E0B7A2A}" type="presOf" srcId="{D15690D7-AEC4-4191-965B-E3FB1D15A1CC}" destId="{D85F4121-F68B-4407-8205-5D311A31AC12}" srcOrd="0" destOrd="0" presId="urn:microsoft.com/office/officeart/2005/8/layout/process4"/>
    <dgm:cxn modelId="{F710D044-E428-4FC6-867A-237A092E29D5}" srcId="{937598E8-30A8-4FE3-9D55-0AE5B3849C23}" destId="{93BC9B8F-6C2B-46D1-994A-428C49229C1C}" srcOrd="1" destOrd="0" parTransId="{66213E7E-657A-4FF3-A6A9-F601ED0D6465}" sibTransId="{56A2F45E-DB11-4EF5-AC7D-6124C714BBE9}"/>
    <dgm:cxn modelId="{6ECF7648-1E52-475D-8A1D-E97A8C12379E}" type="presOf" srcId="{93BC9B8F-6C2B-46D1-994A-428C49229C1C}" destId="{7ECB4765-62AD-4DD0-A1B4-CCA7E469F00F}" srcOrd="0" destOrd="0" presId="urn:microsoft.com/office/officeart/2005/8/layout/process4"/>
    <dgm:cxn modelId="{215F7649-6181-49B5-ADEF-3272737C7CCA}" type="presOf" srcId="{99E3D620-5DFF-401D-B848-070C93A405D6}" destId="{53135645-D5F7-4718-8C60-1B44CDC7043A}" srcOrd="0" destOrd="0" presId="urn:microsoft.com/office/officeart/2005/8/layout/process4"/>
    <dgm:cxn modelId="{78328E6B-426A-48B2-8DF6-EA368454B803}" srcId="{1E4AEF7C-096C-455A-95C8-0A2A653CB718}" destId="{61E03AEE-324B-4A50-9C02-DBB143F40F78}" srcOrd="1" destOrd="0" parTransId="{5745135C-B5EE-472A-9C44-6E38D1B3CEF1}" sibTransId="{E1294299-A244-49E6-8CEC-FB96E8CABD5E}"/>
    <dgm:cxn modelId="{AD4B3A6C-68C7-462C-962E-0140A43C4D2F}" srcId="{D15690D7-AEC4-4191-965B-E3FB1D15A1CC}" destId="{7280EB9A-DBB9-42AC-967B-3555EB6EA474}" srcOrd="1" destOrd="0" parTransId="{46722E21-D71C-4162-83AA-895F16793DFB}" sibTransId="{A64B81A6-0A0B-4CDE-A003-5FB588E3B0F0}"/>
    <dgm:cxn modelId="{6FF12874-3480-457E-B824-502B56ED0A99}" type="presOf" srcId="{61E03AEE-324B-4A50-9C02-DBB143F40F78}" destId="{F839D945-90EE-44A1-9DB9-668ED66FEFDA}" srcOrd="0" destOrd="0" presId="urn:microsoft.com/office/officeart/2005/8/layout/process4"/>
    <dgm:cxn modelId="{78F62F58-9179-4E66-8650-3B477A2BD4DC}" type="presOf" srcId="{1E4AEF7C-096C-455A-95C8-0A2A653CB718}" destId="{8FF1920C-2FC7-4CE0-96DD-5E114FDF5750}" srcOrd="0" destOrd="0" presId="urn:microsoft.com/office/officeart/2005/8/layout/process4"/>
    <dgm:cxn modelId="{470BA179-18F9-493E-8DA0-8FF19686111C}" type="presOf" srcId="{7280EB9A-DBB9-42AC-967B-3555EB6EA474}" destId="{F06D1917-180E-4AD0-B097-CB7FECF3F854}" srcOrd="0" destOrd="0" presId="urn:microsoft.com/office/officeart/2005/8/layout/process4"/>
    <dgm:cxn modelId="{278EB699-659C-4A23-83C6-4494C9E78A0F}" type="presOf" srcId="{F36A6FF6-A7BB-4404-8E3D-B98364FF1AB4}" destId="{77800694-9B7E-44D2-B401-2A5E58A6D353}" srcOrd="0" destOrd="0" presId="urn:microsoft.com/office/officeart/2005/8/layout/process4"/>
    <dgm:cxn modelId="{CAA5B0A7-17A0-4BA4-8034-9962127987FB}" srcId="{937598E8-30A8-4FE3-9D55-0AE5B3849C23}" destId="{F36A6FF6-A7BB-4404-8E3D-B98364FF1AB4}" srcOrd="0" destOrd="0" parTransId="{B8CC3DA3-F63E-435E-8A77-B62BE860AFD5}" sibTransId="{45C7657D-55E8-4BCC-9F3E-2BDFC8DD542E}"/>
    <dgm:cxn modelId="{59D558B6-0EF1-4584-9F74-7BC1C8B583A4}" type="presOf" srcId="{410A1E8B-9D17-4CFE-8AE7-9A4219B5FE55}" destId="{A4A63DB6-CBEF-4B3A-A551-B238107E2AC4}" srcOrd="0" destOrd="0" presId="urn:microsoft.com/office/officeart/2005/8/layout/process4"/>
    <dgm:cxn modelId="{10E2B8B8-AE62-4647-98FF-8EAC5CE3AF37}" srcId="{99E3D620-5DFF-401D-B848-070C93A405D6}" destId="{937598E8-30A8-4FE3-9D55-0AE5B3849C23}" srcOrd="2" destOrd="0" parTransId="{2BAFE8D6-4ABF-4B82-AE33-74720374F613}" sibTransId="{ED53A9B7-BF5D-4B2E-A346-BA66B293DA93}"/>
    <dgm:cxn modelId="{3971D3BF-1E7B-49C0-AD80-0404DAABE5A7}" srcId="{1E4AEF7C-096C-455A-95C8-0A2A653CB718}" destId="{410A1E8B-9D17-4CFE-8AE7-9A4219B5FE55}" srcOrd="0" destOrd="0" parTransId="{13B7150F-9835-4D39-A2B2-3BEC33FA7965}" sibTransId="{A52C9007-8602-41F3-9945-0E0ABC056DAE}"/>
    <dgm:cxn modelId="{8AE4CCDB-ED00-4AD6-9070-A33D17CDB5C4}" srcId="{D15690D7-AEC4-4191-965B-E3FB1D15A1CC}" destId="{C5B463ED-F506-466F-AEBC-6A3E7CC7014A}" srcOrd="0" destOrd="0" parTransId="{76D07BC3-B8EA-48D5-9CBD-B45079203E0F}" sibTransId="{94207460-89D8-41C7-B55D-55E8FC40FD84}"/>
    <dgm:cxn modelId="{164BCDE4-542F-400E-B24D-20FFAD3A1952}" srcId="{99E3D620-5DFF-401D-B848-070C93A405D6}" destId="{1E4AEF7C-096C-455A-95C8-0A2A653CB718}" srcOrd="0" destOrd="0" parTransId="{DE82E48A-3F54-4103-99AD-9827A2104FBC}" sibTransId="{C5EAD005-ABBD-48D7-8333-A544CA1CAB3A}"/>
    <dgm:cxn modelId="{E06E9FEC-C255-465D-8849-1811DFD2980D}" type="presOf" srcId="{937598E8-30A8-4FE3-9D55-0AE5B3849C23}" destId="{BA83AC6C-5305-48FB-A7AA-0EB926C0E895}" srcOrd="0" destOrd="0" presId="urn:microsoft.com/office/officeart/2005/8/layout/process4"/>
    <dgm:cxn modelId="{2E3F6DFA-9BB6-4D30-A17E-C93CCDAC951E}" type="presOf" srcId="{937598E8-30A8-4FE3-9D55-0AE5B3849C23}" destId="{4EBE41C2-1A9F-4924-BF2B-83B310B64021}" srcOrd="1" destOrd="0" presId="urn:microsoft.com/office/officeart/2005/8/layout/process4"/>
    <dgm:cxn modelId="{AB965FD4-DCE7-4537-802B-CE76D2DB45CF}" type="presParOf" srcId="{53135645-D5F7-4718-8C60-1B44CDC7043A}" destId="{D7AFCC1F-03F5-4FC1-BCD6-FABA56F9B520}" srcOrd="0" destOrd="0" presId="urn:microsoft.com/office/officeart/2005/8/layout/process4"/>
    <dgm:cxn modelId="{C931F030-4C6B-47A0-A298-9E8EAAA15237}" type="presParOf" srcId="{D7AFCC1F-03F5-4FC1-BCD6-FABA56F9B520}" destId="{BA83AC6C-5305-48FB-A7AA-0EB926C0E895}" srcOrd="0" destOrd="0" presId="urn:microsoft.com/office/officeart/2005/8/layout/process4"/>
    <dgm:cxn modelId="{6B5ED91D-3868-4596-BEED-A7CA3C462398}" type="presParOf" srcId="{D7AFCC1F-03F5-4FC1-BCD6-FABA56F9B520}" destId="{4EBE41C2-1A9F-4924-BF2B-83B310B64021}" srcOrd="1" destOrd="0" presId="urn:microsoft.com/office/officeart/2005/8/layout/process4"/>
    <dgm:cxn modelId="{2538EF90-CF2C-44A0-9AF4-4463A264F6B4}" type="presParOf" srcId="{D7AFCC1F-03F5-4FC1-BCD6-FABA56F9B520}" destId="{7632155B-42F4-4374-ACDA-4D797BDA8B56}" srcOrd="2" destOrd="0" presId="urn:microsoft.com/office/officeart/2005/8/layout/process4"/>
    <dgm:cxn modelId="{E9D73A1F-6576-47EE-98DF-79243D74195E}" type="presParOf" srcId="{7632155B-42F4-4374-ACDA-4D797BDA8B56}" destId="{77800694-9B7E-44D2-B401-2A5E58A6D353}" srcOrd="0" destOrd="0" presId="urn:microsoft.com/office/officeart/2005/8/layout/process4"/>
    <dgm:cxn modelId="{4A51A32C-72F6-4FF6-96CC-9F7EC7D8D7BF}" type="presParOf" srcId="{7632155B-42F4-4374-ACDA-4D797BDA8B56}" destId="{7ECB4765-62AD-4DD0-A1B4-CCA7E469F00F}" srcOrd="1" destOrd="0" presId="urn:microsoft.com/office/officeart/2005/8/layout/process4"/>
    <dgm:cxn modelId="{04CFE95F-596B-4604-B5A2-73A03353AF8D}" type="presParOf" srcId="{53135645-D5F7-4718-8C60-1B44CDC7043A}" destId="{53B511A4-0EF2-4EEE-ADC1-C731663E1E6C}" srcOrd="1" destOrd="0" presId="urn:microsoft.com/office/officeart/2005/8/layout/process4"/>
    <dgm:cxn modelId="{3B5EAAD1-538D-4E2B-A92B-67E322B2643A}" type="presParOf" srcId="{53135645-D5F7-4718-8C60-1B44CDC7043A}" destId="{F9249EE7-BD2E-4CFD-99AE-DFCBC981D5CC}" srcOrd="2" destOrd="0" presId="urn:microsoft.com/office/officeart/2005/8/layout/process4"/>
    <dgm:cxn modelId="{3913D30B-9426-462D-9FD6-1A9265434014}" type="presParOf" srcId="{F9249EE7-BD2E-4CFD-99AE-DFCBC981D5CC}" destId="{D85F4121-F68B-4407-8205-5D311A31AC12}" srcOrd="0" destOrd="0" presId="urn:microsoft.com/office/officeart/2005/8/layout/process4"/>
    <dgm:cxn modelId="{F866BE78-9816-4A5B-9E04-B60BAC3B5A36}" type="presParOf" srcId="{F9249EE7-BD2E-4CFD-99AE-DFCBC981D5CC}" destId="{E6504BF7-4895-4239-853C-6C21041418A4}" srcOrd="1" destOrd="0" presId="urn:microsoft.com/office/officeart/2005/8/layout/process4"/>
    <dgm:cxn modelId="{821E085B-BA3E-4894-B852-15A042D03A5F}" type="presParOf" srcId="{F9249EE7-BD2E-4CFD-99AE-DFCBC981D5CC}" destId="{4365302E-7C49-4D60-9700-9133AF48B78D}" srcOrd="2" destOrd="0" presId="urn:microsoft.com/office/officeart/2005/8/layout/process4"/>
    <dgm:cxn modelId="{C80DF232-FBCA-428E-B296-B58559338834}" type="presParOf" srcId="{4365302E-7C49-4D60-9700-9133AF48B78D}" destId="{641CEA9B-CB5D-4258-B25A-A5895AEB8329}" srcOrd="0" destOrd="0" presId="urn:microsoft.com/office/officeart/2005/8/layout/process4"/>
    <dgm:cxn modelId="{0C676704-3D8D-453B-BD2D-330E5F401648}" type="presParOf" srcId="{4365302E-7C49-4D60-9700-9133AF48B78D}" destId="{F06D1917-180E-4AD0-B097-CB7FECF3F854}" srcOrd="1" destOrd="0" presId="urn:microsoft.com/office/officeart/2005/8/layout/process4"/>
    <dgm:cxn modelId="{8A3C1933-D7CA-447B-8C36-428E29EA00F2}" type="presParOf" srcId="{53135645-D5F7-4718-8C60-1B44CDC7043A}" destId="{3D24C8AF-BB98-42FC-A830-79D1DC2EF4A7}" srcOrd="3" destOrd="0" presId="urn:microsoft.com/office/officeart/2005/8/layout/process4"/>
    <dgm:cxn modelId="{42973092-11AE-4C61-B4A0-B61AC7C8F825}" type="presParOf" srcId="{53135645-D5F7-4718-8C60-1B44CDC7043A}" destId="{84EE464B-85D9-4D68-8B9B-C7C72057D26B}" srcOrd="4" destOrd="0" presId="urn:microsoft.com/office/officeart/2005/8/layout/process4"/>
    <dgm:cxn modelId="{C5547B4A-EAD5-4A49-B3E7-8CCAAAE21CC0}" type="presParOf" srcId="{84EE464B-85D9-4D68-8B9B-C7C72057D26B}" destId="{8FF1920C-2FC7-4CE0-96DD-5E114FDF5750}" srcOrd="0" destOrd="0" presId="urn:microsoft.com/office/officeart/2005/8/layout/process4"/>
    <dgm:cxn modelId="{9D6BE2F4-66E2-4FCE-9C95-32FAB756CC25}" type="presParOf" srcId="{84EE464B-85D9-4D68-8B9B-C7C72057D26B}" destId="{B5111693-035D-484B-BF87-8D5E061B0B1C}" srcOrd="1" destOrd="0" presId="urn:microsoft.com/office/officeart/2005/8/layout/process4"/>
    <dgm:cxn modelId="{BF51B2B4-5E63-4656-8AA1-F6B060E7EEE3}" type="presParOf" srcId="{84EE464B-85D9-4D68-8B9B-C7C72057D26B}" destId="{C70EEFDD-1CD3-4BCA-8394-DD985CD69626}" srcOrd="2" destOrd="0" presId="urn:microsoft.com/office/officeart/2005/8/layout/process4"/>
    <dgm:cxn modelId="{FC19DB29-7729-430B-90EC-828B33F476C2}" type="presParOf" srcId="{C70EEFDD-1CD3-4BCA-8394-DD985CD69626}" destId="{A4A63DB6-CBEF-4B3A-A551-B238107E2AC4}" srcOrd="0" destOrd="0" presId="urn:microsoft.com/office/officeart/2005/8/layout/process4"/>
    <dgm:cxn modelId="{A3BC67FF-9879-4972-B6DB-242997240150}" type="presParOf" srcId="{C70EEFDD-1CD3-4BCA-8394-DD985CD69626}" destId="{F839D945-90EE-44A1-9DB9-668ED66FEFDA}" srcOrd="1" destOrd="0" presId="urn:microsoft.com/office/officeart/2005/8/layout/process4"/>
    <dgm:cxn modelId="{331810EE-72D3-4675-86D8-D4ACEA5DE7F3}" type="presParOf" srcId="{C70EEFDD-1CD3-4BCA-8394-DD985CD69626}" destId="{3CDDFA51-8FE4-4C93-A47C-5184BEDD0603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022318-BC40-401D-8E01-425A3665A8C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DA9C153-269F-4B0A-A661-EBBBD016C2E8}">
      <dgm:prSet/>
      <dgm:spPr/>
      <dgm:t>
        <a:bodyPr/>
        <a:lstStyle/>
        <a:p>
          <a:r>
            <a:rPr lang="en-GB" b="0" baseline="0"/>
            <a:t>Clinical characterization </a:t>
          </a:r>
          <a:endParaRPr lang="en-US"/>
        </a:p>
      </dgm:t>
    </dgm:pt>
    <dgm:pt modelId="{071E3247-12C1-4E5F-A594-732132862E25}" type="parTrans" cxnId="{4A303A83-4814-4B40-9688-271E826BCE76}">
      <dgm:prSet/>
      <dgm:spPr/>
      <dgm:t>
        <a:bodyPr/>
        <a:lstStyle/>
        <a:p>
          <a:endParaRPr lang="en-US"/>
        </a:p>
      </dgm:t>
    </dgm:pt>
    <dgm:pt modelId="{347D9C2F-F683-4E82-85EE-7B925CC7B98E}" type="sibTrans" cxnId="{4A303A83-4814-4B40-9688-271E826BCE76}">
      <dgm:prSet/>
      <dgm:spPr/>
      <dgm:t>
        <a:bodyPr/>
        <a:lstStyle/>
        <a:p>
          <a:endParaRPr lang="en-US"/>
        </a:p>
      </dgm:t>
    </dgm:pt>
    <dgm:pt modelId="{A5824190-D51C-475A-BE26-D8CA92C2EB11}">
      <dgm:prSet/>
      <dgm:spPr/>
      <dgm:t>
        <a:bodyPr/>
        <a:lstStyle/>
        <a:p>
          <a:r>
            <a:rPr lang="en-GB" b="0" baseline="0"/>
            <a:t>Compare demographic and clinical variables between 	Coimbra and Lisbon </a:t>
          </a:r>
          <a:endParaRPr lang="en-US"/>
        </a:p>
      </dgm:t>
    </dgm:pt>
    <dgm:pt modelId="{8441652D-F5BD-4D2E-81B4-44E701667187}" type="parTrans" cxnId="{445059D7-F0D7-4245-9A5B-D1FB066C4B4F}">
      <dgm:prSet/>
      <dgm:spPr/>
      <dgm:t>
        <a:bodyPr/>
        <a:lstStyle/>
        <a:p>
          <a:endParaRPr lang="en-US"/>
        </a:p>
      </dgm:t>
    </dgm:pt>
    <dgm:pt modelId="{AAD0BCD3-D7F1-449A-B7F8-072A5D55C241}" type="sibTrans" cxnId="{445059D7-F0D7-4245-9A5B-D1FB066C4B4F}">
      <dgm:prSet/>
      <dgm:spPr/>
      <dgm:t>
        <a:bodyPr/>
        <a:lstStyle/>
        <a:p>
          <a:endParaRPr lang="en-US"/>
        </a:p>
      </dgm:t>
    </dgm:pt>
    <dgm:pt modelId="{7AB46799-9BD7-44A2-9500-838ED8541F4D}">
      <dgm:prSet/>
      <dgm:spPr/>
      <dgm:t>
        <a:bodyPr/>
        <a:lstStyle/>
        <a:p>
          <a:r>
            <a:rPr lang="en-GB" b="0" baseline="0"/>
            <a:t>Proteomic differential analysis </a:t>
          </a:r>
          <a:endParaRPr lang="en-US"/>
        </a:p>
      </dgm:t>
    </dgm:pt>
    <dgm:pt modelId="{8D55F9CE-6FB1-4E57-861F-63A2447709BE}" type="parTrans" cxnId="{3313D953-3BE2-4FAC-A587-268EDC8F52ED}">
      <dgm:prSet/>
      <dgm:spPr/>
      <dgm:t>
        <a:bodyPr/>
        <a:lstStyle/>
        <a:p>
          <a:endParaRPr lang="en-US"/>
        </a:p>
      </dgm:t>
    </dgm:pt>
    <dgm:pt modelId="{ED42E623-C154-43DD-B26F-ABD04312DE05}" type="sibTrans" cxnId="{3313D953-3BE2-4FAC-A587-268EDC8F52ED}">
      <dgm:prSet/>
      <dgm:spPr/>
      <dgm:t>
        <a:bodyPr/>
        <a:lstStyle/>
        <a:p>
          <a:endParaRPr lang="en-US"/>
        </a:p>
      </dgm:t>
    </dgm:pt>
    <dgm:pt modelId="{3B29034E-EA39-4F9A-9E1D-AB27EACB0892}">
      <dgm:prSet/>
      <dgm:spPr/>
      <dgm:t>
        <a:bodyPr/>
        <a:lstStyle/>
        <a:p>
          <a:r>
            <a:rPr lang="en-GB" b="0" baseline="0"/>
            <a:t>Identify proteins differentially expressed between cohorts</a:t>
          </a:r>
          <a:endParaRPr lang="en-US"/>
        </a:p>
      </dgm:t>
    </dgm:pt>
    <dgm:pt modelId="{46A3FDC7-100F-4D76-9226-AFD7DB76EDE8}" type="parTrans" cxnId="{1D7BAA90-D055-4CA0-BB16-050042A13108}">
      <dgm:prSet/>
      <dgm:spPr/>
      <dgm:t>
        <a:bodyPr/>
        <a:lstStyle/>
        <a:p>
          <a:endParaRPr lang="en-US"/>
        </a:p>
      </dgm:t>
    </dgm:pt>
    <dgm:pt modelId="{DFC6D062-150B-4120-84D5-B108611110DE}" type="sibTrans" cxnId="{1D7BAA90-D055-4CA0-BB16-050042A13108}">
      <dgm:prSet/>
      <dgm:spPr/>
      <dgm:t>
        <a:bodyPr/>
        <a:lstStyle/>
        <a:p>
          <a:endParaRPr lang="en-US"/>
        </a:p>
      </dgm:t>
    </dgm:pt>
    <dgm:pt modelId="{9944ADEE-080B-4A11-8D44-B216A259D1D4}" type="pres">
      <dgm:prSet presAssocID="{CA022318-BC40-401D-8E01-425A3665A8C4}" presName="linear" presStyleCnt="0">
        <dgm:presLayoutVars>
          <dgm:animLvl val="lvl"/>
          <dgm:resizeHandles val="exact"/>
        </dgm:presLayoutVars>
      </dgm:prSet>
      <dgm:spPr/>
    </dgm:pt>
    <dgm:pt modelId="{6272FBB6-26BE-4BC4-AB9D-59262FF6E919}" type="pres">
      <dgm:prSet presAssocID="{DDA9C153-269F-4B0A-A661-EBBBD016C2E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07811E5-3DA8-45D2-A27A-FA8958E74D67}" type="pres">
      <dgm:prSet presAssocID="{DDA9C153-269F-4B0A-A661-EBBBD016C2E8}" presName="childText" presStyleLbl="revTx" presStyleIdx="0" presStyleCnt="2">
        <dgm:presLayoutVars>
          <dgm:bulletEnabled val="1"/>
        </dgm:presLayoutVars>
      </dgm:prSet>
      <dgm:spPr/>
    </dgm:pt>
    <dgm:pt modelId="{639A0EDA-58C6-49A1-ACF7-AA141ADFDBFA}" type="pres">
      <dgm:prSet presAssocID="{7AB46799-9BD7-44A2-9500-838ED8541F4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1F13B47-4B90-4463-975E-9C86B7972056}" type="pres">
      <dgm:prSet presAssocID="{7AB46799-9BD7-44A2-9500-838ED8541F4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D052913-7054-457E-8040-E3431ADAA1E2}" type="presOf" srcId="{3B29034E-EA39-4F9A-9E1D-AB27EACB0892}" destId="{F1F13B47-4B90-4463-975E-9C86B7972056}" srcOrd="0" destOrd="0" presId="urn:microsoft.com/office/officeart/2005/8/layout/vList2"/>
    <dgm:cxn modelId="{A1D6AF62-FAA2-4607-B7A7-57F6743329F0}" type="presOf" srcId="{A5824190-D51C-475A-BE26-D8CA92C2EB11}" destId="{607811E5-3DA8-45D2-A27A-FA8958E74D67}" srcOrd="0" destOrd="0" presId="urn:microsoft.com/office/officeart/2005/8/layout/vList2"/>
    <dgm:cxn modelId="{3313D953-3BE2-4FAC-A587-268EDC8F52ED}" srcId="{CA022318-BC40-401D-8E01-425A3665A8C4}" destId="{7AB46799-9BD7-44A2-9500-838ED8541F4D}" srcOrd="1" destOrd="0" parTransId="{8D55F9CE-6FB1-4E57-861F-63A2447709BE}" sibTransId="{ED42E623-C154-43DD-B26F-ABD04312DE05}"/>
    <dgm:cxn modelId="{4A303A83-4814-4B40-9688-271E826BCE76}" srcId="{CA022318-BC40-401D-8E01-425A3665A8C4}" destId="{DDA9C153-269F-4B0A-A661-EBBBD016C2E8}" srcOrd="0" destOrd="0" parTransId="{071E3247-12C1-4E5F-A594-732132862E25}" sibTransId="{347D9C2F-F683-4E82-85EE-7B925CC7B98E}"/>
    <dgm:cxn modelId="{121E7E8E-A21B-4A00-BABC-72CE430392D5}" type="presOf" srcId="{CA022318-BC40-401D-8E01-425A3665A8C4}" destId="{9944ADEE-080B-4A11-8D44-B216A259D1D4}" srcOrd="0" destOrd="0" presId="urn:microsoft.com/office/officeart/2005/8/layout/vList2"/>
    <dgm:cxn modelId="{1D7BAA90-D055-4CA0-BB16-050042A13108}" srcId="{7AB46799-9BD7-44A2-9500-838ED8541F4D}" destId="{3B29034E-EA39-4F9A-9E1D-AB27EACB0892}" srcOrd="0" destOrd="0" parTransId="{46A3FDC7-100F-4D76-9226-AFD7DB76EDE8}" sibTransId="{DFC6D062-150B-4120-84D5-B108611110DE}"/>
    <dgm:cxn modelId="{63FDF393-F2F4-4555-B1ED-64EC2085ACF5}" type="presOf" srcId="{DDA9C153-269F-4B0A-A661-EBBBD016C2E8}" destId="{6272FBB6-26BE-4BC4-AB9D-59262FF6E919}" srcOrd="0" destOrd="0" presId="urn:microsoft.com/office/officeart/2005/8/layout/vList2"/>
    <dgm:cxn modelId="{9B2AE8D4-BA69-4095-8E34-AE86C1951492}" type="presOf" srcId="{7AB46799-9BD7-44A2-9500-838ED8541F4D}" destId="{639A0EDA-58C6-49A1-ACF7-AA141ADFDBFA}" srcOrd="0" destOrd="0" presId="urn:microsoft.com/office/officeart/2005/8/layout/vList2"/>
    <dgm:cxn modelId="{445059D7-F0D7-4245-9A5B-D1FB066C4B4F}" srcId="{DDA9C153-269F-4B0A-A661-EBBBD016C2E8}" destId="{A5824190-D51C-475A-BE26-D8CA92C2EB11}" srcOrd="0" destOrd="0" parTransId="{8441652D-F5BD-4D2E-81B4-44E701667187}" sibTransId="{AAD0BCD3-D7F1-449A-B7F8-072A5D55C241}"/>
    <dgm:cxn modelId="{4CCC71BD-74B0-485B-A772-8B4EB852A7BE}" type="presParOf" srcId="{9944ADEE-080B-4A11-8D44-B216A259D1D4}" destId="{6272FBB6-26BE-4BC4-AB9D-59262FF6E919}" srcOrd="0" destOrd="0" presId="urn:microsoft.com/office/officeart/2005/8/layout/vList2"/>
    <dgm:cxn modelId="{9BB68DE3-9580-41EF-92DB-209BFAE95696}" type="presParOf" srcId="{9944ADEE-080B-4A11-8D44-B216A259D1D4}" destId="{607811E5-3DA8-45D2-A27A-FA8958E74D67}" srcOrd="1" destOrd="0" presId="urn:microsoft.com/office/officeart/2005/8/layout/vList2"/>
    <dgm:cxn modelId="{344363EC-53A6-4B86-9B1F-3725741ADA32}" type="presParOf" srcId="{9944ADEE-080B-4A11-8D44-B216A259D1D4}" destId="{639A0EDA-58C6-49A1-ACF7-AA141ADFDBFA}" srcOrd="2" destOrd="0" presId="urn:microsoft.com/office/officeart/2005/8/layout/vList2"/>
    <dgm:cxn modelId="{7A958C12-D049-4FD9-8739-B60438536628}" type="presParOf" srcId="{9944ADEE-080B-4A11-8D44-B216A259D1D4}" destId="{F1F13B47-4B90-4463-975E-9C86B7972056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CA207-0F0B-4BCA-B8F3-1D11452B2FBB}">
      <dsp:nvSpPr>
        <dsp:cNvPr id="0" name=""/>
        <dsp:cNvSpPr/>
      </dsp:nvSpPr>
      <dsp:spPr>
        <a:xfrm>
          <a:off x="0" y="102701"/>
          <a:ext cx="8770571" cy="8312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baseline="0"/>
            <a:t>Where do grey zone patients go across models?</a:t>
          </a:r>
          <a:r>
            <a:rPr lang="en-GB" sz="1400" b="0" kern="1200" baseline="0"/>
            <a:t> </a:t>
          </a:r>
          <a:endParaRPr lang="en-US" sz="1400" kern="1200"/>
        </a:p>
      </dsp:txBody>
      <dsp:txXfrm>
        <a:off x="40580" y="143281"/>
        <a:ext cx="8689411" cy="750125"/>
      </dsp:txXfrm>
    </dsp:sp>
    <dsp:sp modelId="{3EB8C936-AE97-4E15-92BD-D48A9A3547AB}">
      <dsp:nvSpPr>
        <dsp:cNvPr id="0" name=""/>
        <dsp:cNvSpPr/>
      </dsp:nvSpPr>
      <dsp:spPr>
        <a:xfrm>
          <a:off x="0" y="974306"/>
          <a:ext cx="8770571" cy="8312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baseline="0"/>
            <a:t>How are clusters composed in terms of grey zone vs non-grey zone patients?</a:t>
          </a:r>
          <a:r>
            <a:rPr lang="en-GB" sz="1400" b="0" kern="1200" baseline="0"/>
            <a:t> </a:t>
          </a:r>
          <a:endParaRPr lang="en-US" sz="1400" kern="1200"/>
        </a:p>
      </dsp:txBody>
      <dsp:txXfrm>
        <a:off x="40580" y="1014886"/>
        <a:ext cx="8689411" cy="750125"/>
      </dsp:txXfrm>
    </dsp:sp>
    <dsp:sp modelId="{1CC63E1D-5837-4F2C-BEB3-63C41AF22984}">
      <dsp:nvSpPr>
        <dsp:cNvPr id="0" name=""/>
        <dsp:cNvSpPr/>
      </dsp:nvSpPr>
      <dsp:spPr>
        <a:xfrm>
          <a:off x="0" y="1845912"/>
          <a:ext cx="8770571" cy="8312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baseline="0"/>
            <a:t>Are clusters driven by dataset origin (Coimbra and Lisbon) or by underlying biological structure?</a:t>
          </a:r>
          <a:r>
            <a:rPr lang="en-GB" sz="1400" b="0" kern="1200" baseline="0"/>
            <a:t> </a:t>
          </a:r>
          <a:endParaRPr lang="en-US" sz="1400" kern="1200"/>
        </a:p>
      </dsp:txBody>
      <dsp:txXfrm>
        <a:off x="40580" y="1886492"/>
        <a:ext cx="8689411" cy="750125"/>
      </dsp:txXfrm>
    </dsp:sp>
    <dsp:sp modelId="{BDBAA1C5-E841-49BB-8FC3-55B97E208D9C}">
      <dsp:nvSpPr>
        <dsp:cNvPr id="0" name=""/>
        <dsp:cNvSpPr/>
      </dsp:nvSpPr>
      <dsp:spPr>
        <a:xfrm>
          <a:off x="0" y="2717517"/>
          <a:ext cx="8770571" cy="8312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baseline="0"/>
            <a:t>Do ambiguous patients with K = 2 form a distinct third cluster?</a:t>
          </a:r>
          <a:r>
            <a:rPr lang="en-GB" sz="1400" b="0" kern="1200" baseline="0"/>
            <a:t> </a:t>
          </a:r>
          <a:endParaRPr lang="en-US" sz="1400" kern="1200"/>
        </a:p>
      </dsp:txBody>
      <dsp:txXfrm>
        <a:off x="40580" y="2758097"/>
        <a:ext cx="8689411" cy="7501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C63B2D-A702-4A53-92FE-ECD437BB7704}">
      <dsp:nvSpPr>
        <dsp:cNvPr id="0" name=""/>
        <dsp:cNvSpPr/>
      </dsp:nvSpPr>
      <dsp:spPr>
        <a:xfrm>
          <a:off x="7306" y="1050649"/>
          <a:ext cx="2183729" cy="13102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kern="1200" baseline="0"/>
            <a:t>K-means and Ward almost perfectly separate Lisbon and Coimbra patients </a:t>
          </a:r>
          <a:endParaRPr lang="en-US" sz="1200" kern="1200"/>
        </a:p>
      </dsp:txBody>
      <dsp:txXfrm>
        <a:off x="45682" y="1089025"/>
        <a:ext cx="2106977" cy="1233485"/>
      </dsp:txXfrm>
    </dsp:sp>
    <dsp:sp modelId="{8D91F3FB-456F-4794-9FFA-73EA451F4960}">
      <dsp:nvSpPr>
        <dsp:cNvPr id="0" name=""/>
        <dsp:cNvSpPr/>
      </dsp:nvSpPr>
      <dsp:spPr>
        <a:xfrm>
          <a:off x="2383204" y="1434986"/>
          <a:ext cx="462950" cy="5415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383204" y="1543299"/>
        <a:ext cx="324065" cy="324938"/>
      </dsp:txXfrm>
    </dsp:sp>
    <dsp:sp modelId="{62D44714-BB3D-4C0F-B5FB-01A1C2DA4BB8}">
      <dsp:nvSpPr>
        <dsp:cNvPr id="0" name=""/>
        <dsp:cNvSpPr/>
      </dsp:nvSpPr>
      <dsp:spPr>
        <a:xfrm>
          <a:off x="3064527" y="1050649"/>
          <a:ext cx="2183729" cy="13102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kern="1200" baseline="0"/>
            <a:t>NMF and spectral co-clustering show substantial dataset mixing </a:t>
          </a:r>
          <a:endParaRPr lang="en-US" sz="1200" kern="1200"/>
        </a:p>
      </dsp:txBody>
      <dsp:txXfrm>
        <a:off x="3102903" y="1089025"/>
        <a:ext cx="2106977" cy="1233485"/>
      </dsp:txXfrm>
    </dsp:sp>
    <dsp:sp modelId="{FDBFC58B-0962-4CF8-AF32-33BE9AFCC63F}">
      <dsp:nvSpPr>
        <dsp:cNvPr id="0" name=""/>
        <dsp:cNvSpPr/>
      </dsp:nvSpPr>
      <dsp:spPr>
        <a:xfrm>
          <a:off x="5440425" y="1434986"/>
          <a:ext cx="462950" cy="5415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440425" y="1543299"/>
        <a:ext cx="324065" cy="324938"/>
      </dsp:txXfrm>
    </dsp:sp>
    <dsp:sp modelId="{1C97FB80-93B4-4DEB-813C-1C627C6C9587}">
      <dsp:nvSpPr>
        <dsp:cNvPr id="0" name=""/>
        <dsp:cNvSpPr/>
      </dsp:nvSpPr>
      <dsp:spPr>
        <a:xfrm>
          <a:off x="6121749" y="1050649"/>
          <a:ext cx="2183729" cy="131023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kern="1200" baseline="0"/>
            <a:t>Perfect balance is not expected due to LC cohort imbalance</a:t>
          </a:r>
          <a:endParaRPr lang="en-US" sz="1200" kern="1200"/>
        </a:p>
      </dsp:txBody>
      <dsp:txXfrm>
        <a:off x="6160125" y="1089025"/>
        <a:ext cx="2106977" cy="12334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BE41C2-1A9F-4924-BF2B-83B310B64021}">
      <dsp:nvSpPr>
        <dsp:cNvPr id="0" name=""/>
        <dsp:cNvSpPr/>
      </dsp:nvSpPr>
      <dsp:spPr>
        <a:xfrm>
          <a:off x="0" y="3781929"/>
          <a:ext cx="5076826" cy="12413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0" kern="1200" baseline="0"/>
            <a:t>Next step </a:t>
          </a:r>
          <a:endParaRPr lang="en-US" sz="1800" kern="1200"/>
        </a:p>
      </dsp:txBody>
      <dsp:txXfrm>
        <a:off x="0" y="3781929"/>
        <a:ext cx="5076826" cy="670309"/>
      </dsp:txXfrm>
    </dsp:sp>
    <dsp:sp modelId="{77800694-9B7E-44D2-B401-2A5E58A6D353}">
      <dsp:nvSpPr>
        <dsp:cNvPr id="0" name=""/>
        <dsp:cNvSpPr/>
      </dsp:nvSpPr>
      <dsp:spPr>
        <a:xfrm>
          <a:off x="0" y="4427412"/>
          <a:ext cx="2538413" cy="5710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8890" rIns="49784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b="0" kern="1200" baseline="0"/>
            <a:t>A deeper biological comparison between k=2 and k=3 is required </a:t>
          </a:r>
          <a:endParaRPr lang="en-US" sz="700" kern="1200"/>
        </a:p>
      </dsp:txBody>
      <dsp:txXfrm>
        <a:off x="0" y="4427412"/>
        <a:ext cx="2538413" cy="571004"/>
      </dsp:txXfrm>
    </dsp:sp>
    <dsp:sp modelId="{7ECB4765-62AD-4DD0-A1B4-CCA7E469F00F}">
      <dsp:nvSpPr>
        <dsp:cNvPr id="0" name=""/>
        <dsp:cNvSpPr/>
      </dsp:nvSpPr>
      <dsp:spPr>
        <a:xfrm>
          <a:off x="2538413" y="4427412"/>
          <a:ext cx="2538413" cy="571004"/>
        </a:xfrm>
        <a:prstGeom prst="rect">
          <a:avLst/>
        </a:prstGeom>
        <a:solidFill>
          <a:schemeClr val="accent2">
            <a:tint val="40000"/>
            <a:alpha val="90000"/>
            <a:hueOff val="-141186"/>
            <a:satOff val="2765"/>
            <a:lumOff val="45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41186"/>
              <a:satOff val="2765"/>
              <a:lumOff val="4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8890" rIns="49784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b="0" kern="1200" baseline="0"/>
            <a:t>Pathway enrichment and biological interpretability will determine whether the third 	cluster reflects meaningful biology or clustering noise</a:t>
          </a:r>
          <a:endParaRPr lang="en-US" sz="700" kern="1200"/>
        </a:p>
      </dsp:txBody>
      <dsp:txXfrm>
        <a:off x="2538413" y="4427412"/>
        <a:ext cx="2538413" cy="571004"/>
      </dsp:txXfrm>
    </dsp:sp>
    <dsp:sp modelId="{E6504BF7-4895-4239-853C-6C21041418A4}">
      <dsp:nvSpPr>
        <dsp:cNvPr id="0" name=""/>
        <dsp:cNvSpPr/>
      </dsp:nvSpPr>
      <dsp:spPr>
        <a:xfrm rot="10800000">
          <a:off x="0" y="1891408"/>
          <a:ext cx="5076826" cy="1909140"/>
        </a:xfrm>
        <a:prstGeom prst="upArrowCallout">
          <a:avLst/>
        </a:prstGeom>
        <a:solidFill>
          <a:schemeClr val="accent2">
            <a:hueOff val="-398442"/>
            <a:satOff val="6385"/>
            <a:lumOff val="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0" kern="1200" baseline="0"/>
            <a:t>Interpretation </a:t>
          </a:r>
          <a:endParaRPr lang="en-US" sz="1800" kern="1200"/>
        </a:p>
      </dsp:txBody>
      <dsp:txXfrm rot="-10800000">
        <a:off x="0" y="1891408"/>
        <a:ext cx="5076826" cy="670108"/>
      </dsp:txXfrm>
    </dsp:sp>
    <dsp:sp modelId="{641CEA9B-CB5D-4258-B25A-A5895AEB8329}">
      <dsp:nvSpPr>
        <dsp:cNvPr id="0" name=""/>
        <dsp:cNvSpPr/>
      </dsp:nvSpPr>
      <dsp:spPr>
        <a:xfrm>
          <a:off x="0" y="2561516"/>
          <a:ext cx="2538413" cy="570832"/>
        </a:xfrm>
        <a:prstGeom prst="rect">
          <a:avLst/>
        </a:prstGeom>
        <a:solidFill>
          <a:schemeClr val="accent2">
            <a:tint val="40000"/>
            <a:alpha val="90000"/>
            <a:hueOff val="-282372"/>
            <a:satOff val="5529"/>
            <a:lumOff val="90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82372"/>
              <a:satOff val="5529"/>
              <a:lumOff val="90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8890" rIns="49784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b="0" kern="1200" baseline="0"/>
            <a:t>Current results support a bipartite structure (k=2) </a:t>
          </a:r>
          <a:endParaRPr lang="en-US" sz="700" kern="1200"/>
        </a:p>
      </dsp:txBody>
      <dsp:txXfrm>
        <a:off x="0" y="2561516"/>
        <a:ext cx="2538413" cy="570832"/>
      </dsp:txXfrm>
    </dsp:sp>
    <dsp:sp modelId="{F06D1917-180E-4AD0-B097-CB7FECF3F854}">
      <dsp:nvSpPr>
        <dsp:cNvPr id="0" name=""/>
        <dsp:cNvSpPr/>
      </dsp:nvSpPr>
      <dsp:spPr>
        <a:xfrm>
          <a:off x="2538413" y="2561516"/>
          <a:ext cx="2538413" cy="570832"/>
        </a:xfrm>
        <a:prstGeom prst="rect">
          <a:avLst/>
        </a:prstGeom>
        <a:solidFill>
          <a:schemeClr val="accent2">
            <a:tint val="40000"/>
            <a:alpha val="90000"/>
            <a:hueOff val="-423558"/>
            <a:satOff val="8294"/>
            <a:lumOff val="136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3558"/>
              <a:satOff val="8294"/>
              <a:lumOff val="13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8890" rIns="49784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b="0" kern="1200" baseline="0"/>
            <a:t>Greyzone patients may represent intermediate/transitional profiles rather 	than a distinct cluster. </a:t>
          </a:r>
          <a:endParaRPr lang="en-US" sz="700" kern="1200"/>
        </a:p>
      </dsp:txBody>
      <dsp:txXfrm>
        <a:off x="2538413" y="2561516"/>
        <a:ext cx="2538413" cy="570832"/>
      </dsp:txXfrm>
    </dsp:sp>
    <dsp:sp modelId="{B5111693-035D-484B-BF87-8D5E061B0B1C}">
      <dsp:nvSpPr>
        <dsp:cNvPr id="0" name=""/>
        <dsp:cNvSpPr/>
      </dsp:nvSpPr>
      <dsp:spPr>
        <a:xfrm rot="10800000">
          <a:off x="0" y="888"/>
          <a:ext cx="5076826" cy="1909140"/>
        </a:xfrm>
        <a:prstGeom prst="upArrowCallout">
          <a:avLst/>
        </a:prstGeom>
        <a:solidFill>
          <a:schemeClr val="accent2">
            <a:hueOff val="-796883"/>
            <a:satOff val="12770"/>
            <a:lumOff val="1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0" kern="1200" baseline="0"/>
            <a:t>Main observations </a:t>
          </a:r>
          <a:endParaRPr lang="en-US" sz="1800" kern="1200"/>
        </a:p>
      </dsp:txBody>
      <dsp:txXfrm rot="-10800000">
        <a:off x="0" y="888"/>
        <a:ext cx="5076826" cy="670108"/>
      </dsp:txXfrm>
    </dsp:sp>
    <dsp:sp modelId="{A4A63DB6-CBEF-4B3A-A551-B238107E2AC4}">
      <dsp:nvSpPr>
        <dsp:cNvPr id="0" name=""/>
        <dsp:cNvSpPr/>
      </dsp:nvSpPr>
      <dsp:spPr>
        <a:xfrm>
          <a:off x="2478" y="670996"/>
          <a:ext cx="1690622" cy="570832"/>
        </a:xfrm>
        <a:prstGeom prst="rect">
          <a:avLst/>
        </a:prstGeom>
        <a:solidFill>
          <a:schemeClr val="accent2">
            <a:tint val="40000"/>
            <a:alpha val="90000"/>
            <a:hueOff val="-564745"/>
            <a:satOff val="11059"/>
            <a:lumOff val="18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64745"/>
              <a:satOff val="11059"/>
              <a:lumOff val="18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8890" rIns="49784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b="0" kern="1200" baseline="0"/>
            <a:t>Greyzone patients identified at k=2 largely remain grey at k=3 </a:t>
          </a:r>
          <a:endParaRPr lang="en-US" sz="700" kern="1200"/>
        </a:p>
      </dsp:txBody>
      <dsp:txXfrm>
        <a:off x="2478" y="670996"/>
        <a:ext cx="1690622" cy="570832"/>
      </dsp:txXfrm>
    </dsp:sp>
    <dsp:sp modelId="{F839D945-90EE-44A1-9DB9-668ED66FEFDA}">
      <dsp:nvSpPr>
        <dsp:cNvPr id="0" name=""/>
        <dsp:cNvSpPr/>
      </dsp:nvSpPr>
      <dsp:spPr>
        <a:xfrm>
          <a:off x="1693101" y="670996"/>
          <a:ext cx="1690622" cy="570832"/>
        </a:xfrm>
        <a:prstGeom prst="rect">
          <a:avLst/>
        </a:prstGeom>
        <a:solidFill>
          <a:schemeClr val="accent2">
            <a:tint val="40000"/>
            <a:alpha val="90000"/>
            <a:hueOff val="-705931"/>
            <a:satOff val="13823"/>
            <a:lumOff val="226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05931"/>
              <a:satOff val="13823"/>
              <a:lumOff val="226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8890" rIns="49784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b="0" kern="1200" baseline="0"/>
            <a:t>Increasing cluster resolution does not produce a stable third 	subgroup </a:t>
          </a:r>
          <a:endParaRPr lang="en-US" sz="700" kern="1200"/>
        </a:p>
      </dsp:txBody>
      <dsp:txXfrm>
        <a:off x="1693101" y="670996"/>
        <a:ext cx="1690622" cy="570832"/>
      </dsp:txXfrm>
    </dsp:sp>
    <dsp:sp modelId="{3CDDFA51-8FE4-4C93-A47C-5184BEDD0603}">
      <dsp:nvSpPr>
        <dsp:cNvPr id="0" name=""/>
        <dsp:cNvSpPr/>
      </dsp:nvSpPr>
      <dsp:spPr>
        <a:xfrm>
          <a:off x="3383724" y="670996"/>
          <a:ext cx="1690622" cy="570832"/>
        </a:xfrm>
        <a:prstGeom prst="rect">
          <a:avLst/>
        </a:prstGeom>
        <a:solidFill>
          <a:schemeClr val="accent2">
            <a:tint val="40000"/>
            <a:alpha val="90000"/>
            <a:hueOff val="-847117"/>
            <a:satOff val="16588"/>
            <a:lumOff val="272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7117"/>
              <a:satOff val="16588"/>
              <a:lumOff val="27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8890" rIns="49784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b="0" kern="1200" baseline="0"/>
            <a:t>Membership confidence remains low/intermediate across runs</a:t>
          </a:r>
          <a:endParaRPr lang="en-US" sz="700" kern="1200"/>
        </a:p>
      </dsp:txBody>
      <dsp:txXfrm>
        <a:off x="3383724" y="670996"/>
        <a:ext cx="1690622" cy="5708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72FBB6-26BE-4BC4-AB9D-59262FF6E919}">
      <dsp:nvSpPr>
        <dsp:cNvPr id="0" name=""/>
        <dsp:cNvSpPr/>
      </dsp:nvSpPr>
      <dsp:spPr>
        <a:xfrm>
          <a:off x="0" y="460628"/>
          <a:ext cx="5076826" cy="8482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0" kern="1200" baseline="0"/>
            <a:t>Clinical characterization </a:t>
          </a:r>
          <a:endParaRPr lang="en-US" sz="2500" kern="1200"/>
        </a:p>
      </dsp:txBody>
      <dsp:txXfrm>
        <a:off x="41408" y="502036"/>
        <a:ext cx="4994010" cy="765434"/>
      </dsp:txXfrm>
    </dsp:sp>
    <dsp:sp modelId="{607811E5-3DA8-45D2-A27A-FA8958E74D67}">
      <dsp:nvSpPr>
        <dsp:cNvPr id="0" name=""/>
        <dsp:cNvSpPr/>
      </dsp:nvSpPr>
      <dsp:spPr>
        <a:xfrm>
          <a:off x="0" y="1308878"/>
          <a:ext cx="5076826" cy="142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189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b="0" kern="1200" baseline="0"/>
            <a:t>Compare demographic and clinical variables between 	Coimbra and Lisbon </a:t>
          </a:r>
          <a:endParaRPr lang="en-US" sz="2000" kern="1200"/>
        </a:p>
      </dsp:txBody>
      <dsp:txXfrm>
        <a:off x="0" y="1308878"/>
        <a:ext cx="5076826" cy="1423125"/>
      </dsp:txXfrm>
    </dsp:sp>
    <dsp:sp modelId="{639A0EDA-58C6-49A1-ACF7-AA141ADFDBFA}">
      <dsp:nvSpPr>
        <dsp:cNvPr id="0" name=""/>
        <dsp:cNvSpPr/>
      </dsp:nvSpPr>
      <dsp:spPr>
        <a:xfrm>
          <a:off x="0" y="2732003"/>
          <a:ext cx="5076826" cy="848250"/>
        </a:xfrm>
        <a:prstGeom prst="roundRect">
          <a:avLst/>
        </a:prstGeom>
        <a:solidFill>
          <a:schemeClr val="accent2">
            <a:hueOff val="-796883"/>
            <a:satOff val="12770"/>
            <a:lumOff val="1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0" kern="1200" baseline="0"/>
            <a:t>Proteomic differential analysis </a:t>
          </a:r>
          <a:endParaRPr lang="en-US" sz="2500" kern="1200"/>
        </a:p>
      </dsp:txBody>
      <dsp:txXfrm>
        <a:off x="41408" y="2773411"/>
        <a:ext cx="4994010" cy="765434"/>
      </dsp:txXfrm>
    </dsp:sp>
    <dsp:sp modelId="{F1F13B47-4B90-4463-975E-9C86B7972056}">
      <dsp:nvSpPr>
        <dsp:cNvPr id="0" name=""/>
        <dsp:cNvSpPr/>
      </dsp:nvSpPr>
      <dsp:spPr>
        <a:xfrm>
          <a:off x="0" y="3580253"/>
          <a:ext cx="5076826" cy="983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189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b="0" kern="1200" baseline="0"/>
            <a:t>Identify proteins differentially expressed between cohorts</a:t>
          </a:r>
          <a:endParaRPr lang="en-US" sz="2000" kern="1200"/>
        </a:p>
      </dsp:txBody>
      <dsp:txXfrm>
        <a:off x="0" y="3580253"/>
        <a:ext cx="5076826" cy="983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8790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185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5/17/2026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384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161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128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026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190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945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412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103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‹N›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922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27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DDEB2B0-E755-ACA2-B722-9D5002146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531" y="1346268"/>
            <a:ext cx="5274860" cy="3066706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3200" dirty="0"/>
              <a:t>Do Ambiguous Patients Form a Distinct Cluster? A Comparative Clustering Analysis</a:t>
            </a:r>
            <a:endParaRPr lang="en-GB" sz="30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9F9B7858-8ECC-4376-EE55-9EC398696B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12" r="27482" b="-1"/>
          <a:stretch>
            <a:fillRect/>
          </a:stretch>
        </p:blipFill>
        <p:spPr>
          <a:xfrm>
            <a:off x="7187979" y="10"/>
            <a:ext cx="5004021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0777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A1305C-7F11-2EA4-72D1-735B7BDD0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Distribution of Patient Assignment Confidence (NMF, k=2)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3E65F3F-1B1E-0847-9904-8B9B12B6A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44" y="3155907"/>
            <a:ext cx="3771905" cy="251460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63D3C45-A1C8-36DF-E163-AA66B6264C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047" y="3155906"/>
            <a:ext cx="3771905" cy="2514603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E31B902-B86E-D386-2E02-D7FE2B50D0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50" y="3155907"/>
            <a:ext cx="3771906" cy="251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739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6D7055-2F22-3F7A-DF38-83B11AB50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Distribution of Patient Assignment Confidence (NMF, k=2)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8A6E6CD2-A5F3-0230-6CCC-97BABB044A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3904659"/>
              </p:ext>
            </p:extLst>
          </p:nvPr>
        </p:nvGraphicFramePr>
        <p:xfrm>
          <a:off x="1920875" y="2312988"/>
          <a:ext cx="87693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337">
                  <a:extLst>
                    <a:ext uri="{9D8B030D-6E8A-4147-A177-3AD203B41FA5}">
                      <a16:colId xmlns:a16="http://schemas.microsoft.com/office/drawing/2014/main" val="819847407"/>
                    </a:ext>
                  </a:extLst>
                </a:gridCol>
                <a:gridCol w="2192337">
                  <a:extLst>
                    <a:ext uri="{9D8B030D-6E8A-4147-A177-3AD203B41FA5}">
                      <a16:colId xmlns:a16="http://schemas.microsoft.com/office/drawing/2014/main" val="4141960571"/>
                    </a:ext>
                  </a:extLst>
                </a:gridCol>
                <a:gridCol w="2192337">
                  <a:extLst>
                    <a:ext uri="{9D8B030D-6E8A-4147-A177-3AD203B41FA5}">
                      <a16:colId xmlns:a16="http://schemas.microsoft.com/office/drawing/2014/main" val="207961926"/>
                    </a:ext>
                  </a:extLst>
                </a:gridCol>
                <a:gridCol w="2192337">
                  <a:extLst>
                    <a:ext uri="{9D8B030D-6E8A-4147-A177-3AD203B41FA5}">
                      <a16:colId xmlns:a16="http://schemas.microsoft.com/office/drawing/2014/main" val="3581236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GREY ZONE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BORDERLINE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CLEAR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0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295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311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411597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119B22CD-7098-7910-C808-7899458731A7}"/>
              </a:ext>
            </a:extLst>
          </p:cNvPr>
          <p:cNvSpPr txBox="1"/>
          <p:nvPr/>
        </p:nvSpPr>
        <p:spPr>
          <a:xfrm>
            <a:off x="1919652" y="4050792"/>
            <a:ext cx="87705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NMF assignment confidence shows a substantial fraction of uncertain patients across datasets.</a:t>
            </a:r>
          </a:p>
          <a:p>
            <a:r>
              <a:rPr lang="en-GB" dirty="0">
                <a:solidFill>
                  <a:srgbClr val="FF0000"/>
                </a:solidFill>
              </a:rPr>
              <a:t>Grey zone</a:t>
            </a:r>
            <a:r>
              <a:rPr lang="en-GB" dirty="0"/>
              <a:t>: low confidence assignments </a:t>
            </a:r>
            <a:r>
              <a:rPr lang="en-GB" dirty="0">
                <a:solidFill>
                  <a:srgbClr val="FF0000"/>
                </a:solidFill>
              </a:rPr>
              <a:t>0.5-0.6</a:t>
            </a:r>
          </a:p>
          <a:p>
            <a:r>
              <a:rPr lang="en-GB" dirty="0">
                <a:solidFill>
                  <a:srgbClr val="FF0000"/>
                </a:solidFill>
              </a:rPr>
              <a:t>Borderline</a:t>
            </a:r>
            <a:r>
              <a:rPr lang="en-GB" dirty="0"/>
              <a:t>: moderate confidence </a:t>
            </a:r>
            <a:r>
              <a:rPr lang="en-GB" dirty="0">
                <a:solidFill>
                  <a:srgbClr val="FF0000"/>
                </a:solidFill>
              </a:rPr>
              <a:t>0.6-0.7</a:t>
            </a:r>
          </a:p>
          <a:p>
            <a:r>
              <a:rPr lang="en-GB" dirty="0">
                <a:solidFill>
                  <a:srgbClr val="FF0000"/>
                </a:solidFill>
              </a:rPr>
              <a:t>Clear</a:t>
            </a:r>
            <a:r>
              <a:rPr lang="en-GB" dirty="0"/>
              <a:t>: strong cluster assignment </a:t>
            </a:r>
            <a:r>
              <a:rPr lang="en-GB" dirty="0">
                <a:solidFill>
                  <a:srgbClr val="FF0000"/>
                </a:solidFill>
              </a:rPr>
              <a:t>&gt;0.7</a:t>
            </a:r>
          </a:p>
          <a:p>
            <a:endParaRPr lang="en-GB" dirty="0">
              <a:solidFill>
                <a:srgbClr val="FF0000"/>
              </a:solidFill>
            </a:endParaRPr>
          </a:p>
          <a:p>
            <a:r>
              <a:rPr lang="en-GB" dirty="0"/>
              <a:t>Including borderline patients would capture a large portion of the cohort</a:t>
            </a:r>
          </a:p>
          <a:p>
            <a:r>
              <a:rPr lang="en-GB" dirty="0"/>
              <a:t>We therefore focus on the most ambiguous group (grey zone)</a:t>
            </a:r>
          </a:p>
          <a:p>
            <a:r>
              <a:rPr lang="en-GB" dirty="0">
                <a:solidFill>
                  <a:srgbClr val="FF0000"/>
                </a:solidFill>
              </a:rPr>
              <a:t>LC 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 11 Coimbra --- 27 Lisbon</a:t>
            </a:r>
            <a:endParaRPr lang="en-GB" dirty="0">
              <a:solidFill>
                <a:srgbClr val="FF0000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0227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678C0A-7201-48CE-0E98-625FDEEA4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Key Questions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E8EF23E2-209C-C4AF-E706-375F50E11E9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20240" y="2312276"/>
          <a:ext cx="8770571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4110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400C79-6E5E-51BA-3634-E43BC2B15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K-means Assignment of Grey Zone Patients (K = 2)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E3555256-1278-EC8C-2165-225150C71E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4446813"/>
              </p:ext>
            </p:extLst>
          </p:nvPr>
        </p:nvGraphicFramePr>
        <p:xfrm>
          <a:off x="108155" y="2312988"/>
          <a:ext cx="11975689" cy="1911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658">
                  <a:extLst>
                    <a:ext uri="{9D8B030D-6E8A-4147-A177-3AD203B41FA5}">
                      <a16:colId xmlns:a16="http://schemas.microsoft.com/office/drawing/2014/main" val="1571705578"/>
                    </a:ext>
                  </a:extLst>
                </a:gridCol>
                <a:gridCol w="2477729">
                  <a:extLst>
                    <a:ext uri="{9D8B030D-6E8A-4147-A177-3AD203B41FA5}">
                      <a16:colId xmlns:a16="http://schemas.microsoft.com/office/drawing/2014/main" val="3600087819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4259875678"/>
                    </a:ext>
                  </a:extLst>
                </a:gridCol>
                <a:gridCol w="2556387">
                  <a:extLst>
                    <a:ext uri="{9D8B030D-6E8A-4147-A177-3AD203B41FA5}">
                      <a16:colId xmlns:a16="http://schemas.microsoft.com/office/drawing/2014/main" val="2315084362"/>
                    </a:ext>
                  </a:extLst>
                </a:gridCol>
                <a:gridCol w="2556386">
                  <a:extLst>
                    <a:ext uri="{9D8B030D-6E8A-4147-A177-3AD203B41FA5}">
                      <a16:colId xmlns:a16="http://schemas.microsoft.com/office/drawing/2014/main" val="2153026124"/>
                    </a:ext>
                  </a:extLst>
                </a:gridCol>
              </a:tblGrid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grey patients within each cluster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Distribution of grey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773095"/>
                  </a:ext>
                </a:extLst>
              </a:tr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13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36%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3.2%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11.6%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6.1%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rgbClr val="00B0F0"/>
                          </a:solidFill>
                        </a:rPr>
                        <a:t>77.2%</a:t>
                      </a:r>
                      <a:r>
                        <a:rPr lang="en-GB" sz="1800" b="0" i="0" kern="1200" dirty="0">
                          <a:solidFill>
                            <a:srgbClr val="00B0F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±13.3%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22.8%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±13.3%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799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41.4%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2%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48.3%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1.6%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40.9%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3.5%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59.1%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3.5%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84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60.0%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50.0%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rgbClr val="00B0F0"/>
                          </a:solidFill>
                        </a:rPr>
                        <a:t>71.1% </a:t>
                      </a:r>
                      <a:r>
                        <a:rPr lang="en-GB" sz="1800" b="0" i="0" kern="1200" dirty="0">
                          <a:solidFill>
                            <a:srgbClr val="00B0F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28.9%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44217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9BA31087-200D-D631-BE7C-D5A0BE4E8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060382"/>
              </p:ext>
            </p:extLst>
          </p:nvPr>
        </p:nvGraphicFramePr>
        <p:xfrm>
          <a:off x="229189" y="4749601"/>
          <a:ext cx="60763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084">
                  <a:extLst>
                    <a:ext uri="{9D8B030D-6E8A-4147-A177-3AD203B41FA5}">
                      <a16:colId xmlns:a16="http://schemas.microsoft.com/office/drawing/2014/main" val="2096662493"/>
                    </a:ext>
                  </a:extLst>
                </a:gridCol>
                <a:gridCol w="1519084">
                  <a:extLst>
                    <a:ext uri="{9D8B030D-6E8A-4147-A177-3AD203B41FA5}">
                      <a16:colId xmlns:a16="http://schemas.microsoft.com/office/drawing/2014/main" val="3137873874"/>
                    </a:ext>
                  </a:extLst>
                </a:gridCol>
                <a:gridCol w="1519084">
                  <a:extLst>
                    <a:ext uri="{9D8B030D-6E8A-4147-A177-3AD203B41FA5}">
                      <a16:colId xmlns:a16="http://schemas.microsoft.com/office/drawing/2014/main" val="454521972"/>
                    </a:ext>
                  </a:extLst>
                </a:gridCol>
                <a:gridCol w="1519084">
                  <a:extLst>
                    <a:ext uri="{9D8B030D-6E8A-4147-A177-3AD203B41FA5}">
                      <a16:colId xmlns:a16="http://schemas.microsoft.com/office/drawing/2014/main" val="178908646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composition dataset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316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CUSTER 1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it-IT" dirty="0"/>
                        <a:t>CLUSTER 2 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9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86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741940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6CB0A051-0E3A-1254-291E-444D26EE6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679051"/>
              </p:ext>
            </p:extLst>
          </p:nvPr>
        </p:nvGraphicFramePr>
        <p:xfrm>
          <a:off x="6705924" y="4551147"/>
          <a:ext cx="5096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885">
                  <a:extLst>
                    <a:ext uri="{9D8B030D-6E8A-4147-A177-3AD203B41FA5}">
                      <a16:colId xmlns:a16="http://schemas.microsoft.com/office/drawing/2014/main" val="3067803531"/>
                    </a:ext>
                  </a:extLst>
                </a:gridCol>
                <a:gridCol w="1698885">
                  <a:extLst>
                    <a:ext uri="{9D8B030D-6E8A-4147-A177-3AD203B41FA5}">
                      <a16:colId xmlns:a16="http://schemas.microsoft.com/office/drawing/2014/main" val="2197233408"/>
                    </a:ext>
                  </a:extLst>
                </a:gridCol>
                <a:gridCol w="1698885">
                  <a:extLst>
                    <a:ext uri="{9D8B030D-6E8A-4147-A177-3AD203B41FA5}">
                      <a16:colId xmlns:a16="http://schemas.microsoft.com/office/drawing/2014/main" val="2931522495"/>
                    </a:ext>
                  </a:extLst>
                </a:gridCol>
              </a:tblGrid>
              <a:tr h="21877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umber of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73279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2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301865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421807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90641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22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86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309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F7A5CA-B83D-903F-1F90-A0C175FBD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Ward Assignment of Grey Zone Patients (K = 2)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A2BDD02D-A155-6E6B-1E8D-9551AB4E06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4910451"/>
              </p:ext>
            </p:extLst>
          </p:nvPr>
        </p:nvGraphicFramePr>
        <p:xfrm>
          <a:off x="108155" y="2312988"/>
          <a:ext cx="11975689" cy="1911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658">
                  <a:extLst>
                    <a:ext uri="{9D8B030D-6E8A-4147-A177-3AD203B41FA5}">
                      <a16:colId xmlns:a16="http://schemas.microsoft.com/office/drawing/2014/main" val="1571705578"/>
                    </a:ext>
                  </a:extLst>
                </a:gridCol>
                <a:gridCol w="2477729">
                  <a:extLst>
                    <a:ext uri="{9D8B030D-6E8A-4147-A177-3AD203B41FA5}">
                      <a16:colId xmlns:a16="http://schemas.microsoft.com/office/drawing/2014/main" val="3600087819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4259875678"/>
                    </a:ext>
                  </a:extLst>
                </a:gridCol>
                <a:gridCol w="2556387">
                  <a:extLst>
                    <a:ext uri="{9D8B030D-6E8A-4147-A177-3AD203B41FA5}">
                      <a16:colId xmlns:a16="http://schemas.microsoft.com/office/drawing/2014/main" val="2315084362"/>
                    </a:ext>
                  </a:extLst>
                </a:gridCol>
                <a:gridCol w="2556386">
                  <a:extLst>
                    <a:ext uri="{9D8B030D-6E8A-4147-A177-3AD203B41FA5}">
                      <a16:colId xmlns:a16="http://schemas.microsoft.com/office/drawing/2014/main" val="2153026124"/>
                    </a:ext>
                  </a:extLst>
                </a:gridCol>
              </a:tblGrid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grey patients within each cluster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Distribution of grey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773095"/>
                  </a:ext>
                </a:extLst>
              </a:tr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13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31.2%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B0F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  <a:endParaRPr lang="en-GB" sz="1800" b="0" i="0" kern="1200" dirty="0">
                        <a:solidFill>
                          <a:srgbClr val="00B0F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799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57.7%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B0F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78.9%</a:t>
                      </a:r>
                      <a:endParaRPr lang="en-GB" sz="1800" b="0" i="0" kern="1200" dirty="0">
                        <a:solidFill>
                          <a:srgbClr val="00B0F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21.1%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84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60.9%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47.6%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rgbClr val="00B0F0"/>
                          </a:solidFill>
                        </a:rPr>
                        <a:t>73.7%</a:t>
                      </a:r>
                      <a:endParaRPr lang="en-GB" sz="1800" b="0" i="0" kern="1200" dirty="0">
                        <a:solidFill>
                          <a:srgbClr val="00B0F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26.3%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44217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D0A8341B-035C-2260-178C-CB7112300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714933"/>
              </p:ext>
            </p:extLst>
          </p:nvPr>
        </p:nvGraphicFramePr>
        <p:xfrm>
          <a:off x="229189" y="4723867"/>
          <a:ext cx="60763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084">
                  <a:extLst>
                    <a:ext uri="{9D8B030D-6E8A-4147-A177-3AD203B41FA5}">
                      <a16:colId xmlns:a16="http://schemas.microsoft.com/office/drawing/2014/main" val="1720662488"/>
                    </a:ext>
                  </a:extLst>
                </a:gridCol>
                <a:gridCol w="1519084">
                  <a:extLst>
                    <a:ext uri="{9D8B030D-6E8A-4147-A177-3AD203B41FA5}">
                      <a16:colId xmlns:a16="http://schemas.microsoft.com/office/drawing/2014/main" val="3923030987"/>
                    </a:ext>
                  </a:extLst>
                </a:gridCol>
                <a:gridCol w="1519084">
                  <a:extLst>
                    <a:ext uri="{9D8B030D-6E8A-4147-A177-3AD203B41FA5}">
                      <a16:colId xmlns:a16="http://schemas.microsoft.com/office/drawing/2014/main" val="3491882620"/>
                    </a:ext>
                  </a:extLst>
                </a:gridCol>
                <a:gridCol w="1519084">
                  <a:extLst>
                    <a:ext uri="{9D8B030D-6E8A-4147-A177-3AD203B41FA5}">
                      <a16:colId xmlns:a16="http://schemas.microsoft.com/office/drawing/2014/main" val="809955666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composition dataset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53203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CUSTER 1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it-IT" dirty="0"/>
                        <a:t>CLUSTER 2 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033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089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2.2%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97.8%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871700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520BC992-361F-4C13-6C84-A50BC0FBE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566183"/>
              </p:ext>
            </p:extLst>
          </p:nvPr>
        </p:nvGraphicFramePr>
        <p:xfrm>
          <a:off x="6705924" y="4551147"/>
          <a:ext cx="5096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885">
                  <a:extLst>
                    <a:ext uri="{9D8B030D-6E8A-4147-A177-3AD203B41FA5}">
                      <a16:colId xmlns:a16="http://schemas.microsoft.com/office/drawing/2014/main" val="3067803531"/>
                    </a:ext>
                  </a:extLst>
                </a:gridCol>
                <a:gridCol w="1698885">
                  <a:extLst>
                    <a:ext uri="{9D8B030D-6E8A-4147-A177-3AD203B41FA5}">
                      <a16:colId xmlns:a16="http://schemas.microsoft.com/office/drawing/2014/main" val="2197233408"/>
                    </a:ext>
                  </a:extLst>
                </a:gridCol>
                <a:gridCol w="1698885">
                  <a:extLst>
                    <a:ext uri="{9D8B030D-6E8A-4147-A177-3AD203B41FA5}">
                      <a16:colId xmlns:a16="http://schemas.microsoft.com/office/drawing/2014/main" val="2931522495"/>
                    </a:ext>
                  </a:extLst>
                </a:gridCol>
              </a:tblGrid>
              <a:tr h="21877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umber of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73279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2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301865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421807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16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90641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86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86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5D336B-42BD-6A53-CFDB-1352E33F6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Spectral Assignment of Grey Zone Patients (K = 2)</a:t>
            </a:r>
          </a:p>
        </p:txBody>
      </p:sp>
      <p:graphicFrame>
        <p:nvGraphicFramePr>
          <p:cNvPr id="5" name="Segnaposto contenuto 3">
            <a:extLst>
              <a:ext uri="{FF2B5EF4-FFF2-40B4-BE49-F238E27FC236}">
                <a16:creationId xmlns:a16="http://schemas.microsoft.com/office/drawing/2014/main" id="{E8DC1C82-DC1B-E663-67A8-13FFC1A4A3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0975371"/>
              </p:ext>
            </p:extLst>
          </p:nvPr>
        </p:nvGraphicFramePr>
        <p:xfrm>
          <a:off x="108155" y="2417178"/>
          <a:ext cx="11975689" cy="1911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658">
                  <a:extLst>
                    <a:ext uri="{9D8B030D-6E8A-4147-A177-3AD203B41FA5}">
                      <a16:colId xmlns:a16="http://schemas.microsoft.com/office/drawing/2014/main" val="1571705578"/>
                    </a:ext>
                  </a:extLst>
                </a:gridCol>
                <a:gridCol w="2477729">
                  <a:extLst>
                    <a:ext uri="{9D8B030D-6E8A-4147-A177-3AD203B41FA5}">
                      <a16:colId xmlns:a16="http://schemas.microsoft.com/office/drawing/2014/main" val="3600087819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4259875678"/>
                    </a:ext>
                  </a:extLst>
                </a:gridCol>
                <a:gridCol w="2556387">
                  <a:extLst>
                    <a:ext uri="{9D8B030D-6E8A-4147-A177-3AD203B41FA5}">
                      <a16:colId xmlns:a16="http://schemas.microsoft.com/office/drawing/2014/main" val="2315084362"/>
                    </a:ext>
                  </a:extLst>
                </a:gridCol>
                <a:gridCol w="2556386">
                  <a:extLst>
                    <a:ext uri="{9D8B030D-6E8A-4147-A177-3AD203B41FA5}">
                      <a16:colId xmlns:a16="http://schemas.microsoft.com/office/drawing/2014/main" val="2153026124"/>
                    </a:ext>
                  </a:extLst>
                </a:gridCol>
              </a:tblGrid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grey patients within each cluster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Distribution of grey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773095"/>
                  </a:ext>
                </a:extLst>
              </a:tr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13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33.3%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18.2%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60%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40%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799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47.8%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42.1%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1.6%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57.9%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42.1%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84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67.4%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37.5%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rgbClr val="00B0F0"/>
                          </a:solidFill>
                        </a:rPr>
                        <a:t>76.3% </a:t>
                      </a:r>
                      <a:r>
                        <a:rPr lang="en-GB" sz="1800" b="0" i="0" kern="1200" dirty="0">
                          <a:solidFill>
                            <a:srgbClr val="00B0F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23.7%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44217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8CB87C80-DD41-D255-627E-7A7F8B3ECA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758901"/>
              </p:ext>
            </p:extLst>
          </p:nvPr>
        </p:nvGraphicFramePr>
        <p:xfrm>
          <a:off x="229189" y="4723867"/>
          <a:ext cx="60763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084">
                  <a:extLst>
                    <a:ext uri="{9D8B030D-6E8A-4147-A177-3AD203B41FA5}">
                      <a16:colId xmlns:a16="http://schemas.microsoft.com/office/drawing/2014/main" val="2096662493"/>
                    </a:ext>
                  </a:extLst>
                </a:gridCol>
                <a:gridCol w="1519084">
                  <a:extLst>
                    <a:ext uri="{9D8B030D-6E8A-4147-A177-3AD203B41FA5}">
                      <a16:colId xmlns:a16="http://schemas.microsoft.com/office/drawing/2014/main" val="3137873874"/>
                    </a:ext>
                  </a:extLst>
                </a:gridCol>
                <a:gridCol w="1519084">
                  <a:extLst>
                    <a:ext uri="{9D8B030D-6E8A-4147-A177-3AD203B41FA5}">
                      <a16:colId xmlns:a16="http://schemas.microsoft.com/office/drawing/2014/main" val="454521972"/>
                    </a:ext>
                  </a:extLst>
                </a:gridCol>
                <a:gridCol w="1519084">
                  <a:extLst>
                    <a:ext uri="{9D8B030D-6E8A-4147-A177-3AD203B41FA5}">
                      <a16:colId xmlns:a16="http://schemas.microsoft.com/office/drawing/2014/main" val="178908646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composition dataset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316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CUSTER 1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it-IT" dirty="0"/>
                        <a:t>CLUSTER 2 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59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86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75%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25%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9.3%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90.7%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741940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659C28F0-ABBF-A079-7087-3713CC062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207910"/>
              </p:ext>
            </p:extLst>
          </p:nvPr>
        </p:nvGraphicFramePr>
        <p:xfrm>
          <a:off x="6705924" y="4551147"/>
          <a:ext cx="5096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885">
                  <a:extLst>
                    <a:ext uri="{9D8B030D-6E8A-4147-A177-3AD203B41FA5}">
                      <a16:colId xmlns:a16="http://schemas.microsoft.com/office/drawing/2014/main" val="3067803531"/>
                    </a:ext>
                  </a:extLst>
                </a:gridCol>
                <a:gridCol w="1698885">
                  <a:extLst>
                    <a:ext uri="{9D8B030D-6E8A-4147-A177-3AD203B41FA5}">
                      <a16:colId xmlns:a16="http://schemas.microsoft.com/office/drawing/2014/main" val="2197233408"/>
                    </a:ext>
                  </a:extLst>
                </a:gridCol>
                <a:gridCol w="1698885">
                  <a:extLst>
                    <a:ext uri="{9D8B030D-6E8A-4147-A177-3AD203B41FA5}">
                      <a16:colId xmlns:a16="http://schemas.microsoft.com/office/drawing/2014/main" val="2931522495"/>
                    </a:ext>
                  </a:extLst>
                </a:gridCol>
              </a:tblGrid>
              <a:tr h="21877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umber of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73279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2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301865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421807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90641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86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667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D2B693-89D3-3661-A246-4792A1DA2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Spectral Co-Clustering Assignment of Grey Zone Patients (K = 2)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13EA03F4-0F28-D39F-2E71-103DCCE384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9579895"/>
              </p:ext>
            </p:extLst>
          </p:nvPr>
        </p:nvGraphicFramePr>
        <p:xfrm>
          <a:off x="108155" y="2312988"/>
          <a:ext cx="11975689" cy="1911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658">
                  <a:extLst>
                    <a:ext uri="{9D8B030D-6E8A-4147-A177-3AD203B41FA5}">
                      <a16:colId xmlns:a16="http://schemas.microsoft.com/office/drawing/2014/main" val="1571705578"/>
                    </a:ext>
                  </a:extLst>
                </a:gridCol>
                <a:gridCol w="2477729">
                  <a:extLst>
                    <a:ext uri="{9D8B030D-6E8A-4147-A177-3AD203B41FA5}">
                      <a16:colId xmlns:a16="http://schemas.microsoft.com/office/drawing/2014/main" val="3600087819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4259875678"/>
                    </a:ext>
                  </a:extLst>
                </a:gridCol>
                <a:gridCol w="2556387">
                  <a:extLst>
                    <a:ext uri="{9D8B030D-6E8A-4147-A177-3AD203B41FA5}">
                      <a16:colId xmlns:a16="http://schemas.microsoft.com/office/drawing/2014/main" val="2315084362"/>
                    </a:ext>
                  </a:extLst>
                </a:gridCol>
                <a:gridCol w="2556386">
                  <a:extLst>
                    <a:ext uri="{9D8B030D-6E8A-4147-A177-3AD203B41FA5}">
                      <a16:colId xmlns:a16="http://schemas.microsoft.com/office/drawing/2014/main" val="2153026124"/>
                    </a:ext>
                  </a:extLst>
                </a:gridCol>
              </a:tblGrid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grey patients within each cluster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Distribution of grey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773095"/>
                  </a:ext>
                </a:extLst>
              </a:tr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13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20%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30%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799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50%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38.9%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63.2%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36.8%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84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48.3%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63.2%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36.8%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8.1%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63.2%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44217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44FA0B78-2F28-263F-F45A-E7D2E61A0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038911"/>
              </p:ext>
            </p:extLst>
          </p:nvPr>
        </p:nvGraphicFramePr>
        <p:xfrm>
          <a:off x="229189" y="4723867"/>
          <a:ext cx="60763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084">
                  <a:extLst>
                    <a:ext uri="{9D8B030D-6E8A-4147-A177-3AD203B41FA5}">
                      <a16:colId xmlns:a16="http://schemas.microsoft.com/office/drawing/2014/main" val="1136702745"/>
                    </a:ext>
                  </a:extLst>
                </a:gridCol>
                <a:gridCol w="1519084">
                  <a:extLst>
                    <a:ext uri="{9D8B030D-6E8A-4147-A177-3AD203B41FA5}">
                      <a16:colId xmlns:a16="http://schemas.microsoft.com/office/drawing/2014/main" val="207066501"/>
                    </a:ext>
                  </a:extLst>
                </a:gridCol>
                <a:gridCol w="1519084">
                  <a:extLst>
                    <a:ext uri="{9D8B030D-6E8A-4147-A177-3AD203B41FA5}">
                      <a16:colId xmlns:a16="http://schemas.microsoft.com/office/drawing/2014/main" val="508139938"/>
                    </a:ext>
                  </a:extLst>
                </a:gridCol>
                <a:gridCol w="1519084">
                  <a:extLst>
                    <a:ext uri="{9D8B030D-6E8A-4147-A177-3AD203B41FA5}">
                      <a16:colId xmlns:a16="http://schemas.microsoft.com/office/drawing/2014/main" val="1431745229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composition dataset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29676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CUSTER 1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it-IT" dirty="0"/>
                        <a:t>CLUSTER 2 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527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55.2%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44.8%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15.8%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84.2%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751845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E52F5080-056C-F720-94E5-6E6744156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75902"/>
              </p:ext>
            </p:extLst>
          </p:nvPr>
        </p:nvGraphicFramePr>
        <p:xfrm>
          <a:off x="6705924" y="4551147"/>
          <a:ext cx="5096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885">
                  <a:extLst>
                    <a:ext uri="{9D8B030D-6E8A-4147-A177-3AD203B41FA5}">
                      <a16:colId xmlns:a16="http://schemas.microsoft.com/office/drawing/2014/main" val="3067803531"/>
                    </a:ext>
                  </a:extLst>
                </a:gridCol>
                <a:gridCol w="1698885">
                  <a:extLst>
                    <a:ext uri="{9D8B030D-6E8A-4147-A177-3AD203B41FA5}">
                      <a16:colId xmlns:a16="http://schemas.microsoft.com/office/drawing/2014/main" val="2197233408"/>
                    </a:ext>
                  </a:extLst>
                </a:gridCol>
                <a:gridCol w="1698885">
                  <a:extLst>
                    <a:ext uri="{9D8B030D-6E8A-4147-A177-3AD203B41FA5}">
                      <a16:colId xmlns:a16="http://schemas.microsoft.com/office/drawing/2014/main" val="2931522495"/>
                    </a:ext>
                  </a:extLst>
                </a:gridCol>
              </a:tblGrid>
              <a:tr h="21877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umber of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73279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2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301865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421807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90641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29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86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4892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8EBF32-9F83-9B5D-BD9B-693B5A65C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NMF Assignment of Grey Zone Patients (K = 2)</a:t>
            </a:r>
          </a:p>
        </p:txBody>
      </p:sp>
      <p:graphicFrame>
        <p:nvGraphicFramePr>
          <p:cNvPr id="7" name="Segnaposto contenuto 3">
            <a:extLst>
              <a:ext uri="{FF2B5EF4-FFF2-40B4-BE49-F238E27FC236}">
                <a16:creationId xmlns:a16="http://schemas.microsoft.com/office/drawing/2014/main" id="{9537E654-7B5E-EA0C-C28C-3B1A9BBF6C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2385940"/>
              </p:ext>
            </p:extLst>
          </p:nvPr>
        </p:nvGraphicFramePr>
        <p:xfrm>
          <a:off x="108155" y="2312988"/>
          <a:ext cx="11975689" cy="1911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658">
                  <a:extLst>
                    <a:ext uri="{9D8B030D-6E8A-4147-A177-3AD203B41FA5}">
                      <a16:colId xmlns:a16="http://schemas.microsoft.com/office/drawing/2014/main" val="1571705578"/>
                    </a:ext>
                  </a:extLst>
                </a:gridCol>
                <a:gridCol w="2477729">
                  <a:extLst>
                    <a:ext uri="{9D8B030D-6E8A-4147-A177-3AD203B41FA5}">
                      <a16:colId xmlns:a16="http://schemas.microsoft.com/office/drawing/2014/main" val="3600087819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4259875678"/>
                    </a:ext>
                  </a:extLst>
                </a:gridCol>
                <a:gridCol w="2556387">
                  <a:extLst>
                    <a:ext uri="{9D8B030D-6E8A-4147-A177-3AD203B41FA5}">
                      <a16:colId xmlns:a16="http://schemas.microsoft.com/office/drawing/2014/main" val="2315084362"/>
                    </a:ext>
                  </a:extLst>
                </a:gridCol>
                <a:gridCol w="2556386">
                  <a:extLst>
                    <a:ext uri="{9D8B030D-6E8A-4147-A177-3AD203B41FA5}">
                      <a16:colId xmlns:a16="http://schemas.microsoft.com/office/drawing/2014/main" val="2153026124"/>
                    </a:ext>
                  </a:extLst>
                </a:gridCol>
              </a:tblGrid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grey patients within each cluster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Distribution of grey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773095"/>
                  </a:ext>
                </a:extLst>
              </a:tr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13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35.7%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12.8%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0%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B0F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  <a:endParaRPr lang="en-GB" sz="1800" b="0" i="0" kern="1200" dirty="0">
                        <a:solidFill>
                          <a:srgbClr val="00B0F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799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33.3%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11.1%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54.2%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10.2%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31.6%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10.7%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68.4%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10.7%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84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54.5%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8.7%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58.8%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8.4%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47.4%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8.1%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52.6%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 8.1%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44217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102FED9F-C697-92E6-D5FE-06E1757E5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568761"/>
              </p:ext>
            </p:extLst>
          </p:nvPr>
        </p:nvGraphicFramePr>
        <p:xfrm>
          <a:off x="229189" y="4749601"/>
          <a:ext cx="60763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084">
                  <a:extLst>
                    <a:ext uri="{9D8B030D-6E8A-4147-A177-3AD203B41FA5}">
                      <a16:colId xmlns:a16="http://schemas.microsoft.com/office/drawing/2014/main" val="1136702745"/>
                    </a:ext>
                  </a:extLst>
                </a:gridCol>
                <a:gridCol w="1519084">
                  <a:extLst>
                    <a:ext uri="{9D8B030D-6E8A-4147-A177-3AD203B41FA5}">
                      <a16:colId xmlns:a16="http://schemas.microsoft.com/office/drawing/2014/main" val="207066501"/>
                    </a:ext>
                  </a:extLst>
                </a:gridCol>
                <a:gridCol w="1519084">
                  <a:extLst>
                    <a:ext uri="{9D8B030D-6E8A-4147-A177-3AD203B41FA5}">
                      <a16:colId xmlns:a16="http://schemas.microsoft.com/office/drawing/2014/main" val="508139938"/>
                    </a:ext>
                  </a:extLst>
                </a:gridCol>
                <a:gridCol w="1519084">
                  <a:extLst>
                    <a:ext uri="{9D8B030D-6E8A-4147-A177-3AD203B41FA5}">
                      <a16:colId xmlns:a16="http://schemas.microsoft.com/office/drawing/2014/main" val="1431745229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composition dataset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29676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CUSTER 1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it-IT" dirty="0"/>
                        <a:t>CLUSTER 2 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527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51.5%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48.5%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14.7%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85.3%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751845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3624E187-5750-17A6-F391-871B17CD3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717666"/>
              </p:ext>
            </p:extLst>
          </p:nvPr>
        </p:nvGraphicFramePr>
        <p:xfrm>
          <a:off x="6705924" y="4551147"/>
          <a:ext cx="5096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885">
                  <a:extLst>
                    <a:ext uri="{9D8B030D-6E8A-4147-A177-3AD203B41FA5}">
                      <a16:colId xmlns:a16="http://schemas.microsoft.com/office/drawing/2014/main" val="3067803531"/>
                    </a:ext>
                  </a:extLst>
                </a:gridCol>
                <a:gridCol w="1698885">
                  <a:extLst>
                    <a:ext uri="{9D8B030D-6E8A-4147-A177-3AD203B41FA5}">
                      <a16:colId xmlns:a16="http://schemas.microsoft.com/office/drawing/2014/main" val="2197233408"/>
                    </a:ext>
                  </a:extLst>
                </a:gridCol>
                <a:gridCol w="1698885">
                  <a:extLst>
                    <a:ext uri="{9D8B030D-6E8A-4147-A177-3AD203B41FA5}">
                      <a16:colId xmlns:a16="http://schemas.microsoft.com/office/drawing/2014/main" val="2931522495"/>
                    </a:ext>
                  </a:extLst>
                </a:gridCol>
              </a:tblGrid>
              <a:tr h="21877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umber of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73279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2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301865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421807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90641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86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441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F86167-B11B-8EA5-5C93-D7A67FAA5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OPTICS Assignment of Grey Zone Patients Lisbon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27137649-5F72-4791-9C7A-A213CC07C4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9338731"/>
              </p:ext>
            </p:extLst>
          </p:nvPr>
        </p:nvGraphicFramePr>
        <p:xfrm>
          <a:off x="108155" y="2312988"/>
          <a:ext cx="11975689" cy="1169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658">
                  <a:extLst>
                    <a:ext uri="{9D8B030D-6E8A-4147-A177-3AD203B41FA5}">
                      <a16:colId xmlns:a16="http://schemas.microsoft.com/office/drawing/2014/main" val="1571705578"/>
                    </a:ext>
                  </a:extLst>
                </a:gridCol>
                <a:gridCol w="1753419">
                  <a:extLst>
                    <a:ext uri="{9D8B030D-6E8A-4147-A177-3AD203B41FA5}">
                      <a16:colId xmlns:a16="http://schemas.microsoft.com/office/drawing/2014/main" val="3600087819"/>
                    </a:ext>
                  </a:extLst>
                </a:gridCol>
                <a:gridCol w="1753420">
                  <a:extLst>
                    <a:ext uri="{9D8B030D-6E8A-4147-A177-3AD203B41FA5}">
                      <a16:colId xmlns:a16="http://schemas.microsoft.com/office/drawing/2014/main" val="2476317991"/>
                    </a:ext>
                  </a:extLst>
                </a:gridCol>
                <a:gridCol w="1753419">
                  <a:extLst>
                    <a:ext uri="{9D8B030D-6E8A-4147-A177-3AD203B41FA5}">
                      <a16:colId xmlns:a16="http://schemas.microsoft.com/office/drawing/2014/main" val="1174187884"/>
                    </a:ext>
                  </a:extLst>
                </a:gridCol>
                <a:gridCol w="1704258">
                  <a:extLst>
                    <a:ext uri="{9D8B030D-6E8A-4147-A177-3AD203B41FA5}">
                      <a16:colId xmlns:a16="http://schemas.microsoft.com/office/drawing/2014/main" val="2315084362"/>
                    </a:ext>
                  </a:extLst>
                </a:gridCol>
                <a:gridCol w="1704257">
                  <a:extLst>
                    <a:ext uri="{9D8B030D-6E8A-4147-A177-3AD203B41FA5}">
                      <a16:colId xmlns:a16="http://schemas.microsoft.com/office/drawing/2014/main" val="175389694"/>
                    </a:ext>
                  </a:extLst>
                </a:gridCol>
                <a:gridCol w="1704258">
                  <a:extLst>
                    <a:ext uri="{9D8B030D-6E8A-4147-A177-3AD203B41FA5}">
                      <a16:colId xmlns:a16="http://schemas.microsoft.com/office/drawing/2014/main" val="3854683542"/>
                    </a:ext>
                  </a:extLst>
                </a:gridCol>
              </a:tblGrid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grey patients within each cluster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Distribution of grey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773095"/>
                  </a:ext>
                </a:extLst>
              </a:tr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13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31.6%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47.4%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21.1%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841875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0E1EEEED-2FD8-0AA7-FC54-4F8629F9C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84310"/>
              </p:ext>
            </p:extLst>
          </p:nvPr>
        </p:nvGraphicFramePr>
        <p:xfrm>
          <a:off x="3417419" y="4676921"/>
          <a:ext cx="577621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053">
                  <a:extLst>
                    <a:ext uri="{9D8B030D-6E8A-4147-A177-3AD203B41FA5}">
                      <a16:colId xmlns:a16="http://schemas.microsoft.com/office/drawing/2014/main" val="3067803531"/>
                    </a:ext>
                  </a:extLst>
                </a:gridCol>
                <a:gridCol w="1444053">
                  <a:extLst>
                    <a:ext uri="{9D8B030D-6E8A-4147-A177-3AD203B41FA5}">
                      <a16:colId xmlns:a16="http://schemas.microsoft.com/office/drawing/2014/main" val="2197233408"/>
                    </a:ext>
                  </a:extLst>
                </a:gridCol>
                <a:gridCol w="1444053">
                  <a:extLst>
                    <a:ext uri="{9D8B030D-6E8A-4147-A177-3AD203B41FA5}">
                      <a16:colId xmlns:a16="http://schemas.microsoft.com/office/drawing/2014/main" val="2931522495"/>
                    </a:ext>
                  </a:extLst>
                </a:gridCol>
                <a:gridCol w="1444053">
                  <a:extLst>
                    <a:ext uri="{9D8B030D-6E8A-4147-A177-3AD203B41FA5}">
                      <a16:colId xmlns:a16="http://schemas.microsoft.com/office/drawing/2014/main" val="3514857972"/>
                    </a:ext>
                  </a:extLst>
                </a:gridCol>
              </a:tblGrid>
              <a:tr h="218774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umber of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732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2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NOISE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301865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90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2863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24CBD486-14B6-28E5-5274-66B6C92D60D8}"/>
              </a:ext>
            </a:extLst>
          </p:cNvPr>
          <p:cNvSpPr/>
          <p:nvPr/>
        </p:nvSpPr>
        <p:spPr>
          <a:xfrm>
            <a:off x="7496556" y="2267712"/>
            <a:ext cx="3104388" cy="3867912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055F5527-274F-3C5F-1746-3E031274E663}"/>
              </a:ext>
            </a:extLst>
          </p:cNvPr>
          <p:cNvSpPr/>
          <p:nvPr/>
        </p:nvSpPr>
        <p:spPr>
          <a:xfrm>
            <a:off x="4271772" y="2267712"/>
            <a:ext cx="3104388" cy="3867912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D6FA14B-9C50-2F6B-8133-F09A10FEF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Grey Zone Behaviour Across Models and Datasets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B40B042-FD48-CB81-3481-22463564910E}"/>
              </a:ext>
            </a:extLst>
          </p:cNvPr>
          <p:cNvSpPr txBox="1"/>
          <p:nvPr/>
        </p:nvSpPr>
        <p:spPr>
          <a:xfrm>
            <a:off x="4306875" y="2442305"/>
            <a:ext cx="31043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Lisbon (42 </a:t>
            </a:r>
            <a:r>
              <a:rPr lang="it-IT" dirty="0" err="1"/>
              <a:t>patients</a:t>
            </a:r>
            <a:r>
              <a:rPr lang="it-IT" dirty="0"/>
              <a:t>)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K-means → </a:t>
            </a:r>
            <a:r>
              <a:rPr lang="en-GB" dirty="0">
                <a:solidFill>
                  <a:srgbClr val="00B050"/>
                </a:solidFill>
              </a:rPr>
              <a:t>balanced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Ward → </a:t>
            </a:r>
            <a:r>
              <a:rPr lang="en-GB" dirty="0">
                <a:solidFill>
                  <a:srgbClr val="FF0000"/>
                </a:solidFill>
              </a:rPr>
              <a:t>collapse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NMF → </a:t>
            </a:r>
            <a:r>
              <a:rPr lang="en-GB" dirty="0">
                <a:solidFill>
                  <a:srgbClr val="00B0F0"/>
                </a:solidFill>
              </a:rPr>
              <a:t>partial split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Spectral clustering → </a:t>
            </a:r>
            <a:r>
              <a:rPr lang="en-GB" dirty="0">
                <a:solidFill>
                  <a:srgbClr val="00B050"/>
                </a:solidFill>
              </a:rPr>
              <a:t>balanced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Spectral co-clustering → </a:t>
            </a:r>
            <a:r>
              <a:rPr lang="en-GB" dirty="0">
                <a:solidFill>
                  <a:srgbClr val="00B0F0"/>
                </a:solidFill>
              </a:rPr>
              <a:t>partial split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8AA50B6C-C389-2C9B-F2F0-8DF8D72E17D1}"/>
              </a:ext>
            </a:extLst>
          </p:cNvPr>
          <p:cNvSpPr/>
          <p:nvPr/>
        </p:nvSpPr>
        <p:spPr>
          <a:xfrm>
            <a:off x="1011886" y="2267712"/>
            <a:ext cx="3104387" cy="3867912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553BC73-F7B1-EC91-4630-5D74B6224F9D}"/>
              </a:ext>
            </a:extLst>
          </p:cNvPr>
          <p:cNvSpPr txBox="1"/>
          <p:nvPr/>
        </p:nvSpPr>
        <p:spPr>
          <a:xfrm>
            <a:off x="1072084" y="2355008"/>
            <a:ext cx="310438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Coimbra (20 </a:t>
            </a:r>
            <a:r>
              <a:rPr lang="it-IT" dirty="0" err="1"/>
              <a:t>patients</a:t>
            </a:r>
            <a:r>
              <a:rPr lang="it-IT" dirty="0"/>
              <a:t>)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K-means → </a:t>
            </a:r>
            <a:r>
              <a:rPr lang="en-GB" dirty="0">
                <a:solidFill>
                  <a:srgbClr val="FF0000"/>
                </a:solidFill>
              </a:rPr>
              <a:t>collapse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Ward → </a:t>
            </a:r>
            <a:r>
              <a:rPr lang="en-GB" dirty="0">
                <a:solidFill>
                  <a:srgbClr val="FF0000"/>
                </a:solidFill>
              </a:rPr>
              <a:t>collapse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NMF → </a:t>
            </a:r>
            <a:r>
              <a:rPr lang="en-GB" dirty="0">
                <a:solidFill>
                  <a:srgbClr val="FF0000"/>
                </a:solidFill>
              </a:rPr>
              <a:t>collapse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Spectral clustering → </a:t>
            </a:r>
            <a:r>
              <a:rPr lang="en-GB" dirty="0">
                <a:solidFill>
                  <a:srgbClr val="00B0F0"/>
                </a:solidFill>
              </a:rPr>
              <a:t>partial split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Spectral co-clustering → </a:t>
            </a:r>
            <a:r>
              <a:rPr lang="en-GB" dirty="0">
                <a:solidFill>
                  <a:srgbClr val="00B0F0"/>
                </a:solidFill>
              </a:rPr>
              <a:t>partial split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CE802AD-E6B7-965A-28BB-2B093FCD8552}"/>
              </a:ext>
            </a:extLst>
          </p:cNvPr>
          <p:cNvSpPr txBox="1"/>
          <p:nvPr/>
        </p:nvSpPr>
        <p:spPr>
          <a:xfrm>
            <a:off x="7581849" y="2355008"/>
            <a:ext cx="31043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LC (67 </a:t>
            </a:r>
            <a:r>
              <a:rPr lang="it-IT" dirty="0" err="1"/>
              <a:t>patients</a:t>
            </a:r>
            <a:r>
              <a:rPr lang="it-IT" dirty="0"/>
              <a:t>)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K-means → </a:t>
            </a:r>
            <a:r>
              <a:rPr lang="en-GB" dirty="0">
                <a:solidFill>
                  <a:srgbClr val="FF0000"/>
                </a:solidFill>
              </a:rPr>
              <a:t>collapse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Ward → </a:t>
            </a:r>
            <a:r>
              <a:rPr lang="en-GB" dirty="0">
                <a:solidFill>
                  <a:srgbClr val="FF0000"/>
                </a:solidFill>
              </a:rPr>
              <a:t>collapse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NMF → </a:t>
            </a:r>
            <a:r>
              <a:rPr lang="en-GB" dirty="0">
                <a:solidFill>
                  <a:srgbClr val="00B050"/>
                </a:solidFill>
              </a:rPr>
              <a:t>balanced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Spectral clustering → </a:t>
            </a:r>
            <a:r>
              <a:rPr lang="en-GB" dirty="0">
                <a:solidFill>
                  <a:srgbClr val="FF0000"/>
                </a:solidFill>
              </a:rPr>
              <a:t>collapse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Spectral co-clustering → </a:t>
            </a:r>
            <a:r>
              <a:rPr lang="en-GB" dirty="0">
                <a:solidFill>
                  <a:srgbClr val="00B0F0"/>
                </a:solidFill>
              </a:rPr>
              <a:t>partial split</a:t>
            </a:r>
          </a:p>
        </p:txBody>
      </p:sp>
    </p:spTree>
    <p:extLst>
      <p:ext uri="{BB962C8B-B14F-4D97-AF65-F5344CB8AC3E}">
        <p14:creationId xmlns:p14="http://schemas.microsoft.com/office/powerpoint/2010/main" val="2609343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C86DB4-572A-4F71-AF8A-2395B4CA7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756583" y="0"/>
            <a:ext cx="11435265" cy="6858000"/>
          </a:xfrm>
          <a:custGeom>
            <a:avLst/>
            <a:gdLst>
              <a:gd name="connsiteX0" fmla="*/ 9925983 w 11435265"/>
              <a:gd name="connsiteY0" fmla="*/ 6858000 h 6858000"/>
              <a:gd name="connsiteX1" fmla="*/ 0 w 11435265"/>
              <a:gd name="connsiteY1" fmla="*/ 6858000 h 6858000"/>
              <a:gd name="connsiteX2" fmla="*/ 0 w 11435265"/>
              <a:gd name="connsiteY2" fmla="*/ 0 h 6858000"/>
              <a:gd name="connsiteX3" fmla="*/ 996904 w 11435265"/>
              <a:gd name="connsiteY3" fmla="*/ 0 h 6858000"/>
              <a:gd name="connsiteX4" fmla="*/ 2426875 w 11435265"/>
              <a:gd name="connsiteY4" fmla="*/ 0 h 6858000"/>
              <a:gd name="connsiteX5" fmla="*/ 4014127 w 11435265"/>
              <a:gd name="connsiteY5" fmla="*/ 0 h 6858000"/>
              <a:gd name="connsiteX6" fmla="*/ 4359595 w 11435265"/>
              <a:gd name="connsiteY6" fmla="*/ 0 h 6858000"/>
              <a:gd name="connsiteX7" fmla="*/ 4647960 w 11435265"/>
              <a:gd name="connsiteY7" fmla="*/ 0 h 6858000"/>
              <a:gd name="connsiteX8" fmla="*/ 4691093 w 11435265"/>
              <a:gd name="connsiteY8" fmla="*/ 0 h 6858000"/>
              <a:gd name="connsiteX9" fmla="*/ 5558544 w 11435265"/>
              <a:gd name="connsiteY9" fmla="*/ 0 h 6858000"/>
              <a:gd name="connsiteX10" fmla="*/ 5570664 w 11435265"/>
              <a:gd name="connsiteY10" fmla="*/ 0 h 6858000"/>
              <a:gd name="connsiteX11" fmla="*/ 5695183 w 11435265"/>
              <a:gd name="connsiteY11" fmla="*/ 0 h 6858000"/>
              <a:gd name="connsiteX12" fmla="*/ 7177357 w 11435265"/>
              <a:gd name="connsiteY12" fmla="*/ 0 h 6858000"/>
              <a:gd name="connsiteX13" fmla="*/ 9824163 w 11435265"/>
              <a:gd name="connsiteY13" fmla="*/ 0 h 6858000"/>
              <a:gd name="connsiteX14" fmla="*/ 9846125 w 11435265"/>
              <a:gd name="connsiteY14" fmla="*/ 16892 h 6858000"/>
              <a:gd name="connsiteX15" fmla="*/ 11435265 w 11435265"/>
              <a:gd name="connsiteY15" fmla="*/ 4079318 h 6858000"/>
              <a:gd name="connsiteX16" fmla="*/ 10261404 w 11435265"/>
              <a:gd name="connsiteY16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35265" h="6858000">
                <a:moveTo>
                  <a:pt x="9925983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996904" y="0"/>
                </a:lnTo>
                <a:lnTo>
                  <a:pt x="2426875" y="0"/>
                </a:lnTo>
                <a:lnTo>
                  <a:pt x="4014127" y="0"/>
                </a:lnTo>
                <a:lnTo>
                  <a:pt x="4359595" y="0"/>
                </a:lnTo>
                <a:lnTo>
                  <a:pt x="4647960" y="0"/>
                </a:lnTo>
                <a:lnTo>
                  <a:pt x="4691093" y="0"/>
                </a:lnTo>
                <a:lnTo>
                  <a:pt x="5558544" y="0"/>
                </a:lnTo>
                <a:lnTo>
                  <a:pt x="5570664" y="0"/>
                </a:lnTo>
                <a:lnTo>
                  <a:pt x="5695183" y="0"/>
                </a:lnTo>
                <a:lnTo>
                  <a:pt x="7177357" y="0"/>
                </a:lnTo>
                <a:lnTo>
                  <a:pt x="9824163" y="0"/>
                </a:lnTo>
                <a:lnTo>
                  <a:pt x="9846125" y="16892"/>
                </a:lnTo>
                <a:cubicBezTo>
                  <a:pt x="10865743" y="850004"/>
                  <a:pt x="11435265" y="2357705"/>
                  <a:pt x="11435265" y="4079318"/>
                </a:cubicBezTo>
                <a:cubicBezTo>
                  <a:pt x="11435265" y="5217633"/>
                  <a:pt x="10916694" y="5903717"/>
                  <a:pt x="10261404" y="654244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1BA53A4-C4B7-4189-9FC1-6350B1AB5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341199" y="0"/>
            <a:ext cx="1518348" cy="6858000"/>
          </a:xfrm>
          <a:custGeom>
            <a:avLst/>
            <a:gdLst>
              <a:gd name="connsiteX0" fmla="*/ 19178 w 1518348"/>
              <a:gd name="connsiteY0" fmla="*/ 6858000 h 6858000"/>
              <a:gd name="connsiteX1" fmla="*/ 0 w 1518348"/>
              <a:gd name="connsiteY1" fmla="*/ 6858000 h 6858000"/>
              <a:gd name="connsiteX2" fmla="*/ 241394 w 1518348"/>
              <a:gd name="connsiteY2" fmla="*/ 6638611 h 6858000"/>
              <a:gd name="connsiteX3" fmla="*/ 1493356 w 1518348"/>
              <a:gd name="connsiteY3" fmla="*/ 4142424 h 6858000"/>
              <a:gd name="connsiteX4" fmla="*/ 282053 w 1518348"/>
              <a:gd name="connsiteY4" fmla="*/ 26474 h 6858000"/>
              <a:gd name="connsiteX5" fmla="*/ 256233 w 1518348"/>
              <a:gd name="connsiteY5" fmla="*/ 0 h 6858000"/>
              <a:gd name="connsiteX6" fmla="*/ 273463 w 1518348"/>
              <a:gd name="connsiteY6" fmla="*/ 0 h 6858000"/>
              <a:gd name="connsiteX7" fmla="*/ 300199 w 1518348"/>
              <a:gd name="connsiteY7" fmla="*/ 27414 h 6858000"/>
              <a:gd name="connsiteX8" fmla="*/ 1511501 w 1518348"/>
              <a:gd name="connsiteY8" fmla="*/ 4143362 h 6858000"/>
              <a:gd name="connsiteX9" fmla="*/ 259539 w 1518348"/>
              <a:gd name="connsiteY9" fmla="*/ 66395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8348" h="6858000">
                <a:moveTo>
                  <a:pt x="19178" y="6858000"/>
                </a:moveTo>
                <a:lnTo>
                  <a:pt x="0" y="6858000"/>
                </a:lnTo>
                <a:lnTo>
                  <a:pt x="241394" y="6638611"/>
                </a:lnTo>
                <a:cubicBezTo>
                  <a:pt x="909582" y="6009084"/>
                  <a:pt x="1445892" y="5323498"/>
                  <a:pt x="1493356" y="4142424"/>
                </a:cubicBezTo>
                <a:cubicBezTo>
                  <a:pt x="1560655" y="2467784"/>
                  <a:pt x="1130049" y="962858"/>
                  <a:pt x="282053" y="26474"/>
                </a:cubicBezTo>
                <a:lnTo>
                  <a:pt x="256233" y="0"/>
                </a:lnTo>
                <a:lnTo>
                  <a:pt x="273463" y="0"/>
                </a:lnTo>
                <a:lnTo>
                  <a:pt x="300199" y="27414"/>
                </a:lnTo>
                <a:cubicBezTo>
                  <a:pt x="1148195" y="963796"/>
                  <a:pt x="1578800" y="2468723"/>
                  <a:pt x="1511501" y="4143362"/>
                </a:cubicBezTo>
                <a:cubicBezTo>
                  <a:pt x="1464037" y="5324436"/>
                  <a:pt x="927728" y="6010023"/>
                  <a:pt x="259539" y="66395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58AD6E-B070-4640-AA07-87E208983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552928" y="0"/>
            <a:ext cx="1644534" cy="6858000"/>
          </a:xfrm>
          <a:custGeom>
            <a:avLst/>
            <a:gdLst>
              <a:gd name="connsiteX0" fmla="*/ 135252 w 1644534"/>
              <a:gd name="connsiteY0" fmla="*/ 6858000 h 6858000"/>
              <a:gd name="connsiteX1" fmla="*/ 101819 w 1644534"/>
              <a:gd name="connsiteY1" fmla="*/ 6858000 h 6858000"/>
              <a:gd name="connsiteX2" fmla="*/ 437240 w 1644534"/>
              <a:gd name="connsiteY2" fmla="*/ 6542447 h 6858000"/>
              <a:gd name="connsiteX3" fmla="*/ 1611101 w 1644534"/>
              <a:gd name="connsiteY3" fmla="*/ 4079318 h 6858000"/>
              <a:gd name="connsiteX4" fmla="*/ 21961 w 1644534"/>
              <a:gd name="connsiteY4" fmla="*/ 16892 h 6858000"/>
              <a:gd name="connsiteX5" fmla="*/ 0 w 1644534"/>
              <a:gd name="connsiteY5" fmla="*/ 0 h 6858000"/>
              <a:gd name="connsiteX6" fmla="*/ 33433 w 1644534"/>
              <a:gd name="connsiteY6" fmla="*/ 0 h 6858000"/>
              <a:gd name="connsiteX7" fmla="*/ 55394 w 1644534"/>
              <a:gd name="connsiteY7" fmla="*/ 16892 h 6858000"/>
              <a:gd name="connsiteX8" fmla="*/ 1644534 w 1644534"/>
              <a:gd name="connsiteY8" fmla="*/ 4079318 h 6858000"/>
              <a:gd name="connsiteX9" fmla="*/ 470673 w 1644534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44534" h="6858000">
                <a:moveTo>
                  <a:pt x="135252" y="6858000"/>
                </a:moveTo>
                <a:lnTo>
                  <a:pt x="101819" y="6858000"/>
                </a:lnTo>
                <a:lnTo>
                  <a:pt x="437240" y="6542447"/>
                </a:lnTo>
                <a:cubicBezTo>
                  <a:pt x="1092531" y="5903717"/>
                  <a:pt x="1611101" y="5217633"/>
                  <a:pt x="1611101" y="4079318"/>
                </a:cubicBezTo>
                <a:cubicBezTo>
                  <a:pt x="1611101" y="2357705"/>
                  <a:pt x="1041580" y="850004"/>
                  <a:pt x="21961" y="16892"/>
                </a:cubicBezTo>
                <a:lnTo>
                  <a:pt x="0" y="0"/>
                </a:lnTo>
                <a:lnTo>
                  <a:pt x="33433" y="0"/>
                </a:lnTo>
                <a:lnTo>
                  <a:pt x="55394" y="16892"/>
                </a:lnTo>
                <a:cubicBezTo>
                  <a:pt x="1075012" y="850004"/>
                  <a:pt x="1644534" y="2357705"/>
                  <a:pt x="1644534" y="4079318"/>
                </a:cubicBezTo>
                <a:cubicBezTo>
                  <a:pt x="1644534" y="5217633"/>
                  <a:pt x="1125963" y="5903717"/>
                  <a:pt x="470673" y="65424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3" name="Freeform: Shape 16">
            <a:extLst>
              <a:ext uri="{FF2B5EF4-FFF2-40B4-BE49-F238E27FC236}">
                <a16:creationId xmlns:a16="http://schemas.microsoft.com/office/drawing/2014/main" id="{36ACFB69-D148-449E-AC5A-C55AA20A7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988858" y="0"/>
            <a:ext cx="1461546" cy="6858000"/>
          </a:xfrm>
          <a:custGeom>
            <a:avLst/>
            <a:gdLst>
              <a:gd name="connsiteX0" fmla="*/ 107940 w 1461546"/>
              <a:gd name="connsiteY0" fmla="*/ 6858000 h 6858000"/>
              <a:gd name="connsiteX1" fmla="*/ 91317 w 1461546"/>
              <a:gd name="connsiteY1" fmla="*/ 6858000 h 6858000"/>
              <a:gd name="connsiteX2" fmla="*/ 392141 w 1461546"/>
              <a:gd name="connsiteY2" fmla="*/ 6542447 h 6858000"/>
              <a:gd name="connsiteX3" fmla="*/ 1444924 w 1461546"/>
              <a:gd name="connsiteY3" fmla="*/ 4079318 h 6858000"/>
              <a:gd name="connsiteX4" fmla="*/ 19696 w 1461546"/>
              <a:gd name="connsiteY4" fmla="*/ 16892 h 6858000"/>
              <a:gd name="connsiteX5" fmla="*/ 0 w 1461546"/>
              <a:gd name="connsiteY5" fmla="*/ 0 h 6858000"/>
              <a:gd name="connsiteX6" fmla="*/ 16622 w 1461546"/>
              <a:gd name="connsiteY6" fmla="*/ 0 h 6858000"/>
              <a:gd name="connsiteX7" fmla="*/ 36319 w 1461546"/>
              <a:gd name="connsiteY7" fmla="*/ 16892 h 6858000"/>
              <a:gd name="connsiteX8" fmla="*/ 1461546 w 1461546"/>
              <a:gd name="connsiteY8" fmla="*/ 4079318 h 6858000"/>
              <a:gd name="connsiteX9" fmla="*/ 408763 w 1461546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61546" h="6858000">
                <a:moveTo>
                  <a:pt x="107940" y="6858000"/>
                </a:moveTo>
                <a:lnTo>
                  <a:pt x="91317" y="6858000"/>
                </a:lnTo>
                <a:lnTo>
                  <a:pt x="392141" y="6542447"/>
                </a:lnTo>
                <a:cubicBezTo>
                  <a:pt x="979841" y="5903717"/>
                  <a:pt x="1444924" y="5217633"/>
                  <a:pt x="1444924" y="4079318"/>
                </a:cubicBezTo>
                <a:cubicBezTo>
                  <a:pt x="1444924" y="2357705"/>
                  <a:pt x="934146" y="850004"/>
                  <a:pt x="19696" y="16892"/>
                </a:cubicBezTo>
                <a:lnTo>
                  <a:pt x="0" y="0"/>
                </a:lnTo>
                <a:lnTo>
                  <a:pt x="16622" y="0"/>
                </a:lnTo>
                <a:lnTo>
                  <a:pt x="36319" y="16892"/>
                </a:lnTo>
                <a:cubicBezTo>
                  <a:pt x="950768" y="850004"/>
                  <a:pt x="1461546" y="2357705"/>
                  <a:pt x="1461546" y="4079318"/>
                </a:cubicBezTo>
                <a:cubicBezTo>
                  <a:pt x="1461546" y="5217633"/>
                  <a:pt x="996464" y="5903717"/>
                  <a:pt x="408763" y="654244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CCE735E-B694-62AF-11D5-3109CA72A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220"/>
            <a:ext cx="8397987" cy="1345269"/>
          </a:xfrm>
        </p:spPr>
        <p:txBody>
          <a:bodyPr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3000"/>
              <a:t>Strong dataset-driven structure in LC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65A8DE8D-8D8A-E266-8904-06DB78CF5E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237791"/>
              </p:ext>
            </p:extLst>
          </p:nvPr>
        </p:nvGraphicFramePr>
        <p:xfrm>
          <a:off x="2377439" y="2312988"/>
          <a:ext cx="8312785" cy="3411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783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AA8CE1-D8EA-3C0E-0925-1751B4E3C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K-means Assignment of Grey Zone Patients (K = 3)</a:t>
            </a:r>
          </a:p>
        </p:txBody>
      </p:sp>
      <p:graphicFrame>
        <p:nvGraphicFramePr>
          <p:cNvPr id="6" name="Segnaposto contenuto 3">
            <a:extLst>
              <a:ext uri="{FF2B5EF4-FFF2-40B4-BE49-F238E27FC236}">
                <a16:creationId xmlns:a16="http://schemas.microsoft.com/office/drawing/2014/main" id="{84C9C225-20CC-85FC-F8FE-357DE5EC06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8993342"/>
              </p:ext>
            </p:extLst>
          </p:nvPr>
        </p:nvGraphicFramePr>
        <p:xfrm>
          <a:off x="108155" y="2312988"/>
          <a:ext cx="11975689" cy="1911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658">
                  <a:extLst>
                    <a:ext uri="{9D8B030D-6E8A-4147-A177-3AD203B41FA5}">
                      <a16:colId xmlns:a16="http://schemas.microsoft.com/office/drawing/2014/main" val="1571705578"/>
                    </a:ext>
                  </a:extLst>
                </a:gridCol>
                <a:gridCol w="1753419">
                  <a:extLst>
                    <a:ext uri="{9D8B030D-6E8A-4147-A177-3AD203B41FA5}">
                      <a16:colId xmlns:a16="http://schemas.microsoft.com/office/drawing/2014/main" val="3600087819"/>
                    </a:ext>
                  </a:extLst>
                </a:gridCol>
                <a:gridCol w="1753420">
                  <a:extLst>
                    <a:ext uri="{9D8B030D-6E8A-4147-A177-3AD203B41FA5}">
                      <a16:colId xmlns:a16="http://schemas.microsoft.com/office/drawing/2014/main" val="3011783736"/>
                    </a:ext>
                  </a:extLst>
                </a:gridCol>
                <a:gridCol w="1753419">
                  <a:extLst>
                    <a:ext uri="{9D8B030D-6E8A-4147-A177-3AD203B41FA5}">
                      <a16:colId xmlns:a16="http://schemas.microsoft.com/office/drawing/2014/main" val="2089371772"/>
                    </a:ext>
                  </a:extLst>
                </a:gridCol>
                <a:gridCol w="1704258">
                  <a:extLst>
                    <a:ext uri="{9D8B030D-6E8A-4147-A177-3AD203B41FA5}">
                      <a16:colId xmlns:a16="http://schemas.microsoft.com/office/drawing/2014/main" val="2315084362"/>
                    </a:ext>
                  </a:extLst>
                </a:gridCol>
                <a:gridCol w="1704257">
                  <a:extLst>
                    <a:ext uri="{9D8B030D-6E8A-4147-A177-3AD203B41FA5}">
                      <a16:colId xmlns:a16="http://schemas.microsoft.com/office/drawing/2014/main" val="4228066138"/>
                    </a:ext>
                  </a:extLst>
                </a:gridCol>
                <a:gridCol w="1704258">
                  <a:extLst>
                    <a:ext uri="{9D8B030D-6E8A-4147-A177-3AD203B41FA5}">
                      <a16:colId xmlns:a16="http://schemas.microsoft.com/office/drawing/2014/main" val="752436254"/>
                    </a:ext>
                  </a:extLst>
                </a:gridCol>
              </a:tblGrid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grey patients within each cluster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Distribution of grey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773095"/>
                  </a:ext>
                </a:extLst>
              </a:tr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13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26.5%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±6.6%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±6.6%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32.8%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±7.9%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±15%</a:t>
                      </a:r>
                      <a:endParaRPr lang="it-IT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±8%</a:t>
                      </a:r>
                      <a:endParaRPr lang="it-IT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±13.9%</a:t>
                      </a:r>
                      <a:endParaRPr lang="it-IT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799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13.2%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±9.7%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±5.4%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92.2%</a:t>
                      </a:r>
                      <a:r>
                        <a:rPr lang="en-GB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±5.5%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10.5%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±8%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±3.7%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87.8%</a:t>
                      </a:r>
                      <a:r>
                        <a:rPr lang="en-GB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±9%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84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85.6%</a:t>
                      </a:r>
                      <a:r>
                        <a:rPr lang="en-GB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±0.4%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41.4%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±4%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30.7%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±4.8%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62.7%</a:t>
                      </a:r>
                      <a:r>
                        <a:rPr lang="en-GB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20.7%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±3%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16.6%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±3%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44217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FFF44A8B-9669-BF7B-5D57-61E94AFC6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498484"/>
              </p:ext>
            </p:extLst>
          </p:nvPr>
        </p:nvGraphicFramePr>
        <p:xfrm>
          <a:off x="134910" y="4749601"/>
          <a:ext cx="572798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664">
                  <a:extLst>
                    <a:ext uri="{9D8B030D-6E8A-4147-A177-3AD203B41FA5}">
                      <a16:colId xmlns:a16="http://schemas.microsoft.com/office/drawing/2014/main" val="1136702745"/>
                    </a:ext>
                  </a:extLst>
                </a:gridCol>
                <a:gridCol w="954663">
                  <a:extLst>
                    <a:ext uri="{9D8B030D-6E8A-4147-A177-3AD203B41FA5}">
                      <a16:colId xmlns:a16="http://schemas.microsoft.com/office/drawing/2014/main" val="4033561381"/>
                    </a:ext>
                  </a:extLst>
                </a:gridCol>
                <a:gridCol w="954664">
                  <a:extLst>
                    <a:ext uri="{9D8B030D-6E8A-4147-A177-3AD203B41FA5}">
                      <a16:colId xmlns:a16="http://schemas.microsoft.com/office/drawing/2014/main" val="1707102210"/>
                    </a:ext>
                  </a:extLst>
                </a:gridCol>
                <a:gridCol w="954664">
                  <a:extLst>
                    <a:ext uri="{9D8B030D-6E8A-4147-A177-3AD203B41FA5}">
                      <a16:colId xmlns:a16="http://schemas.microsoft.com/office/drawing/2014/main" val="508139938"/>
                    </a:ext>
                  </a:extLst>
                </a:gridCol>
                <a:gridCol w="954663">
                  <a:extLst>
                    <a:ext uri="{9D8B030D-6E8A-4147-A177-3AD203B41FA5}">
                      <a16:colId xmlns:a16="http://schemas.microsoft.com/office/drawing/2014/main" val="1646087216"/>
                    </a:ext>
                  </a:extLst>
                </a:gridCol>
                <a:gridCol w="954664">
                  <a:extLst>
                    <a:ext uri="{9D8B030D-6E8A-4147-A177-3AD203B41FA5}">
                      <a16:colId xmlns:a16="http://schemas.microsoft.com/office/drawing/2014/main" val="450033880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composition dataset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29676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CLUSTER 1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CLUSTER 2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CLUSTER 3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527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15.1%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±6.7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84.9%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±6.7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751845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C4C8FB45-1B51-B4F1-3AC2-A5672FD69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094201"/>
              </p:ext>
            </p:extLst>
          </p:nvPr>
        </p:nvGraphicFramePr>
        <p:xfrm>
          <a:off x="6086006" y="4711501"/>
          <a:ext cx="597108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771">
                  <a:extLst>
                    <a:ext uri="{9D8B030D-6E8A-4147-A177-3AD203B41FA5}">
                      <a16:colId xmlns:a16="http://schemas.microsoft.com/office/drawing/2014/main" val="3067803531"/>
                    </a:ext>
                  </a:extLst>
                </a:gridCol>
                <a:gridCol w="1492771">
                  <a:extLst>
                    <a:ext uri="{9D8B030D-6E8A-4147-A177-3AD203B41FA5}">
                      <a16:colId xmlns:a16="http://schemas.microsoft.com/office/drawing/2014/main" val="2197233408"/>
                    </a:ext>
                  </a:extLst>
                </a:gridCol>
                <a:gridCol w="1492771">
                  <a:extLst>
                    <a:ext uri="{9D8B030D-6E8A-4147-A177-3AD203B41FA5}">
                      <a16:colId xmlns:a16="http://schemas.microsoft.com/office/drawing/2014/main" val="2931522495"/>
                    </a:ext>
                  </a:extLst>
                </a:gridCol>
                <a:gridCol w="1492771">
                  <a:extLst>
                    <a:ext uri="{9D8B030D-6E8A-4147-A177-3AD203B41FA5}">
                      <a16:colId xmlns:a16="http://schemas.microsoft.com/office/drawing/2014/main" val="895212126"/>
                    </a:ext>
                  </a:extLst>
                </a:gridCol>
              </a:tblGrid>
              <a:tr h="218774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umber of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73279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2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301865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421807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90641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86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1159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B55E7A-D492-59CB-0A22-F19169F61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Ward Assignment of Grey Zone Patients (K = 3)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C82C98F4-8FF5-D9E0-B46D-6E9ED6BB2E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5047884"/>
              </p:ext>
            </p:extLst>
          </p:nvPr>
        </p:nvGraphicFramePr>
        <p:xfrm>
          <a:off x="108155" y="2312988"/>
          <a:ext cx="11975689" cy="1911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658">
                  <a:extLst>
                    <a:ext uri="{9D8B030D-6E8A-4147-A177-3AD203B41FA5}">
                      <a16:colId xmlns:a16="http://schemas.microsoft.com/office/drawing/2014/main" val="1571705578"/>
                    </a:ext>
                  </a:extLst>
                </a:gridCol>
                <a:gridCol w="1753419">
                  <a:extLst>
                    <a:ext uri="{9D8B030D-6E8A-4147-A177-3AD203B41FA5}">
                      <a16:colId xmlns:a16="http://schemas.microsoft.com/office/drawing/2014/main" val="3600087819"/>
                    </a:ext>
                  </a:extLst>
                </a:gridCol>
                <a:gridCol w="1753420">
                  <a:extLst>
                    <a:ext uri="{9D8B030D-6E8A-4147-A177-3AD203B41FA5}">
                      <a16:colId xmlns:a16="http://schemas.microsoft.com/office/drawing/2014/main" val="3011783736"/>
                    </a:ext>
                  </a:extLst>
                </a:gridCol>
                <a:gridCol w="1753419">
                  <a:extLst>
                    <a:ext uri="{9D8B030D-6E8A-4147-A177-3AD203B41FA5}">
                      <a16:colId xmlns:a16="http://schemas.microsoft.com/office/drawing/2014/main" val="2089371772"/>
                    </a:ext>
                  </a:extLst>
                </a:gridCol>
                <a:gridCol w="1704258">
                  <a:extLst>
                    <a:ext uri="{9D8B030D-6E8A-4147-A177-3AD203B41FA5}">
                      <a16:colId xmlns:a16="http://schemas.microsoft.com/office/drawing/2014/main" val="2315084362"/>
                    </a:ext>
                  </a:extLst>
                </a:gridCol>
                <a:gridCol w="1704257">
                  <a:extLst>
                    <a:ext uri="{9D8B030D-6E8A-4147-A177-3AD203B41FA5}">
                      <a16:colId xmlns:a16="http://schemas.microsoft.com/office/drawing/2014/main" val="4228066138"/>
                    </a:ext>
                  </a:extLst>
                </a:gridCol>
                <a:gridCol w="1704258">
                  <a:extLst>
                    <a:ext uri="{9D8B030D-6E8A-4147-A177-3AD203B41FA5}">
                      <a16:colId xmlns:a16="http://schemas.microsoft.com/office/drawing/2014/main" val="752436254"/>
                    </a:ext>
                  </a:extLst>
                </a:gridCol>
              </a:tblGrid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grey patients within each cluster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Distribution of grey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773095"/>
                  </a:ext>
                </a:extLst>
              </a:tr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13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12.5%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it-IT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r>
                        <a:rPr lang="en-GB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it-IT" sz="1800" b="0" i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799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78.9</a:t>
                      </a:r>
                      <a:r>
                        <a:rPr lang="en-GB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21.1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78.9</a:t>
                      </a:r>
                      <a:r>
                        <a:rPr lang="en-GB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84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47.6%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</a:t>
                      </a:r>
                      <a:r>
                        <a:rPr lang="en-GB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26.3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28.9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44.7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44217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F44DCA30-89C2-DF88-0794-5F6CF8788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794025"/>
              </p:ext>
            </p:extLst>
          </p:nvPr>
        </p:nvGraphicFramePr>
        <p:xfrm>
          <a:off x="108155" y="4711500"/>
          <a:ext cx="58429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824">
                  <a:extLst>
                    <a:ext uri="{9D8B030D-6E8A-4147-A177-3AD203B41FA5}">
                      <a16:colId xmlns:a16="http://schemas.microsoft.com/office/drawing/2014/main" val="1136702745"/>
                    </a:ext>
                  </a:extLst>
                </a:gridCol>
                <a:gridCol w="973822">
                  <a:extLst>
                    <a:ext uri="{9D8B030D-6E8A-4147-A177-3AD203B41FA5}">
                      <a16:colId xmlns:a16="http://schemas.microsoft.com/office/drawing/2014/main" val="4033561381"/>
                    </a:ext>
                  </a:extLst>
                </a:gridCol>
                <a:gridCol w="973824">
                  <a:extLst>
                    <a:ext uri="{9D8B030D-6E8A-4147-A177-3AD203B41FA5}">
                      <a16:colId xmlns:a16="http://schemas.microsoft.com/office/drawing/2014/main" val="1707102210"/>
                    </a:ext>
                  </a:extLst>
                </a:gridCol>
                <a:gridCol w="973824">
                  <a:extLst>
                    <a:ext uri="{9D8B030D-6E8A-4147-A177-3AD203B41FA5}">
                      <a16:colId xmlns:a16="http://schemas.microsoft.com/office/drawing/2014/main" val="508139938"/>
                    </a:ext>
                  </a:extLst>
                </a:gridCol>
                <a:gridCol w="973822">
                  <a:extLst>
                    <a:ext uri="{9D8B030D-6E8A-4147-A177-3AD203B41FA5}">
                      <a16:colId xmlns:a16="http://schemas.microsoft.com/office/drawing/2014/main" val="1646087216"/>
                    </a:ext>
                  </a:extLst>
                </a:gridCol>
                <a:gridCol w="973824">
                  <a:extLst>
                    <a:ext uri="{9D8B030D-6E8A-4147-A177-3AD203B41FA5}">
                      <a16:colId xmlns:a16="http://schemas.microsoft.com/office/drawing/2014/main" val="450033880"/>
                    </a:ext>
                  </a:extLst>
                </a:gridCol>
              </a:tblGrid>
              <a:tr h="45720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composition dataset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296769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CLUSTER 1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CLUSTER 2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CLUSTER 3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5273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35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it-IT" dirty="0"/>
                        <a:t>100%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96%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751845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C6182E97-0470-3B8D-55BA-B02B4327F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765446"/>
              </p:ext>
            </p:extLst>
          </p:nvPr>
        </p:nvGraphicFramePr>
        <p:xfrm>
          <a:off x="6086006" y="4711501"/>
          <a:ext cx="597108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771">
                  <a:extLst>
                    <a:ext uri="{9D8B030D-6E8A-4147-A177-3AD203B41FA5}">
                      <a16:colId xmlns:a16="http://schemas.microsoft.com/office/drawing/2014/main" val="3067803531"/>
                    </a:ext>
                  </a:extLst>
                </a:gridCol>
                <a:gridCol w="1492771">
                  <a:extLst>
                    <a:ext uri="{9D8B030D-6E8A-4147-A177-3AD203B41FA5}">
                      <a16:colId xmlns:a16="http://schemas.microsoft.com/office/drawing/2014/main" val="2197233408"/>
                    </a:ext>
                  </a:extLst>
                </a:gridCol>
                <a:gridCol w="1492771">
                  <a:extLst>
                    <a:ext uri="{9D8B030D-6E8A-4147-A177-3AD203B41FA5}">
                      <a16:colId xmlns:a16="http://schemas.microsoft.com/office/drawing/2014/main" val="2931522495"/>
                    </a:ext>
                  </a:extLst>
                </a:gridCol>
                <a:gridCol w="1492771">
                  <a:extLst>
                    <a:ext uri="{9D8B030D-6E8A-4147-A177-3AD203B41FA5}">
                      <a16:colId xmlns:a16="http://schemas.microsoft.com/office/drawing/2014/main" val="895212126"/>
                    </a:ext>
                  </a:extLst>
                </a:gridCol>
              </a:tblGrid>
              <a:tr h="218774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umber of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73279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2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301865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421807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90641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86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6857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E87988-6FFA-368B-AC76-236ECD2F3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Spectral Assignment of Grey Zone Patients (K = 3)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E9D44A59-B7FE-11DE-ED3D-D4875D92E3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8722002"/>
              </p:ext>
            </p:extLst>
          </p:nvPr>
        </p:nvGraphicFramePr>
        <p:xfrm>
          <a:off x="108155" y="2312988"/>
          <a:ext cx="11975689" cy="1911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658">
                  <a:extLst>
                    <a:ext uri="{9D8B030D-6E8A-4147-A177-3AD203B41FA5}">
                      <a16:colId xmlns:a16="http://schemas.microsoft.com/office/drawing/2014/main" val="1571705578"/>
                    </a:ext>
                  </a:extLst>
                </a:gridCol>
                <a:gridCol w="1753419">
                  <a:extLst>
                    <a:ext uri="{9D8B030D-6E8A-4147-A177-3AD203B41FA5}">
                      <a16:colId xmlns:a16="http://schemas.microsoft.com/office/drawing/2014/main" val="3600087819"/>
                    </a:ext>
                  </a:extLst>
                </a:gridCol>
                <a:gridCol w="1753420">
                  <a:extLst>
                    <a:ext uri="{9D8B030D-6E8A-4147-A177-3AD203B41FA5}">
                      <a16:colId xmlns:a16="http://schemas.microsoft.com/office/drawing/2014/main" val="3011783736"/>
                    </a:ext>
                  </a:extLst>
                </a:gridCol>
                <a:gridCol w="1753419">
                  <a:extLst>
                    <a:ext uri="{9D8B030D-6E8A-4147-A177-3AD203B41FA5}">
                      <a16:colId xmlns:a16="http://schemas.microsoft.com/office/drawing/2014/main" val="2089371772"/>
                    </a:ext>
                  </a:extLst>
                </a:gridCol>
                <a:gridCol w="1704258">
                  <a:extLst>
                    <a:ext uri="{9D8B030D-6E8A-4147-A177-3AD203B41FA5}">
                      <a16:colId xmlns:a16="http://schemas.microsoft.com/office/drawing/2014/main" val="2315084362"/>
                    </a:ext>
                  </a:extLst>
                </a:gridCol>
                <a:gridCol w="1704257">
                  <a:extLst>
                    <a:ext uri="{9D8B030D-6E8A-4147-A177-3AD203B41FA5}">
                      <a16:colId xmlns:a16="http://schemas.microsoft.com/office/drawing/2014/main" val="4228066138"/>
                    </a:ext>
                  </a:extLst>
                </a:gridCol>
                <a:gridCol w="1704258">
                  <a:extLst>
                    <a:ext uri="{9D8B030D-6E8A-4147-A177-3AD203B41FA5}">
                      <a16:colId xmlns:a16="http://schemas.microsoft.com/office/drawing/2014/main" val="752436254"/>
                    </a:ext>
                  </a:extLst>
                </a:gridCol>
              </a:tblGrid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grey patients within each cluster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Distribution of grey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773095"/>
                  </a:ext>
                </a:extLst>
              </a:tr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13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23.7%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±6.8% 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5.7%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±7.9%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39.3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%±2.5%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33.2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%±9%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6.8%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±9.5%</a:t>
                      </a:r>
                      <a:endParaRPr lang="it-IT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r>
                        <a:rPr lang="en-GB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%±0%</a:t>
                      </a:r>
                      <a:endParaRPr lang="it-IT" sz="1800" b="0" i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799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35.3%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±2.1%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</a:t>
                      </a:r>
                      <a:r>
                        <a:rPr lang="en-GB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%±7.1%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31.6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36.8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31.6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84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85.2%</a:t>
                      </a:r>
                      <a:r>
                        <a:rPr lang="en-GB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29.8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%±1.2%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45.2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%±0.8%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60.5%</a:t>
                      </a:r>
                      <a:r>
                        <a:rPr lang="en-GB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15.6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23.8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44217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41D0F7F0-11F4-697E-1CAB-17C31F9CA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402629"/>
              </p:ext>
            </p:extLst>
          </p:nvPr>
        </p:nvGraphicFramePr>
        <p:xfrm>
          <a:off x="329783" y="4811250"/>
          <a:ext cx="5431404" cy="1828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235">
                  <a:extLst>
                    <a:ext uri="{9D8B030D-6E8A-4147-A177-3AD203B41FA5}">
                      <a16:colId xmlns:a16="http://schemas.microsoft.com/office/drawing/2014/main" val="1136702745"/>
                    </a:ext>
                  </a:extLst>
                </a:gridCol>
                <a:gridCol w="905232">
                  <a:extLst>
                    <a:ext uri="{9D8B030D-6E8A-4147-A177-3AD203B41FA5}">
                      <a16:colId xmlns:a16="http://schemas.microsoft.com/office/drawing/2014/main" val="4033561381"/>
                    </a:ext>
                  </a:extLst>
                </a:gridCol>
                <a:gridCol w="905235">
                  <a:extLst>
                    <a:ext uri="{9D8B030D-6E8A-4147-A177-3AD203B41FA5}">
                      <a16:colId xmlns:a16="http://schemas.microsoft.com/office/drawing/2014/main" val="1707102210"/>
                    </a:ext>
                  </a:extLst>
                </a:gridCol>
                <a:gridCol w="905235">
                  <a:extLst>
                    <a:ext uri="{9D8B030D-6E8A-4147-A177-3AD203B41FA5}">
                      <a16:colId xmlns:a16="http://schemas.microsoft.com/office/drawing/2014/main" val="508139938"/>
                    </a:ext>
                  </a:extLst>
                </a:gridCol>
                <a:gridCol w="905232">
                  <a:extLst>
                    <a:ext uri="{9D8B030D-6E8A-4147-A177-3AD203B41FA5}">
                      <a16:colId xmlns:a16="http://schemas.microsoft.com/office/drawing/2014/main" val="1646087216"/>
                    </a:ext>
                  </a:extLst>
                </a:gridCol>
                <a:gridCol w="905235">
                  <a:extLst>
                    <a:ext uri="{9D8B030D-6E8A-4147-A177-3AD203B41FA5}">
                      <a16:colId xmlns:a16="http://schemas.microsoft.com/office/drawing/2014/main" val="450033880"/>
                    </a:ext>
                  </a:extLst>
                </a:gridCol>
              </a:tblGrid>
              <a:tr h="386964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composition dataset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296769"/>
                  </a:ext>
                </a:extLst>
              </a:tr>
              <a:tr h="386964"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CLUSTER 1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CLUSTER 2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CLUSTER 3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527360"/>
                  </a:ext>
                </a:extLst>
              </a:tr>
              <a:tr h="386964"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3506"/>
                  </a:ext>
                </a:extLst>
              </a:tr>
              <a:tr h="667910">
                <a:tc>
                  <a:txBody>
                    <a:bodyPr/>
                    <a:lstStyle/>
                    <a:p>
                      <a:r>
                        <a:rPr lang="it-IT" dirty="0"/>
                        <a:t>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9.7%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90.3%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751845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8303069F-70F4-2F3E-4C1D-921CFCBA1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259937"/>
              </p:ext>
            </p:extLst>
          </p:nvPr>
        </p:nvGraphicFramePr>
        <p:xfrm>
          <a:off x="6095999" y="4811250"/>
          <a:ext cx="597108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771">
                  <a:extLst>
                    <a:ext uri="{9D8B030D-6E8A-4147-A177-3AD203B41FA5}">
                      <a16:colId xmlns:a16="http://schemas.microsoft.com/office/drawing/2014/main" val="3067803531"/>
                    </a:ext>
                  </a:extLst>
                </a:gridCol>
                <a:gridCol w="1492771">
                  <a:extLst>
                    <a:ext uri="{9D8B030D-6E8A-4147-A177-3AD203B41FA5}">
                      <a16:colId xmlns:a16="http://schemas.microsoft.com/office/drawing/2014/main" val="2197233408"/>
                    </a:ext>
                  </a:extLst>
                </a:gridCol>
                <a:gridCol w="1492771">
                  <a:extLst>
                    <a:ext uri="{9D8B030D-6E8A-4147-A177-3AD203B41FA5}">
                      <a16:colId xmlns:a16="http://schemas.microsoft.com/office/drawing/2014/main" val="2931522495"/>
                    </a:ext>
                  </a:extLst>
                </a:gridCol>
                <a:gridCol w="1492771">
                  <a:extLst>
                    <a:ext uri="{9D8B030D-6E8A-4147-A177-3AD203B41FA5}">
                      <a16:colId xmlns:a16="http://schemas.microsoft.com/office/drawing/2014/main" val="895212126"/>
                    </a:ext>
                  </a:extLst>
                </a:gridCol>
              </a:tblGrid>
              <a:tr h="218774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umber of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73279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2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301865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421807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15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90641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86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9972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53829C-9AB5-46C8-B5AF-A595A430B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NMF Assignment of Grey Zone Patients (K = 3)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F9D7AE6D-BE85-75D0-33F3-78955FD025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0607891"/>
              </p:ext>
            </p:extLst>
          </p:nvPr>
        </p:nvGraphicFramePr>
        <p:xfrm>
          <a:off x="108155" y="2312988"/>
          <a:ext cx="11975689" cy="1911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658">
                  <a:extLst>
                    <a:ext uri="{9D8B030D-6E8A-4147-A177-3AD203B41FA5}">
                      <a16:colId xmlns:a16="http://schemas.microsoft.com/office/drawing/2014/main" val="1571705578"/>
                    </a:ext>
                  </a:extLst>
                </a:gridCol>
                <a:gridCol w="1753419">
                  <a:extLst>
                    <a:ext uri="{9D8B030D-6E8A-4147-A177-3AD203B41FA5}">
                      <a16:colId xmlns:a16="http://schemas.microsoft.com/office/drawing/2014/main" val="3600087819"/>
                    </a:ext>
                  </a:extLst>
                </a:gridCol>
                <a:gridCol w="1753420">
                  <a:extLst>
                    <a:ext uri="{9D8B030D-6E8A-4147-A177-3AD203B41FA5}">
                      <a16:colId xmlns:a16="http://schemas.microsoft.com/office/drawing/2014/main" val="3011783736"/>
                    </a:ext>
                  </a:extLst>
                </a:gridCol>
                <a:gridCol w="1753419">
                  <a:extLst>
                    <a:ext uri="{9D8B030D-6E8A-4147-A177-3AD203B41FA5}">
                      <a16:colId xmlns:a16="http://schemas.microsoft.com/office/drawing/2014/main" val="2089371772"/>
                    </a:ext>
                  </a:extLst>
                </a:gridCol>
                <a:gridCol w="1704258">
                  <a:extLst>
                    <a:ext uri="{9D8B030D-6E8A-4147-A177-3AD203B41FA5}">
                      <a16:colId xmlns:a16="http://schemas.microsoft.com/office/drawing/2014/main" val="2315084362"/>
                    </a:ext>
                  </a:extLst>
                </a:gridCol>
                <a:gridCol w="1704257">
                  <a:extLst>
                    <a:ext uri="{9D8B030D-6E8A-4147-A177-3AD203B41FA5}">
                      <a16:colId xmlns:a16="http://schemas.microsoft.com/office/drawing/2014/main" val="4228066138"/>
                    </a:ext>
                  </a:extLst>
                </a:gridCol>
                <a:gridCol w="1704258">
                  <a:extLst>
                    <a:ext uri="{9D8B030D-6E8A-4147-A177-3AD203B41FA5}">
                      <a16:colId xmlns:a16="http://schemas.microsoft.com/office/drawing/2014/main" val="752436254"/>
                    </a:ext>
                  </a:extLst>
                </a:gridCol>
              </a:tblGrid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grey patients within each cluster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Distribution of grey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773095"/>
                  </a:ext>
                </a:extLst>
              </a:tr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13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27.2%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±7.1% 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27.2%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±8.7%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20.8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%±7.7%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38.4%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±12% 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35.6%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%±11.5%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799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42.9%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±24%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40.4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%±9.6%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±20.8%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31.9%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±21%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28.4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%±11%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39.7%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±22%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84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±22.3%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47.9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%±18%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62.3</a:t>
                      </a:r>
                      <a:r>
                        <a:rPr lang="en-GB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%±24%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25.7%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±13%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36.1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%±21%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38.2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%±22%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44217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216601B4-35AD-BD89-C0A7-AF2B80838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818071"/>
              </p:ext>
            </p:extLst>
          </p:nvPr>
        </p:nvGraphicFramePr>
        <p:xfrm>
          <a:off x="108155" y="4749601"/>
          <a:ext cx="5832914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153">
                  <a:extLst>
                    <a:ext uri="{9D8B030D-6E8A-4147-A177-3AD203B41FA5}">
                      <a16:colId xmlns:a16="http://schemas.microsoft.com/office/drawing/2014/main" val="1136702745"/>
                    </a:ext>
                  </a:extLst>
                </a:gridCol>
                <a:gridCol w="972151">
                  <a:extLst>
                    <a:ext uri="{9D8B030D-6E8A-4147-A177-3AD203B41FA5}">
                      <a16:colId xmlns:a16="http://schemas.microsoft.com/office/drawing/2014/main" val="4033561381"/>
                    </a:ext>
                  </a:extLst>
                </a:gridCol>
                <a:gridCol w="972153">
                  <a:extLst>
                    <a:ext uri="{9D8B030D-6E8A-4147-A177-3AD203B41FA5}">
                      <a16:colId xmlns:a16="http://schemas.microsoft.com/office/drawing/2014/main" val="1707102210"/>
                    </a:ext>
                  </a:extLst>
                </a:gridCol>
                <a:gridCol w="972153">
                  <a:extLst>
                    <a:ext uri="{9D8B030D-6E8A-4147-A177-3AD203B41FA5}">
                      <a16:colId xmlns:a16="http://schemas.microsoft.com/office/drawing/2014/main" val="508139938"/>
                    </a:ext>
                  </a:extLst>
                </a:gridCol>
                <a:gridCol w="972151">
                  <a:extLst>
                    <a:ext uri="{9D8B030D-6E8A-4147-A177-3AD203B41FA5}">
                      <a16:colId xmlns:a16="http://schemas.microsoft.com/office/drawing/2014/main" val="1646087216"/>
                    </a:ext>
                  </a:extLst>
                </a:gridCol>
                <a:gridCol w="972153">
                  <a:extLst>
                    <a:ext uri="{9D8B030D-6E8A-4147-A177-3AD203B41FA5}">
                      <a16:colId xmlns:a16="http://schemas.microsoft.com/office/drawing/2014/main" val="450033880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composition dataset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29676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CLUSTER 1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CLUSTER 2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CLUSTER 3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527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88.1%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11.9%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13.3%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86.7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±17</a:t>
                      </a:r>
                      <a:r>
                        <a:rPr lang="it-IT" dirty="0"/>
                        <a:t>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12.7%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±21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87.3%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±21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751845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FF10230B-97E0-4650-537A-DBEDB712B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604479"/>
              </p:ext>
            </p:extLst>
          </p:nvPr>
        </p:nvGraphicFramePr>
        <p:xfrm>
          <a:off x="6224175" y="4711501"/>
          <a:ext cx="583291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229">
                  <a:extLst>
                    <a:ext uri="{9D8B030D-6E8A-4147-A177-3AD203B41FA5}">
                      <a16:colId xmlns:a16="http://schemas.microsoft.com/office/drawing/2014/main" val="3067803531"/>
                    </a:ext>
                  </a:extLst>
                </a:gridCol>
                <a:gridCol w="1458229">
                  <a:extLst>
                    <a:ext uri="{9D8B030D-6E8A-4147-A177-3AD203B41FA5}">
                      <a16:colId xmlns:a16="http://schemas.microsoft.com/office/drawing/2014/main" val="2197233408"/>
                    </a:ext>
                  </a:extLst>
                </a:gridCol>
                <a:gridCol w="1458229">
                  <a:extLst>
                    <a:ext uri="{9D8B030D-6E8A-4147-A177-3AD203B41FA5}">
                      <a16:colId xmlns:a16="http://schemas.microsoft.com/office/drawing/2014/main" val="2931522495"/>
                    </a:ext>
                  </a:extLst>
                </a:gridCol>
                <a:gridCol w="1458229">
                  <a:extLst>
                    <a:ext uri="{9D8B030D-6E8A-4147-A177-3AD203B41FA5}">
                      <a16:colId xmlns:a16="http://schemas.microsoft.com/office/drawing/2014/main" val="895212126"/>
                    </a:ext>
                  </a:extLst>
                </a:gridCol>
              </a:tblGrid>
              <a:tr h="218774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umber of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73279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2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301865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421807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15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90641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86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348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5D06FB-F7C4-F768-F0EC-D1AB925A2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Spectral Co-Clustering Assignment of Grey Zone Patients (K = 3)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1EB1736F-B20E-1251-1F3F-7D09446E44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0304418"/>
              </p:ext>
            </p:extLst>
          </p:nvPr>
        </p:nvGraphicFramePr>
        <p:xfrm>
          <a:off x="108155" y="2312988"/>
          <a:ext cx="11975689" cy="1911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658">
                  <a:extLst>
                    <a:ext uri="{9D8B030D-6E8A-4147-A177-3AD203B41FA5}">
                      <a16:colId xmlns:a16="http://schemas.microsoft.com/office/drawing/2014/main" val="1571705578"/>
                    </a:ext>
                  </a:extLst>
                </a:gridCol>
                <a:gridCol w="1753419">
                  <a:extLst>
                    <a:ext uri="{9D8B030D-6E8A-4147-A177-3AD203B41FA5}">
                      <a16:colId xmlns:a16="http://schemas.microsoft.com/office/drawing/2014/main" val="3600087819"/>
                    </a:ext>
                  </a:extLst>
                </a:gridCol>
                <a:gridCol w="1753420">
                  <a:extLst>
                    <a:ext uri="{9D8B030D-6E8A-4147-A177-3AD203B41FA5}">
                      <a16:colId xmlns:a16="http://schemas.microsoft.com/office/drawing/2014/main" val="3011783736"/>
                    </a:ext>
                  </a:extLst>
                </a:gridCol>
                <a:gridCol w="1753419">
                  <a:extLst>
                    <a:ext uri="{9D8B030D-6E8A-4147-A177-3AD203B41FA5}">
                      <a16:colId xmlns:a16="http://schemas.microsoft.com/office/drawing/2014/main" val="2089371772"/>
                    </a:ext>
                  </a:extLst>
                </a:gridCol>
                <a:gridCol w="1704258">
                  <a:extLst>
                    <a:ext uri="{9D8B030D-6E8A-4147-A177-3AD203B41FA5}">
                      <a16:colId xmlns:a16="http://schemas.microsoft.com/office/drawing/2014/main" val="2315084362"/>
                    </a:ext>
                  </a:extLst>
                </a:gridCol>
                <a:gridCol w="1704257">
                  <a:extLst>
                    <a:ext uri="{9D8B030D-6E8A-4147-A177-3AD203B41FA5}">
                      <a16:colId xmlns:a16="http://schemas.microsoft.com/office/drawing/2014/main" val="4228066138"/>
                    </a:ext>
                  </a:extLst>
                </a:gridCol>
                <a:gridCol w="1704258">
                  <a:extLst>
                    <a:ext uri="{9D8B030D-6E8A-4147-A177-3AD203B41FA5}">
                      <a16:colId xmlns:a16="http://schemas.microsoft.com/office/drawing/2014/main" val="752436254"/>
                    </a:ext>
                  </a:extLst>
                </a:gridCol>
              </a:tblGrid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grey patients within each cluster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Distribution of grey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773095"/>
                  </a:ext>
                </a:extLst>
              </a:tr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13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±0% 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28.6%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12.5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±0% 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799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41.7%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42.9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26.3%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31.6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42.1%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84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83.7</a:t>
                      </a:r>
                      <a:r>
                        <a:rPr lang="en-GB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%±1.3%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30.4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%±6%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28.9%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54.5</a:t>
                      </a:r>
                      <a:r>
                        <a:rPr lang="en-GB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%±5%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16.5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%±5%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44217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8C93E57A-9114-6DBD-CBAA-035EE4C45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361451"/>
              </p:ext>
            </p:extLst>
          </p:nvPr>
        </p:nvGraphicFramePr>
        <p:xfrm>
          <a:off x="108155" y="4769181"/>
          <a:ext cx="5698000" cy="170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667">
                  <a:extLst>
                    <a:ext uri="{9D8B030D-6E8A-4147-A177-3AD203B41FA5}">
                      <a16:colId xmlns:a16="http://schemas.microsoft.com/office/drawing/2014/main" val="1136702745"/>
                    </a:ext>
                  </a:extLst>
                </a:gridCol>
                <a:gridCol w="949666">
                  <a:extLst>
                    <a:ext uri="{9D8B030D-6E8A-4147-A177-3AD203B41FA5}">
                      <a16:colId xmlns:a16="http://schemas.microsoft.com/office/drawing/2014/main" val="4033561381"/>
                    </a:ext>
                  </a:extLst>
                </a:gridCol>
                <a:gridCol w="949667">
                  <a:extLst>
                    <a:ext uri="{9D8B030D-6E8A-4147-A177-3AD203B41FA5}">
                      <a16:colId xmlns:a16="http://schemas.microsoft.com/office/drawing/2014/main" val="1707102210"/>
                    </a:ext>
                  </a:extLst>
                </a:gridCol>
                <a:gridCol w="949667">
                  <a:extLst>
                    <a:ext uri="{9D8B030D-6E8A-4147-A177-3AD203B41FA5}">
                      <a16:colId xmlns:a16="http://schemas.microsoft.com/office/drawing/2014/main" val="508139938"/>
                    </a:ext>
                  </a:extLst>
                </a:gridCol>
                <a:gridCol w="949666">
                  <a:extLst>
                    <a:ext uri="{9D8B030D-6E8A-4147-A177-3AD203B41FA5}">
                      <a16:colId xmlns:a16="http://schemas.microsoft.com/office/drawing/2014/main" val="1646087216"/>
                    </a:ext>
                  </a:extLst>
                </a:gridCol>
                <a:gridCol w="949667">
                  <a:extLst>
                    <a:ext uri="{9D8B030D-6E8A-4147-A177-3AD203B41FA5}">
                      <a16:colId xmlns:a16="http://schemas.microsoft.com/office/drawing/2014/main" val="450033880"/>
                    </a:ext>
                  </a:extLst>
                </a:gridCol>
              </a:tblGrid>
              <a:tr h="42607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composition dataset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296769"/>
                  </a:ext>
                </a:extLst>
              </a:tr>
              <a:tr h="426070"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CLUSTER 1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CLUSTER 2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CLUSTER 3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527360"/>
                  </a:ext>
                </a:extLst>
              </a:tr>
              <a:tr h="426070"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3506"/>
                  </a:ext>
                </a:extLst>
              </a:tr>
              <a:tr h="426070">
                <a:tc>
                  <a:txBody>
                    <a:bodyPr/>
                    <a:lstStyle/>
                    <a:p>
                      <a:r>
                        <a:rPr lang="it-IT" dirty="0"/>
                        <a:t>100%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751845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0B351F2A-7CD5-7A42-A4AC-CD1F7E9E4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027187"/>
              </p:ext>
            </p:extLst>
          </p:nvPr>
        </p:nvGraphicFramePr>
        <p:xfrm>
          <a:off x="6086006" y="4711501"/>
          <a:ext cx="597108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771">
                  <a:extLst>
                    <a:ext uri="{9D8B030D-6E8A-4147-A177-3AD203B41FA5}">
                      <a16:colId xmlns:a16="http://schemas.microsoft.com/office/drawing/2014/main" val="3067803531"/>
                    </a:ext>
                  </a:extLst>
                </a:gridCol>
                <a:gridCol w="1492771">
                  <a:extLst>
                    <a:ext uri="{9D8B030D-6E8A-4147-A177-3AD203B41FA5}">
                      <a16:colId xmlns:a16="http://schemas.microsoft.com/office/drawing/2014/main" val="2197233408"/>
                    </a:ext>
                  </a:extLst>
                </a:gridCol>
                <a:gridCol w="1492771">
                  <a:extLst>
                    <a:ext uri="{9D8B030D-6E8A-4147-A177-3AD203B41FA5}">
                      <a16:colId xmlns:a16="http://schemas.microsoft.com/office/drawing/2014/main" val="2931522495"/>
                    </a:ext>
                  </a:extLst>
                </a:gridCol>
                <a:gridCol w="1492771">
                  <a:extLst>
                    <a:ext uri="{9D8B030D-6E8A-4147-A177-3AD203B41FA5}">
                      <a16:colId xmlns:a16="http://schemas.microsoft.com/office/drawing/2014/main" val="895212126"/>
                    </a:ext>
                  </a:extLst>
                </a:gridCol>
              </a:tblGrid>
              <a:tr h="218774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umber of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73279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2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301865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421807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LISBON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16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90641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86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984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FD84FB-3E4F-B7E8-06AA-CF62ED85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OPTICS Assignment of Grey Zone Patients Coimbra and LC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21F96D52-8903-2A08-C058-978643BEFD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9992757"/>
              </p:ext>
            </p:extLst>
          </p:nvPr>
        </p:nvGraphicFramePr>
        <p:xfrm>
          <a:off x="186813" y="2312988"/>
          <a:ext cx="11759384" cy="1540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710">
                  <a:extLst>
                    <a:ext uri="{9D8B030D-6E8A-4147-A177-3AD203B41FA5}">
                      <a16:colId xmlns:a16="http://schemas.microsoft.com/office/drawing/2014/main" val="1571705578"/>
                    </a:ext>
                  </a:extLst>
                </a:gridCol>
                <a:gridCol w="1291312">
                  <a:extLst>
                    <a:ext uri="{9D8B030D-6E8A-4147-A177-3AD203B41FA5}">
                      <a16:colId xmlns:a16="http://schemas.microsoft.com/office/drawing/2014/main" val="3600087819"/>
                    </a:ext>
                  </a:extLst>
                </a:gridCol>
                <a:gridCol w="1291312">
                  <a:extLst>
                    <a:ext uri="{9D8B030D-6E8A-4147-A177-3AD203B41FA5}">
                      <a16:colId xmlns:a16="http://schemas.microsoft.com/office/drawing/2014/main" val="14259607"/>
                    </a:ext>
                  </a:extLst>
                </a:gridCol>
                <a:gridCol w="1291312">
                  <a:extLst>
                    <a:ext uri="{9D8B030D-6E8A-4147-A177-3AD203B41FA5}">
                      <a16:colId xmlns:a16="http://schemas.microsoft.com/office/drawing/2014/main" val="104793883"/>
                    </a:ext>
                  </a:extLst>
                </a:gridCol>
                <a:gridCol w="1291312">
                  <a:extLst>
                    <a:ext uri="{9D8B030D-6E8A-4147-A177-3AD203B41FA5}">
                      <a16:colId xmlns:a16="http://schemas.microsoft.com/office/drawing/2014/main" val="201597992"/>
                    </a:ext>
                  </a:extLst>
                </a:gridCol>
                <a:gridCol w="1255106">
                  <a:extLst>
                    <a:ext uri="{9D8B030D-6E8A-4147-A177-3AD203B41FA5}">
                      <a16:colId xmlns:a16="http://schemas.microsoft.com/office/drawing/2014/main" val="2315084362"/>
                    </a:ext>
                  </a:extLst>
                </a:gridCol>
                <a:gridCol w="1255107">
                  <a:extLst>
                    <a:ext uri="{9D8B030D-6E8A-4147-A177-3AD203B41FA5}">
                      <a16:colId xmlns:a16="http://schemas.microsoft.com/office/drawing/2014/main" val="2258724804"/>
                    </a:ext>
                  </a:extLst>
                </a:gridCol>
                <a:gridCol w="1255107">
                  <a:extLst>
                    <a:ext uri="{9D8B030D-6E8A-4147-A177-3AD203B41FA5}">
                      <a16:colId xmlns:a16="http://schemas.microsoft.com/office/drawing/2014/main" val="2828677148"/>
                    </a:ext>
                  </a:extLst>
                </a:gridCol>
                <a:gridCol w="1255106">
                  <a:extLst>
                    <a:ext uri="{9D8B030D-6E8A-4147-A177-3AD203B41FA5}">
                      <a16:colId xmlns:a16="http://schemas.microsoft.com/office/drawing/2014/main" val="2840355587"/>
                    </a:ext>
                  </a:extLst>
                </a:gridCol>
              </a:tblGrid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grey patients within each cluster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Distribution of grey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773095"/>
                  </a:ext>
                </a:extLst>
              </a:tr>
              <a:tr h="3871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CLU.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13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50%</a:t>
                      </a:r>
                      <a:endParaRPr lang="en-GB" sz="1800" b="0" i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60%</a:t>
                      </a: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799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63.6%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21.4%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12.5%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  <a:endParaRPr lang="en-GB" sz="1800" b="0" i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18.4%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7.9%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5.3%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68.4%</a:t>
                      </a:r>
                      <a:endParaRPr lang="en-GB" sz="1800" b="0" i="0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5C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44217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8EBA74FD-7B82-E4A2-D3A4-C6293D563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400684"/>
              </p:ext>
            </p:extLst>
          </p:nvPr>
        </p:nvGraphicFramePr>
        <p:xfrm>
          <a:off x="0" y="4668529"/>
          <a:ext cx="572624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781">
                  <a:extLst>
                    <a:ext uri="{9D8B030D-6E8A-4147-A177-3AD203B41FA5}">
                      <a16:colId xmlns:a16="http://schemas.microsoft.com/office/drawing/2014/main" val="1136702745"/>
                    </a:ext>
                  </a:extLst>
                </a:gridCol>
                <a:gridCol w="715781">
                  <a:extLst>
                    <a:ext uri="{9D8B030D-6E8A-4147-A177-3AD203B41FA5}">
                      <a16:colId xmlns:a16="http://schemas.microsoft.com/office/drawing/2014/main" val="1665436626"/>
                    </a:ext>
                  </a:extLst>
                </a:gridCol>
                <a:gridCol w="715781">
                  <a:extLst>
                    <a:ext uri="{9D8B030D-6E8A-4147-A177-3AD203B41FA5}">
                      <a16:colId xmlns:a16="http://schemas.microsoft.com/office/drawing/2014/main" val="3040220669"/>
                    </a:ext>
                  </a:extLst>
                </a:gridCol>
                <a:gridCol w="715781">
                  <a:extLst>
                    <a:ext uri="{9D8B030D-6E8A-4147-A177-3AD203B41FA5}">
                      <a16:colId xmlns:a16="http://schemas.microsoft.com/office/drawing/2014/main" val="2570047594"/>
                    </a:ext>
                  </a:extLst>
                </a:gridCol>
                <a:gridCol w="715781">
                  <a:extLst>
                    <a:ext uri="{9D8B030D-6E8A-4147-A177-3AD203B41FA5}">
                      <a16:colId xmlns:a16="http://schemas.microsoft.com/office/drawing/2014/main" val="508139938"/>
                    </a:ext>
                  </a:extLst>
                </a:gridCol>
                <a:gridCol w="715781">
                  <a:extLst>
                    <a:ext uri="{9D8B030D-6E8A-4147-A177-3AD203B41FA5}">
                      <a16:colId xmlns:a16="http://schemas.microsoft.com/office/drawing/2014/main" val="2529853780"/>
                    </a:ext>
                  </a:extLst>
                </a:gridCol>
                <a:gridCol w="715781">
                  <a:extLst>
                    <a:ext uri="{9D8B030D-6E8A-4147-A177-3AD203B41FA5}">
                      <a16:colId xmlns:a16="http://schemas.microsoft.com/office/drawing/2014/main" val="1534590149"/>
                    </a:ext>
                  </a:extLst>
                </a:gridCol>
                <a:gridCol w="715781">
                  <a:extLst>
                    <a:ext uri="{9D8B030D-6E8A-4147-A177-3AD203B41FA5}">
                      <a16:colId xmlns:a16="http://schemas.microsoft.com/office/drawing/2014/main" val="2452298492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 composition dataset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29676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CLUSTER1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CLUSTER2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CLUSTER3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dirty="0"/>
                        <a:t>NOISE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527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LIS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30.8%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69.2%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751845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34B35430-3526-EB57-8E6E-01318D250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227917"/>
              </p:ext>
            </p:extLst>
          </p:nvPr>
        </p:nvGraphicFramePr>
        <p:xfrm>
          <a:off x="5861160" y="4678420"/>
          <a:ext cx="63308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168">
                  <a:extLst>
                    <a:ext uri="{9D8B030D-6E8A-4147-A177-3AD203B41FA5}">
                      <a16:colId xmlns:a16="http://schemas.microsoft.com/office/drawing/2014/main" val="3067803531"/>
                    </a:ext>
                  </a:extLst>
                </a:gridCol>
                <a:gridCol w="1266168">
                  <a:extLst>
                    <a:ext uri="{9D8B030D-6E8A-4147-A177-3AD203B41FA5}">
                      <a16:colId xmlns:a16="http://schemas.microsoft.com/office/drawing/2014/main" val="2197233408"/>
                    </a:ext>
                  </a:extLst>
                </a:gridCol>
                <a:gridCol w="1266168">
                  <a:extLst>
                    <a:ext uri="{9D8B030D-6E8A-4147-A177-3AD203B41FA5}">
                      <a16:colId xmlns:a16="http://schemas.microsoft.com/office/drawing/2014/main" val="2931522495"/>
                    </a:ext>
                  </a:extLst>
                </a:gridCol>
                <a:gridCol w="1266168">
                  <a:extLst>
                    <a:ext uri="{9D8B030D-6E8A-4147-A177-3AD203B41FA5}">
                      <a16:colId xmlns:a16="http://schemas.microsoft.com/office/drawing/2014/main" val="895212126"/>
                    </a:ext>
                  </a:extLst>
                </a:gridCol>
                <a:gridCol w="1266168">
                  <a:extLst>
                    <a:ext uri="{9D8B030D-6E8A-4147-A177-3AD203B41FA5}">
                      <a16:colId xmlns:a16="http://schemas.microsoft.com/office/drawing/2014/main" val="658869548"/>
                    </a:ext>
                  </a:extLst>
                </a:gridCol>
              </a:tblGrid>
              <a:tr h="218774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umber of patients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73279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2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CLUSTER 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NOISE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301865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COIMBRA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421807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lang="it-IT" dirty="0"/>
                        <a:t>LC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26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886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937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7E06230-B56C-3CAE-DA0B-92AADB887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3539152"/>
            <a:ext cx="8769350" cy="873824"/>
          </a:xfrm>
        </p:spPr>
        <p:txBody>
          <a:bodyPr anchor="b">
            <a:normAutofit/>
          </a:bodyPr>
          <a:lstStyle/>
          <a:p>
            <a:pPr algn="ctr"/>
            <a:r>
              <a:rPr lang="en-GB" dirty="0"/>
              <a:t>Open Questions</a:t>
            </a:r>
            <a:endParaRPr lang="en-GB"/>
          </a:p>
        </p:txBody>
      </p:sp>
      <p:sp>
        <p:nvSpPr>
          <p:cNvPr id="19" name="Freeform: Shape 11">
            <a:extLst>
              <a:ext uri="{FF2B5EF4-FFF2-40B4-BE49-F238E27FC236}">
                <a16:creationId xmlns:a16="http://schemas.microsoft.com/office/drawing/2014/main" id="{6719801E-A6E2-4F88-BB91-2A71DBC4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17831" y="502276"/>
            <a:ext cx="3607800" cy="2957084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3">
            <a:extLst>
              <a:ext uri="{FF2B5EF4-FFF2-40B4-BE49-F238E27FC236}">
                <a16:creationId xmlns:a16="http://schemas.microsoft.com/office/drawing/2014/main" id="{284FA090-1E51-4E96-AE7C-430E378B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4077" y="421418"/>
            <a:ext cx="3943847" cy="3117733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15">
            <a:extLst>
              <a:ext uri="{FF2B5EF4-FFF2-40B4-BE49-F238E27FC236}">
                <a16:creationId xmlns:a16="http://schemas.microsoft.com/office/drawing/2014/main" id="{9689869E-ECC4-4D30-B2DF-C7DC3DD85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60566" y="341627"/>
            <a:ext cx="4205424" cy="330404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2" name="Graphic 6" descr="Help">
            <a:extLst>
              <a:ext uri="{FF2B5EF4-FFF2-40B4-BE49-F238E27FC236}">
                <a16:creationId xmlns:a16="http://schemas.microsoft.com/office/drawing/2014/main" id="{C86AB8EF-5AC8-4404-B291-77114C026D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84948" y="1149748"/>
            <a:ext cx="1622104" cy="16221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9511BE1-C8C7-8B52-B642-81806C81D3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20874" y="4412974"/>
                <a:ext cx="8932863" cy="1677725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GB" b="1" dirty="0"/>
                  <a:t>1. Is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b="1" dirty="0"/>
                  <a:t>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b="1" dirty="0"/>
                  <a:t>the most biologically meaningful solution?</a:t>
                </a:r>
              </a:p>
              <a:p>
                <a:pPr algn="ctr"/>
                <a:r>
                  <a:rPr lang="en-GB" b="1" dirty="0"/>
                  <a:t>2. Why are Coimbra and Lisbon consistently separated in the LC cohort?</a:t>
                </a:r>
              </a:p>
              <a:p>
                <a:pPr algn="ctr"/>
                <a:endParaRPr lang="en-GB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9511BE1-C8C7-8B52-B642-81806C81D3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20874" y="4412974"/>
                <a:ext cx="8932863" cy="1677725"/>
              </a:xfrm>
              <a:blipFill>
                <a:blip r:embed="rId3"/>
                <a:stretch>
                  <a:fillRect r="-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9436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256BE2-6C65-89A5-8B4C-55916DF3D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Greyzone</a:t>
            </a:r>
            <a:r>
              <a:rPr lang="fr-FR" dirty="0"/>
              <a:t> Patients </a:t>
            </a:r>
            <a:r>
              <a:rPr lang="fr-FR" dirty="0" err="1"/>
              <a:t>Remain</a:t>
            </a:r>
            <a:r>
              <a:rPr lang="fr-FR" dirty="0"/>
              <a:t> </a:t>
            </a:r>
            <a:r>
              <a:rPr lang="fr-FR" dirty="0" err="1"/>
              <a:t>Unstable</a:t>
            </a:r>
            <a:r>
              <a:rPr lang="fr-FR" dirty="0"/>
              <a:t> at k = 3</a:t>
            </a:r>
            <a:endParaRPr lang="en-GB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6F5835C-5F73-8E2D-5683-217F820B6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849" y="2711270"/>
            <a:ext cx="4026040" cy="301953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823642E-8D35-5942-61F9-F1F5CDD4D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75" y="2711270"/>
            <a:ext cx="4026038" cy="3019529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DF160BC-234B-B6F1-C95B-DD8234F3D8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1889" y="2711270"/>
            <a:ext cx="4026038" cy="30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718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97D522-F55D-2ED3-6056-9D0D20EE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Persistent low-confidence membership at k = 3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67DFD32-54BC-2EB8-FA9C-0074D2C3B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449" y="2941315"/>
            <a:ext cx="4012367" cy="27514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FDA78DF-0B34-6817-D0A2-873B5A361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90" y="2941315"/>
            <a:ext cx="3982386" cy="275140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824F885-EDE3-0EF0-E069-D9F37C347A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816" y="2941315"/>
            <a:ext cx="4012365" cy="27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099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C14302F-E955-47D0-A56B-D1D1A6953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3" y="-9274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310F6C-D8CB-4984-9F9B-BA18C1719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2079" y="1033741"/>
            <a:ext cx="4908132" cy="4613915"/>
            <a:chOff x="659679" y="950330"/>
            <a:chExt cx="4908132" cy="4613915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50E550-BE93-4743-8659-1531F86CB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816216" y="1107426"/>
              <a:ext cx="4619072" cy="4342182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E626DC7-F0FE-49A7-AA4C-A8DB1F7EB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864593" y="1253260"/>
              <a:ext cx="4488025" cy="4074679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EBB781F-78E5-4C66-811C-9FF8B5D50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1300000" flipH="1">
              <a:off x="659679" y="950330"/>
              <a:ext cx="4908132" cy="4613915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000868D8-DC34-B241-1809-DB3E3CEDC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849" y="1899904"/>
            <a:ext cx="3312116" cy="2934031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3000"/>
              <a:t>Does Increasing k Reveal a Stable Third Cluster?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5F94E809-28D1-C17D-7CAA-76B8585AF8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5362782"/>
              </p:ext>
            </p:extLst>
          </p:nvPr>
        </p:nvGraphicFramePr>
        <p:xfrm>
          <a:off x="6095999" y="940107"/>
          <a:ext cx="5076826" cy="5024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3629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C14302F-E955-47D0-A56B-D1D1A6953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3" y="-9274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310F6C-D8CB-4984-9F9B-BA18C1719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2079" y="1033741"/>
            <a:ext cx="4908132" cy="4613915"/>
            <a:chOff x="659679" y="950330"/>
            <a:chExt cx="4908132" cy="4613915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50E550-BE93-4743-8659-1531F86CB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816216" y="1107426"/>
              <a:ext cx="4619072" cy="4342182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E626DC7-F0FE-49A7-AA4C-A8DB1F7EB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864593" y="1253260"/>
              <a:ext cx="4488025" cy="4074679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EBB781F-78E5-4C66-811C-9FF8B5D50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1300000" flipH="1">
              <a:off x="659679" y="950330"/>
              <a:ext cx="4908132" cy="4613915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0CDAF69-FC9B-FD0D-9FA8-8B064977C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849" y="1899904"/>
            <a:ext cx="3312116" cy="2934031"/>
          </a:xfrm>
        </p:spPr>
        <p:txBody>
          <a:bodyPr anchor="ctr">
            <a:normAutofit/>
          </a:bodyPr>
          <a:lstStyle/>
          <a:p>
            <a:r>
              <a:rPr lang="en-GB" sz="2700"/>
              <a:t>Understanding cohort-specific clustering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233C9E2A-0EE6-5639-55D1-9842550159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3217136"/>
              </p:ext>
            </p:extLst>
          </p:nvPr>
        </p:nvGraphicFramePr>
        <p:xfrm>
          <a:off x="6095999" y="940107"/>
          <a:ext cx="5076826" cy="5024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4467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F50A80E-5DCB-4320-9947-73BF2D6F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E9C9717-43F9-44EA-9215-3F2D15B1C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66004D1-3DCE-405F-9046-6DE91240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319957-918B-4BBC-B357-957813808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4E5F18F-9D70-4BE5-8A38-603463EE8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7626" y="0"/>
            <a:ext cx="10678291" cy="6858000"/>
            <a:chOff x="547626" y="0"/>
            <a:chExt cx="10678291" cy="685800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91F8D69-709A-4575-A393-B4C26481A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66083" y="0"/>
              <a:ext cx="9841377" cy="6858000"/>
            </a:xfrm>
            <a:custGeom>
              <a:avLst/>
              <a:gdLst>
                <a:gd name="connsiteX0" fmla="*/ 8218354 w 9841377"/>
                <a:gd name="connsiteY0" fmla="*/ 0 h 6858000"/>
                <a:gd name="connsiteX1" fmla="*/ 5551962 w 9841377"/>
                <a:gd name="connsiteY1" fmla="*/ 0 h 6858000"/>
                <a:gd name="connsiteX2" fmla="*/ 5482342 w 9841377"/>
                <a:gd name="connsiteY2" fmla="*/ 0 h 6858000"/>
                <a:gd name="connsiteX3" fmla="*/ 4359035 w 9841377"/>
                <a:gd name="connsiteY3" fmla="*/ 0 h 6858000"/>
                <a:gd name="connsiteX4" fmla="*/ 4289415 w 9841377"/>
                <a:gd name="connsiteY4" fmla="*/ 0 h 6858000"/>
                <a:gd name="connsiteX5" fmla="*/ 1623023 w 9841377"/>
                <a:gd name="connsiteY5" fmla="*/ 0 h 6858000"/>
                <a:gd name="connsiteX6" fmla="*/ 1600899 w 9841377"/>
                <a:gd name="connsiteY6" fmla="*/ 14997 h 6858000"/>
                <a:gd name="connsiteX7" fmla="*/ 0 w 9841377"/>
                <a:gd name="connsiteY7" fmla="*/ 3621656 h 6858000"/>
                <a:gd name="connsiteX8" fmla="*/ 1874350 w 9841377"/>
                <a:gd name="connsiteY8" fmla="*/ 6374814 h 6858000"/>
                <a:gd name="connsiteX9" fmla="*/ 2390998 w 9841377"/>
                <a:gd name="connsiteY9" fmla="*/ 6780599 h 6858000"/>
                <a:gd name="connsiteX10" fmla="*/ 2502754 w 9841377"/>
                <a:gd name="connsiteY10" fmla="*/ 6858000 h 6858000"/>
                <a:gd name="connsiteX11" fmla="*/ 4289415 w 9841377"/>
                <a:gd name="connsiteY11" fmla="*/ 6858000 h 6858000"/>
                <a:gd name="connsiteX12" fmla="*/ 4359035 w 9841377"/>
                <a:gd name="connsiteY12" fmla="*/ 6858000 h 6858000"/>
                <a:gd name="connsiteX13" fmla="*/ 5482342 w 9841377"/>
                <a:gd name="connsiteY13" fmla="*/ 6858000 h 6858000"/>
                <a:gd name="connsiteX14" fmla="*/ 5551962 w 9841377"/>
                <a:gd name="connsiteY14" fmla="*/ 6858000 h 6858000"/>
                <a:gd name="connsiteX15" fmla="*/ 7338623 w 9841377"/>
                <a:gd name="connsiteY15" fmla="*/ 6858000 h 6858000"/>
                <a:gd name="connsiteX16" fmla="*/ 7450379 w 9841377"/>
                <a:gd name="connsiteY16" fmla="*/ 6780599 h 6858000"/>
                <a:gd name="connsiteX17" fmla="*/ 7967027 w 9841377"/>
                <a:gd name="connsiteY17" fmla="*/ 6374814 h 6858000"/>
                <a:gd name="connsiteX18" fmla="*/ 9841377 w 9841377"/>
                <a:gd name="connsiteY18" fmla="*/ 3621656 h 6858000"/>
                <a:gd name="connsiteX19" fmla="*/ 8240478 w 9841377"/>
                <a:gd name="connsiteY19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841377" h="6858000">
                  <a:moveTo>
                    <a:pt x="8218354" y="0"/>
                  </a:moveTo>
                  <a:lnTo>
                    <a:pt x="5551962" y="0"/>
                  </a:lnTo>
                  <a:lnTo>
                    <a:pt x="5482342" y="0"/>
                  </a:lnTo>
                  <a:lnTo>
                    <a:pt x="4359035" y="0"/>
                  </a:lnTo>
                  <a:lnTo>
                    <a:pt x="4289415" y="0"/>
                  </a:lnTo>
                  <a:lnTo>
                    <a:pt x="1623023" y="0"/>
                  </a:lnTo>
                  <a:lnTo>
                    <a:pt x="1600899" y="14997"/>
                  </a:lnTo>
                  <a:cubicBezTo>
                    <a:pt x="573736" y="754641"/>
                    <a:pt x="0" y="2093192"/>
                    <a:pt x="0" y="3621656"/>
                  </a:cubicBezTo>
                  <a:cubicBezTo>
                    <a:pt x="0" y="4969131"/>
                    <a:pt x="928725" y="5602839"/>
                    <a:pt x="1874350" y="6374814"/>
                  </a:cubicBezTo>
                  <a:cubicBezTo>
                    <a:pt x="2046553" y="6515397"/>
                    <a:pt x="2217180" y="6653108"/>
                    <a:pt x="2390998" y="6780599"/>
                  </a:cubicBezTo>
                  <a:lnTo>
                    <a:pt x="2502754" y="6858000"/>
                  </a:lnTo>
                  <a:lnTo>
                    <a:pt x="4289415" y="6858000"/>
                  </a:lnTo>
                  <a:lnTo>
                    <a:pt x="4359035" y="6858000"/>
                  </a:lnTo>
                  <a:lnTo>
                    <a:pt x="5482342" y="6858000"/>
                  </a:lnTo>
                  <a:lnTo>
                    <a:pt x="5551962" y="6858000"/>
                  </a:lnTo>
                  <a:lnTo>
                    <a:pt x="7338623" y="6858000"/>
                  </a:lnTo>
                  <a:lnTo>
                    <a:pt x="7450379" y="6780599"/>
                  </a:lnTo>
                  <a:cubicBezTo>
                    <a:pt x="7624197" y="6653108"/>
                    <a:pt x="7794824" y="6515397"/>
                    <a:pt x="7967027" y="6374814"/>
                  </a:cubicBezTo>
                  <a:cubicBezTo>
                    <a:pt x="8912652" y="5602839"/>
                    <a:pt x="9841377" y="4969131"/>
                    <a:pt x="9841377" y="3621656"/>
                  </a:cubicBezTo>
                  <a:cubicBezTo>
                    <a:pt x="9841377" y="2093192"/>
                    <a:pt x="9267641" y="754641"/>
                    <a:pt x="8240478" y="14997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0981015-32A2-4B76-9F2E-0A8D6EC8EC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47626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8532F4-8B67-47B7-B58A-5DD3E1BE5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60922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C87DA9F-8DB2-4D48-8716-A928FBB8A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26724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95EA065-AC5D-431D-927E-87FF05884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9619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E37E2DD-C7FE-4D6C-8F1D-5031E96A7F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7618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78B68BA-AB87-4EB5-97C2-F1F304E19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4494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276F1526-3812-5C3E-BD92-E1D0FDB90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0" y="1346268"/>
            <a:ext cx="7810500" cy="312533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7200">
                <a:solidFill>
                  <a:schemeClr val="tx1">
                    <a:lumMod val="85000"/>
                    <a:lumOff val="15000"/>
                  </a:schemeClr>
                </a:solidFill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948277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714B1-AA9B-58FB-E022-A72854155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417A778B-8AF1-69B9-EF5A-AECE15E88120}"/>
              </a:ext>
            </a:extLst>
          </p:cNvPr>
          <p:cNvSpPr/>
          <p:nvPr/>
        </p:nvSpPr>
        <p:spPr>
          <a:xfrm>
            <a:off x="7496556" y="2267712"/>
            <a:ext cx="3104388" cy="3867912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78A1AD21-2D3E-1F34-C8C4-C0B552DD6668}"/>
              </a:ext>
            </a:extLst>
          </p:cNvPr>
          <p:cNvSpPr/>
          <p:nvPr/>
        </p:nvSpPr>
        <p:spPr>
          <a:xfrm>
            <a:off x="4271772" y="2267712"/>
            <a:ext cx="3104388" cy="3867912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390F25C-DB8B-9184-CFC2-3598019A3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Grey Zone Behaviour Across Models and Datasets with K=3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D28163E-1B63-2873-7FA5-153988C2B3B1}"/>
              </a:ext>
            </a:extLst>
          </p:cNvPr>
          <p:cNvSpPr txBox="1"/>
          <p:nvPr/>
        </p:nvSpPr>
        <p:spPr>
          <a:xfrm>
            <a:off x="4271772" y="2457694"/>
            <a:ext cx="3104388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Lisbon (42 </a:t>
            </a:r>
            <a:r>
              <a:rPr lang="it-IT" sz="1600" dirty="0" err="1"/>
              <a:t>patients</a:t>
            </a:r>
            <a:r>
              <a:rPr lang="it-IT" sz="1600" dirty="0"/>
              <a:t>)</a:t>
            </a:r>
          </a:p>
          <a:p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K-means → </a:t>
            </a:r>
            <a:r>
              <a:rPr lang="en-GB" sz="1600" dirty="0">
                <a:solidFill>
                  <a:srgbClr val="FF0000"/>
                </a:solidFill>
              </a:rPr>
              <a:t>collapse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Ward → </a:t>
            </a:r>
            <a:r>
              <a:rPr lang="en-GB" sz="1600" dirty="0">
                <a:solidFill>
                  <a:srgbClr val="FF0000"/>
                </a:solidFill>
              </a:rPr>
              <a:t>collapse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NMF → </a:t>
            </a:r>
            <a:r>
              <a:rPr lang="en-GB" sz="1600" dirty="0">
                <a:solidFill>
                  <a:srgbClr val="00B050"/>
                </a:solidFill>
              </a:rPr>
              <a:t>balanced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Spectral clustering → </a:t>
            </a:r>
            <a:r>
              <a:rPr lang="en-GB" sz="1600" dirty="0">
                <a:solidFill>
                  <a:srgbClr val="00B050"/>
                </a:solidFill>
              </a:rPr>
              <a:t>balanced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Spectral co-clustering → </a:t>
            </a:r>
            <a:r>
              <a:rPr lang="en-GB" sz="1600" dirty="0">
                <a:solidFill>
                  <a:srgbClr val="00B0F0"/>
                </a:solidFill>
              </a:rPr>
              <a:t>asymmetric redistribution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441C9B99-5133-5546-CE47-2E559A88C747}"/>
              </a:ext>
            </a:extLst>
          </p:cNvPr>
          <p:cNvSpPr/>
          <p:nvPr/>
        </p:nvSpPr>
        <p:spPr>
          <a:xfrm>
            <a:off x="1011886" y="2267712"/>
            <a:ext cx="3104387" cy="3867912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64C7DC6-3A0B-6467-A768-D9512F6BE457}"/>
              </a:ext>
            </a:extLst>
          </p:cNvPr>
          <p:cNvSpPr txBox="1"/>
          <p:nvPr/>
        </p:nvSpPr>
        <p:spPr>
          <a:xfrm>
            <a:off x="1046989" y="2457694"/>
            <a:ext cx="310438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Coimbra (20 </a:t>
            </a:r>
            <a:r>
              <a:rPr lang="it-IT" sz="1600" dirty="0" err="1"/>
              <a:t>patients</a:t>
            </a:r>
            <a:r>
              <a:rPr lang="it-IT" sz="1600" dirty="0"/>
              <a:t>)</a:t>
            </a:r>
          </a:p>
          <a:p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K-means → </a:t>
            </a:r>
            <a:r>
              <a:rPr lang="en-GB" sz="1600" dirty="0" err="1">
                <a:solidFill>
                  <a:srgbClr val="00B0F0"/>
                </a:solidFill>
              </a:rPr>
              <a:t>splitted</a:t>
            </a:r>
            <a:r>
              <a:rPr lang="en-GB" sz="1600" dirty="0">
                <a:solidFill>
                  <a:srgbClr val="00B0F0"/>
                </a:solidFill>
              </a:rPr>
              <a:t> in two clusters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Ward → </a:t>
            </a:r>
            <a:r>
              <a:rPr lang="en-GB" sz="1600" dirty="0">
                <a:solidFill>
                  <a:srgbClr val="FF0000"/>
                </a:solidFill>
              </a:rPr>
              <a:t>collapse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NMF → </a:t>
            </a:r>
            <a:r>
              <a:rPr lang="en-GB" sz="1600" dirty="0">
                <a:solidFill>
                  <a:srgbClr val="00B050"/>
                </a:solidFill>
              </a:rPr>
              <a:t>balanced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Spectral clustering → </a:t>
            </a:r>
            <a:r>
              <a:rPr lang="en-GB" sz="1600" dirty="0">
                <a:solidFill>
                  <a:srgbClr val="FF0000"/>
                </a:solidFill>
              </a:rPr>
              <a:t>collapse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Spectral co-clustering → </a:t>
            </a:r>
            <a:r>
              <a:rPr lang="en-GB" sz="1600" dirty="0">
                <a:solidFill>
                  <a:srgbClr val="FF0000"/>
                </a:solidFill>
              </a:rPr>
              <a:t>collapse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057A107-BCE9-2750-7020-02A374BC8004}"/>
              </a:ext>
            </a:extLst>
          </p:cNvPr>
          <p:cNvSpPr txBox="1"/>
          <p:nvPr/>
        </p:nvSpPr>
        <p:spPr>
          <a:xfrm>
            <a:off x="7496556" y="2457694"/>
            <a:ext cx="310438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LC (67 </a:t>
            </a:r>
            <a:r>
              <a:rPr lang="it-IT" sz="1600" dirty="0" err="1"/>
              <a:t>patients</a:t>
            </a:r>
            <a:r>
              <a:rPr lang="it-IT" sz="1600" dirty="0"/>
              <a:t>)</a:t>
            </a:r>
          </a:p>
          <a:p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K-means → </a:t>
            </a:r>
            <a:r>
              <a:rPr lang="en-GB" sz="1600" dirty="0">
                <a:solidFill>
                  <a:srgbClr val="FF0000"/>
                </a:solidFill>
              </a:rPr>
              <a:t>collapse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Ward → </a:t>
            </a:r>
            <a:r>
              <a:rPr lang="en-GB" sz="1600" dirty="0">
                <a:solidFill>
                  <a:srgbClr val="00B0F0"/>
                </a:solidFill>
              </a:rPr>
              <a:t>asymmetric redistribution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NMF → </a:t>
            </a:r>
            <a:r>
              <a:rPr lang="en-GB" sz="1600" dirty="0">
                <a:solidFill>
                  <a:srgbClr val="00B050"/>
                </a:solidFill>
              </a:rPr>
              <a:t>balanced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Spectral clustering → </a:t>
            </a:r>
            <a:r>
              <a:rPr lang="en-GB" sz="1600" dirty="0">
                <a:solidFill>
                  <a:srgbClr val="FF0000"/>
                </a:solidFill>
              </a:rPr>
              <a:t>collapse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Spectral co-clustering → </a:t>
            </a:r>
            <a:r>
              <a:rPr lang="en-GB" sz="1600" dirty="0">
                <a:solidFill>
                  <a:srgbClr val="00B0F0"/>
                </a:solidFill>
              </a:rPr>
              <a:t>asymmetric redistribution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941449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7268</TotalTime>
  <Words>2124</Words>
  <Application>Microsoft Office PowerPoint</Application>
  <PresentationFormat>Widescreen</PresentationFormat>
  <Paragraphs>749</Paragraphs>
  <Slides>25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31" baseType="lpstr">
      <vt:lpstr>Meiryo</vt:lpstr>
      <vt:lpstr>Arial</vt:lpstr>
      <vt:lpstr>Cambria Math</vt:lpstr>
      <vt:lpstr>Corbel</vt:lpstr>
      <vt:lpstr>Wingdings</vt:lpstr>
      <vt:lpstr>SketchLinesVTI</vt:lpstr>
      <vt:lpstr>Do Ambiguous Patients Form a Distinct Cluster? A Comparative Clustering Analysis</vt:lpstr>
      <vt:lpstr>Distribution of Patient Assignment Confidence (NMF, k=2)</vt:lpstr>
      <vt:lpstr>Distribution of Patient Assignment Confidence (NMF, k=2)</vt:lpstr>
      <vt:lpstr>Key Questions</vt:lpstr>
      <vt:lpstr>K-means Assignment of Grey Zone Patients (K = 2)</vt:lpstr>
      <vt:lpstr>Ward Assignment of Grey Zone Patients (K = 2)</vt:lpstr>
      <vt:lpstr>Spectral Assignment of Grey Zone Patients (K = 2)</vt:lpstr>
      <vt:lpstr>Spectral Co-Clustering Assignment of Grey Zone Patients (K = 2)</vt:lpstr>
      <vt:lpstr>NMF Assignment of Grey Zone Patients (K = 2)</vt:lpstr>
      <vt:lpstr>OPTICS Assignment of Grey Zone Patients Lisbon</vt:lpstr>
      <vt:lpstr>Grey Zone Behaviour Across Models and Datasets</vt:lpstr>
      <vt:lpstr>Strong dataset-driven structure in LC</vt:lpstr>
      <vt:lpstr>K-means Assignment of Grey Zone Patients (K = 3)</vt:lpstr>
      <vt:lpstr>Ward Assignment of Grey Zone Patients (K = 3)</vt:lpstr>
      <vt:lpstr>Spectral Assignment of Grey Zone Patients (K = 3)</vt:lpstr>
      <vt:lpstr>NMF Assignment of Grey Zone Patients (K = 3)</vt:lpstr>
      <vt:lpstr>Spectral Co-Clustering Assignment of Grey Zone Patients (K = 3)</vt:lpstr>
      <vt:lpstr>OPTICS Assignment of Grey Zone Patients Coimbra and LC</vt:lpstr>
      <vt:lpstr>Open Questions</vt:lpstr>
      <vt:lpstr>Greyzone Patients Remain Unstable at k = 3</vt:lpstr>
      <vt:lpstr>Persistent low-confidence membership at k = 3</vt:lpstr>
      <vt:lpstr>Does Increasing k Reveal a Stable Third Cluster?</vt:lpstr>
      <vt:lpstr>Understanding cohort-specific clustering</vt:lpstr>
      <vt:lpstr>OBRIGADO!</vt:lpstr>
      <vt:lpstr>Grey Zone Behaviour Across Models and Datasets with K=3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Valerio Piersanti - valerio.piersanti3@studio.unibo.it</dc:creator>
  <cp:lastModifiedBy>Valerio Piersanti - valerio.piersanti3@studio.unibo.it</cp:lastModifiedBy>
  <cp:revision>3</cp:revision>
  <dcterms:created xsi:type="dcterms:W3CDTF">2026-05-07T15:44:58Z</dcterms:created>
  <dcterms:modified xsi:type="dcterms:W3CDTF">2026-05-18T12:40:48Z</dcterms:modified>
</cp:coreProperties>
</file>