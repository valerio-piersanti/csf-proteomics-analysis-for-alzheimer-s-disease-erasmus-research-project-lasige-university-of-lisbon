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4"/>
  </p:sldMasterIdLst>
  <p:sldIdLst>
    <p:sldId id="256" r:id="rId5"/>
    <p:sldId id="257" r:id="rId6"/>
    <p:sldId id="270" r:id="rId7"/>
    <p:sldId id="271" r:id="rId8"/>
    <p:sldId id="272" r:id="rId9"/>
    <p:sldId id="273" r:id="rId10"/>
    <p:sldId id="274" r:id="rId11"/>
    <p:sldId id="259" r:id="rId12"/>
    <p:sldId id="260" r:id="rId13"/>
    <p:sldId id="261" r:id="rId14"/>
    <p:sldId id="262" r:id="rId15"/>
    <p:sldId id="269" r:id="rId16"/>
    <p:sldId id="263" r:id="rId17"/>
    <p:sldId id="264" r:id="rId18"/>
    <p:sldId id="265" r:id="rId19"/>
    <p:sldId id="266" r:id="rId20"/>
    <p:sldId id="267" r:id="rId21"/>
    <p:sldId id="2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diagrams/_rels/data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3C3827-C397-403C-A488-E5D617F7713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E64DF51-D31B-47A5-A34A-EA3D943771CF}">
      <dgm:prSet/>
      <dgm:spPr/>
      <dgm:t>
        <a:bodyPr/>
        <a:lstStyle/>
        <a:p>
          <a:pPr>
            <a:lnSpc>
              <a:spcPct val="100000"/>
            </a:lnSpc>
          </a:pPr>
          <a:r>
            <a:rPr lang="en-US" b="0" i="0" baseline="0" dirty="0"/>
            <a:t>Why are some samples labeled as unknown? Should we discard them?</a:t>
          </a:r>
          <a:endParaRPr lang="en-US" b="0" dirty="0"/>
        </a:p>
      </dgm:t>
    </dgm:pt>
    <dgm:pt modelId="{6F05E065-42F0-4628-9782-454CFDA1F03F}" type="parTrans" cxnId="{F0DEC214-05A0-41EF-8AB9-7B8003A8C3CC}">
      <dgm:prSet/>
      <dgm:spPr/>
      <dgm:t>
        <a:bodyPr/>
        <a:lstStyle/>
        <a:p>
          <a:endParaRPr lang="en-US"/>
        </a:p>
      </dgm:t>
    </dgm:pt>
    <dgm:pt modelId="{307A1ABB-DCA7-456B-9206-555847487E20}" type="sibTrans" cxnId="{F0DEC214-05A0-41EF-8AB9-7B8003A8C3CC}">
      <dgm:prSet/>
      <dgm:spPr/>
      <dgm:t>
        <a:bodyPr/>
        <a:lstStyle/>
        <a:p>
          <a:endParaRPr lang="en-US"/>
        </a:p>
      </dgm:t>
    </dgm:pt>
    <dgm:pt modelId="{B7958D46-29AA-4DC3-90FC-B37A676B4952}">
      <dgm:prSet/>
      <dgm:spPr/>
      <dgm:t>
        <a:bodyPr/>
        <a:lstStyle/>
        <a:p>
          <a:pPr>
            <a:lnSpc>
              <a:spcPct val="100000"/>
            </a:lnSpc>
          </a:pPr>
          <a:r>
            <a:rPr lang="en-US" b="0" i="0" baseline="0" dirty="0"/>
            <a:t>Why are the cohorts not balanced between AD and CT groups?</a:t>
          </a:r>
          <a:endParaRPr lang="en-US" b="0" dirty="0"/>
        </a:p>
      </dgm:t>
    </dgm:pt>
    <dgm:pt modelId="{252694C3-E97A-476B-BCE2-AB76AC198420}" type="parTrans" cxnId="{B30D9A0F-A53A-496D-9904-6754A9D321E4}">
      <dgm:prSet/>
      <dgm:spPr/>
      <dgm:t>
        <a:bodyPr/>
        <a:lstStyle/>
        <a:p>
          <a:endParaRPr lang="en-US"/>
        </a:p>
      </dgm:t>
    </dgm:pt>
    <dgm:pt modelId="{D113A189-E362-4428-B8BD-E94BFB1B6675}" type="sibTrans" cxnId="{B30D9A0F-A53A-496D-9904-6754A9D321E4}">
      <dgm:prSet/>
      <dgm:spPr/>
      <dgm:t>
        <a:bodyPr/>
        <a:lstStyle/>
        <a:p>
          <a:endParaRPr lang="en-US"/>
        </a:p>
      </dgm:t>
    </dgm:pt>
    <dgm:pt modelId="{4425BD3B-CBE5-4889-9759-EECC63DC1D34}">
      <dgm:prSet/>
      <dgm:spPr/>
      <dgm:t>
        <a:bodyPr/>
        <a:lstStyle/>
        <a:p>
          <a:pPr>
            <a:lnSpc>
              <a:spcPct val="100000"/>
            </a:lnSpc>
          </a:pPr>
          <a:r>
            <a:rPr lang="en-US" b="0" i="0" baseline="0" dirty="0"/>
            <a:t>Why are there duplicate samples in the dataset?</a:t>
          </a:r>
          <a:endParaRPr lang="en-US" b="0" dirty="0"/>
        </a:p>
      </dgm:t>
    </dgm:pt>
    <dgm:pt modelId="{E33AD6A5-8C3D-4E79-81F2-A343995998D5}" type="parTrans" cxnId="{7392F44A-A6AB-4A89-9448-FC71250BA0F5}">
      <dgm:prSet/>
      <dgm:spPr/>
      <dgm:t>
        <a:bodyPr/>
        <a:lstStyle/>
        <a:p>
          <a:endParaRPr lang="en-US"/>
        </a:p>
      </dgm:t>
    </dgm:pt>
    <dgm:pt modelId="{396BE44E-750D-4B9E-A7F1-C1D1C1B50622}" type="sibTrans" cxnId="{7392F44A-A6AB-4A89-9448-FC71250BA0F5}">
      <dgm:prSet/>
      <dgm:spPr/>
      <dgm:t>
        <a:bodyPr/>
        <a:lstStyle/>
        <a:p>
          <a:endParaRPr lang="en-US"/>
        </a:p>
      </dgm:t>
    </dgm:pt>
    <dgm:pt modelId="{81C8D59E-1204-4E31-877A-46F7645BFE3C}">
      <dgm:prSet/>
      <dgm:spPr/>
      <dgm:t>
        <a:bodyPr/>
        <a:lstStyle/>
        <a:p>
          <a:pPr>
            <a:lnSpc>
              <a:spcPct val="100000"/>
            </a:lnSpc>
          </a:pPr>
          <a:r>
            <a:rPr lang="en-US" b="0" i="0" baseline="0" dirty="0"/>
            <a:t>Was any batch effect correction applied before data release?</a:t>
          </a:r>
          <a:endParaRPr lang="en-US" b="0" dirty="0"/>
        </a:p>
      </dgm:t>
    </dgm:pt>
    <dgm:pt modelId="{3A99780A-6603-4703-89DC-CCE07BB92E3D}" type="parTrans" cxnId="{54BA9FFF-5F5C-46FC-89E4-F23C7C868FC3}">
      <dgm:prSet/>
      <dgm:spPr/>
      <dgm:t>
        <a:bodyPr/>
        <a:lstStyle/>
        <a:p>
          <a:endParaRPr lang="en-US"/>
        </a:p>
      </dgm:t>
    </dgm:pt>
    <dgm:pt modelId="{A3D85D96-47F0-44F4-903E-56A47E53E2F9}" type="sibTrans" cxnId="{54BA9FFF-5F5C-46FC-89E4-F23C7C868FC3}">
      <dgm:prSet/>
      <dgm:spPr/>
      <dgm:t>
        <a:bodyPr/>
        <a:lstStyle/>
        <a:p>
          <a:endParaRPr lang="en-US"/>
        </a:p>
      </dgm:t>
    </dgm:pt>
    <dgm:pt modelId="{EE2D81A2-9202-484C-B560-DB3C1101C14E}" type="pres">
      <dgm:prSet presAssocID="{D73C3827-C397-403C-A488-E5D617F77139}" presName="root" presStyleCnt="0">
        <dgm:presLayoutVars>
          <dgm:dir/>
          <dgm:resizeHandles val="exact"/>
        </dgm:presLayoutVars>
      </dgm:prSet>
      <dgm:spPr/>
    </dgm:pt>
    <dgm:pt modelId="{8F199777-AF37-4028-8A3C-22B2120B72B8}" type="pres">
      <dgm:prSet presAssocID="{EE64DF51-D31B-47A5-A34A-EA3D943771CF}" presName="compNode" presStyleCnt="0"/>
      <dgm:spPr/>
    </dgm:pt>
    <dgm:pt modelId="{E40BA321-423B-44A7-AD9E-7316EB298737}" type="pres">
      <dgm:prSet presAssocID="{EE64DF51-D31B-47A5-A34A-EA3D943771CF}" presName="bgRect" presStyleLbl="bgShp" presStyleIdx="0" presStyleCnt="4"/>
      <dgm:spPr/>
    </dgm:pt>
    <dgm:pt modelId="{F123FEE2-0F8E-4411-A15B-C94D017C5F01}" type="pres">
      <dgm:prSet presAssocID="{EE64DF51-D31B-47A5-A34A-EA3D943771C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e"/>
        </a:ext>
      </dgm:extLst>
    </dgm:pt>
    <dgm:pt modelId="{A7F728A1-B7E8-4B2F-8253-02338C5BAF46}" type="pres">
      <dgm:prSet presAssocID="{EE64DF51-D31B-47A5-A34A-EA3D943771CF}" presName="spaceRect" presStyleCnt="0"/>
      <dgm:spPr/>
    </dgm:pt>
    <dgm:pt modelId="{A079ECB1-1C5F-4F6B-B8AF-6F767632BA2E}" type="pres">
      <dgm:prSet presAssocID="{EE64DF51-D31B-47A5-A34A-EA3D943771CF}" presName="parTx" presStyleLbl="revTx" presStyleIdx="0" presStyleCnt="4">
        <dgm:presLayoutVars>
          <dgm:chMax val="0"/>
          <dgm:chPref val="0"/>
        </dgm:presLayoutVars>
      </dgm:prSet>
      <dgm:spPr/>
    </dgm:pt>
    <dgm:pt modelId="{DAD5190C-D38B-4ACA-84F2-7E94EAE4A182}" type="pres">
      <dgm:prSet presAssocID="{307A1ABB-DCA7-456B-9206-555847487E20}" presName="sibTrans" presStyleCnt="0"/>
      <dgm:spPr/>
    </dgm:pt>
    <dgm:pt modelId="{4B6336CF-D6E6-4EE2-B871-997762803CC2}" type="pres">
      <dgm:prSet presAssocID="{B7958D46-29AA-4DC3-90FC-B37A676B4952}" presName="compNode" presStyleCnt="0"/>
      <dgm:spPr/>
    </dgm:pt>
    <dgm:pt modelId="{EDB74795-DDA3-46CA-B488-7BE79E916211}" type="pres">
      <dgm:prSet presAssocID="{B7958D46-29AA-4DC3-90FC-B37A676B4952}" presName="bgRect" presStyleLbl="bgShp" presStyleIdx="1" presStyleCnt="4"/>
      <dgm:spPr/>
    </dgm:pt>
    <dgm:pt modelId="{E0B14909-6A84-4C25-A0EF-6EBC01B83B64}" type="pres">
      <dgm:prSet presAssocID="{B7958D46-29AA-4DC3-90FC-B37A676B495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uppo"/>
        </a:ext>
      </dgm:extLst>
    </dgm:pt>
    <dgm:pt modelId="{C8C00564-60BD-4547-B0E4-5406C8C432C6}" type="pres">
      <dgm:prSet presAssocID="{B7958D46-29AA-4DC3-90FC-B37A676B4952}" presName="spaceRect" presStyleCnt="0"/>
      <dgm:spPr/>
    </dgm:pt>
    <dgm:pt modelId="{AB339F00-815A-4237-8E4E-A4AA59894A33}" type="pres">
      <dgm:prSet presAssocID="{B7958D46-29AA-4DC3-90FC-B37A676B4952}" presName="parTx" presStyleLbl="revTx" presStyleIdx="1" presStyleCnt="4">
        <dgm:presLayoutVars>
          <dgm:chMax val="0"/>
          <dgm:chPref val="0"/>
        </dgm:presLayoutVars>
      </dgm:prSet>
      <dgm:spPr/>
    </dgm:pt>
    <dgm:pt modelId="{1D91DCC2-46CC-4D86-9D3A-ECAFD4068A9B}" type="pres">
      <dgm:prSet presAssocID="{D113A189-E362-4428-B8BD-E94BFB1B6675}" presName="sibTrans" presStyleCnt="0"/>
      <dgm:spPr/>
    </dgm:pt>
    <dgm:pt modelId="{052A4EB3-1B79-4D3B-87C4-834BBBBB6824}" type="pres">
      <dgm:prSet presAssocID="{4425BD3B-CBE5-4889-9759-EECC63DC1D34}" presName="compNode" presStyleCnt="0"/>
      <dgm:spPr/>
    </dgm:pt>
    <dgm:pt modelId="{8248E06A-FBAA-40E0-B9F7-FC65AED5BA49}" type="pres">
      <dgm:prSet presAssocID="{4425BD3B-CBE5-4889-9759-EECC63DC1D34}" presName="bgRect" presStyleLbl="bgShp" presStyleIdx="2" presStyleCnt="4"/>
      <dgm:spPr/>
    </dgm:pt>
    <dgm:pt modelId="{AEF57632-883D-44A9-9F1E-C444D4BBE800}" type="pres">
      <dgm:prSet presAssocID="{4425BD3B-CBE5-4889-9759-EECC63DC1D3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he"/>
        </a:ext>
      </dgm:extLst>
    </dgm:pt>
    <dgm:pt modelId="{5FF2F0E6-0868-4D81-AF4B-77711B3320E5}" type="pres">
      <dgm:prSet presAssocID="{4425BD3B-CBE5-4889-9759-EECC63DC1D34}" presName="spaceRect" presStyleCnt="0"/>
      <dgm:spPr/>
    </dgm:pt>
    <dgm:pt modelId="{86525ED6-C6EC-4A78-9E2B-5F37469BAFFB}" type="pres">
      <dgm:prSet presAssocID="{4425BD3B-CBE5-4889-9759-EECC63DC1D34}" presName="parTx" presStyleLbl="revTx" presStyleIdx="2" presStyleCnt="4">
        <dgm:presLayoutVars>
          <dgm:chMax val="0"/>
          <dgm:chPref val="0"/>
        </dgm:presLayoutVars>
      </dgm:prSet>
      <dgm:spPr/>
    </dgm:pt>
    <dgm:pt modelId="{F54362E8-C812-4E65-B72B-DF0D0E13AB69}" type="pres">
      <dgm:prSet presAssocID="{396BE44E-750D-4B9E-A7F1-C1D1C1B50622}" presName="sibTrans" presStyleCnt="0"/>
      <dgm:spPr/>
    </dgm:pt>
    <dgm:pt modelId="{677EE665-9F02-4BA1-8A70-BDA55E6BF531}" type="pres">
      <dgm:prSet presAssocID="{81C8D59E-1204-4E31-877A-46F7645BFE3C}" presName="compNode" presStyleCnt="0"/>
      <dgm:spPr/>
    </dgm:pt>
    <dgm:pt modelId="{8C1AB9ED-249D-453E-907B-739A697B6C2B}" type="pres">
      <dgm:prSet presAssocID="{81C8D59E-1204-4E31-877A-46F7645BFE3C}" presName="bgRect" presStyleLbl="bgShp" presStyleIdx="3" presStyleCnt="4"/>
      <dgm:spPr/>
    </dgm:pt>
    <dgm:pt modelId="{B454D174-5E59-4916-B612-9FDEA7FBC201}" type="pres">
      <dgm:prSet presAssocID="{81C8D59E-1204-4E31-877A-46F7645BFE3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ronometro"/>
        </a:ext>
      </dgm:extLst>
    </dgm:pt>
    <dgm:pt modelId="{B43E3F42-D699-42E5-9F68-A0E4F5248069}" type="pres">
      <dgm:prSet presAssocID="{81C8D59E-1204-4E31-877A-46F7645BFE3C}" presName="spaceRect" presStyleCnt="0"/>
      <dgm:spPr/>
    </dgm:pt>
    <dgm:pt modelId="{737E1DE8-F7D9-412A-98BF-BD2803CF54CE}" type="pres">
      <dgm:prSet presAssocID="{81C8D59E-1204-4E31-877A-46F7645BFE3C}" presName="parTx" presStyleLbl="revTx" presStyleIdx="3" presStyleCnt="4">
        <dgm:presLayoutVars>
          <dgm:chMax val="0"/>
          <dgm:chPref val="0"/>
        </dgm:presLayoutVars>
      </dgm:prSet>
      <dgm:spPr/>
    </dgm:pt>
  </dgm:ptLst>
  <dgm:cxnLst>
    <dgm:cxn modelId="{B30D9A0F-A53A-496D-9904-6754A9D321E4}" srcId="{D73C3827-C397-403C-A488-E5D617F77139}" destId="{B7958D46-29AA-4DC3-90FC-B37A676B4952}" srcOrd="1" destOrd="0" parTransId="{252694C3-E97A-476B-BCE2-AB76AC198420}" sibTransId="{D113A189-E362-4428-B8BD-E94BFB1B6675}"/>
    <dgm:cxn modelId="{F0DEC214-05A0-41EF-8AB9-7B8003A8C3CC}" srcId="{D73C3827-C397-403C-A488-E5D617F77139}" destId="{EE64DF51-D31B-47A5-A34A-EA3D943771CF}" srcOrd="0" destOrd="0" parTransId="{6F05E065-42F0-4628-9782-454CFDA1F03F}" sibTransId="{307A1ABB-DCA7-456B-9206-555847487E20}"/>
    <dgm:cxn modelId="{FD45EB37-6576-428E-8209-5AE65C5438F5}" type="presOf" srcId="{4425BD3B-CBE5-4889-9759-EECC63DC1D34}" destId="{86525ED6-C6EC-4A78-9E2B-5F37469BAFFB}" srcOrd="0" destOrd="0" presId="urn:microsoft.com/office/officeart/2018/2/layout/IconVerticalSolidList"/>
    <dgm:cxn modelId="{A010613B-9867-49FD-BBF5-CDAD3D4B0681}" type="presOf" srcId="{81C8D59E-1204-4E31-877A-46F7645BFE3C}" destId="{737E1DE8-F7D9-412A-98BF-BD2803CF54CE}" srcOrd="0" destOrd="0" presId="urn:microsoft.com/office/officeart/2018/2/layout/IconVerticalSolidList"/>
    <dgm:cxn modelId="{F515A93E-6B05-40C0-961B-E354F77F734F}" type="presOf" srcId="{D73C3827-C397-403C-A488-E5D617F77139}" destId="{EE2D81A2-9202-484C-B560-DB3C1101C14E}" srcOrd="0" destOrd="0" presId="urn:microsoft.com/office/officeart/2018/2/layout/IconVerticalSolidList"/>
    <dgm:cxn modelId="{30D83860-C805-4293-8C68-C356B75AE4C3}" type="presOf" srcId="{EE64DF51-D31B-47A5-A34A-EA3D943771CF}" destId="{A079ECB1-1C5F-4F6B-B8AF-6F767632BA2E}" srcOrd="0" destOrd="0" presId="urn:microsoft.com/office/officeart/2018/2/layout/IconVerticalSolidList"/>
    <dgm:cxn modelId="{7392F44A-A6AB-4A89-9448-FC71250BA0F5}" srcId="{D73C3827-C397-403C-A488-E5D617F77139}" destId="{4425BD3B-CBE5-4889-9759-EECC63DC1D34}" srcOrd="2" destOrd="0" parTransId="{E33AD6A5-8C3D-4E79-81F2-A343995998D5}" sibTransId="{396BE44E-750D-4B9E-A7F1-C1D1C1B50622}"/>
    <dgm:cxn modelId="{02AE6AFE-317F-43E8-9F44-79A318873094}" type="presOf" srcId="{B7958D46-29AA-4DC3-90FC-B37A676B4952}" destId="{AB339F00-815A-4237-8E4E-A4AA59894A33}" srcOrd="0" destOrd="0" presId="urn:microsoft.com/office/officeart/2018/2/layout/IconVerticalSolidList"/>
    <dgm:cxn modelId="{54BA9FFF-5F5C-46FC-89E4-F23C7C868FC3}" srcId="{D73C3827-C397-403C-A488-E5D617F77139}" destId="{81C8D59E-1204-4E31-877A-46F7645BFE3C}" srcOrd="3" destOrd="0" parTransId="{3A99780A-6603-4703-89DC-CCE07BB92E3D}" sibTransId="{A3D85D96-47F0-44F4-903E-56A47E53E2F9}"/>
    <dgm:cxn modelId="{BF76D149-5AA2-40D6-B47D-CA0A33019B2F}" type="presParOf" srcId="{EE2D81A2-9202-484C-B560-DB3C1101C14E}" destId="{8F199777-AF37-4028-8A3C-22B2120B72B8}" srcOrd="0" destOrd="0" presId="urn:microsoft.com/office/officeart/2018/2/layout/IconVerticalSolidList"/>
    <dgm:cxn modelId="{741D7D27-FDC9-4E64-80B5-2CE664CDCDA3}" type="presParOf" srcId="{8F199777-AF37-4028-8A3C-22B2120B72B8}" destId="{E40BA321-423B-44A7-AD9E-7316EB298737}" srcOrd="0" destOrd="0" presId="urn:microsoft.com/office/officeart/2018/2/layout/IconVerticalSolidList"/>
    <dgm:cxn modelId="{EF77BB1B-0760-488A-8FE5-6680D0256A5F}" type="presParOf" srcId="{8F199777-AF37-4028-8A3C-22B2120B72B8}" destId="{F123FEE2-0F8E-4411-A15B-C94D017C5F01}" srcOrd="1" destOrd="0" presId="urn:microsoft.com/office/officeart/2018/2/layout/IconVerticalSolidList"/>
    <dgm:cxn modelId="{90B75F68-BC23-4B62-A45C-D45F93B118C8}" type="presParOf" srcId="{8F199777-AF37-4028-8A3C-22B2120B72B8}" destId="{A7F728A1-B7E8-4B2F-8253-02338C5BAF46}" srcOrd="2" destOrd="0" presId="urn:microsoft.com/office/officeart/2018/2/layout/IconVerticalSolidList"/>
    <dgm:cxn modelId="{491540DE-ADB0-4712-AB57-30EDA97FE8E4}" type="presParOf" srcId="{8F199777-AF37-4028-8A3C-22B2120B72B8}" destId="{A079ECB1-1C5F-4F6B-B8AF-6F767632BA2E}" srcOrd="3" destOrd="0" presId="urn:microsoft.com/office/officeart/2018/2/layout/IconVerticalSolidList"/>
    <dgm:cxn modelId="{D49E884A-1D1F-4739-831A-BEDA8FB18C5A}" type="presParOf" srcId="{EE2D81A2-9202-484C-B560-DB3C1101C14E}" destId="{DAD5190C-D38B-4ACA-84F2-7E94EAE4A182}" srcOrd="1" destOrd="0" presId="urn:microsoft.com/office/officeart/2018/2/layout/IconVerticalSolidList"/>
    <dgm:cxn modelId="{ADE39CFC-690B-4E40-8906-24C65464BB22}" type="presParOf" srcId="{EE2D81A2-9202-484C-B560-DB3C1101C14E}" destId="{4B6336CF-D6E6-4EE2-B871-997762803CC2}" srcOrd="2" destOrd="0" presId="urn:microsoft.com/office/officeart/2018/2/layout/IconVerticalSolidList"/>
    <dgm:cxn modelId="{D3CFC139-74B7-454C-8040-57F10375F0B1}" type="presParOf" srcId="{4B6336CF-D6E6-4EE2-B871-997762803CC2}" destId="{EDB74795-DDA3-46CA-B488-7BE79E916211}" srcOrd="0" destOrd="0" presId="urn:microsoft.com/office/officeart/2018/2/layout/IconVerticalSolidList"/>
    <dgm:cxn modelId="{E340B114-7AF4-47E3-9C3C-78436680947C}" type="presParOf" srcId="{4B6336CF-D6E6-4EE2-B871-997762803CC2}" destId="{E0B14909-6A84-4C25-A0EF-6EBC01B83B64}" srcOrd="1" destOrd="0" presId="urn:microsoft.com/office/officeart/2018/2/layout/IconVerticalSolidList"/>
    <dgm:cxn modelId="{D2241E4E-7EB2-410E-999B-7F44BD995D59}" type="presParOf" srcId="{4B6336CF-D6E6-4EE2-B871-997762803CC2}" destId="{C8C00564-60BD-4547-B0E4-5406C8C432C6}" srcOrd="2" destOrd="0" presId="urn:microsoft.com/office/officeart/2018/2/layout/IconVerticalSolidList"/>
    <dgm:cxn modelId="{BC54A1C1-E067-4AD7-A36D-246E9E32454E}" type="presParOf" srcId="{4B6336CF-D6E6-4EE2-B871-997762803CC2}" destId="{AB339F00-815A-4237-8E4E-A4AA59894A33}" srcOrd="3" destOrd="0" presId="urn:microsoft.com/office/officeart/2018/2/layout/IconVerticalSolidList"/>
    <dgm:cxn modelId="{1451B1C2-7C56-433A-9C0A-14E9152E171B}" type="presParOf" srcId="{EE2D81A2-9202-484C-B560-DB3C1101C14E}" destId="{1D91DCC2-46CC-4D86-9D3A-ECAFD4068A9B}" srcOrd="3" destOrd="0" presId="urn:microsoft.com/office/officeart/2018/2/layout/IconVerticalSolidList"/>
    <dgm:cxn modelId="{EA57CF84-03E6-41F1-9310-DCE3A9DA1521}" type="presParOf" srcId="{EE2D81A2-9202-484C-B560-DB3C1101C14E}" destId="{052A4EB3-1B79-4D3B-87C4-834BBBBB6824}" srcOrd="4" destOrd="0" presId="urn:microsoft.com/office/officeart/2018/2/layout/IconVerticalSolidList"/>
    <dgm:cxn modelId="{24646ED5-8FA9-4798-A8A9-957321A56FBF}" type="presParOf" srcId="{052A4EB3-1B79-4D3B-87C4-834BBBBB6824}" destId="{8248E06A-FBAA-40E0-B9F7-FC65AED5BA49}" srcOrd="0" destOrd="0" presId="urn:microsoft.com/office/officeart/2018/2/layout/IconVerticalSolidList"/>
    <dgm:cxn modelId="{C8199475-34B4-4D45-BA75-8AE4E053BD30}" type="presParOf" srcId="{052A4EB3-1B79-4D3B-87C4-834BBBBB6824}" destId="{AEF57632-883D-44A9-9F1E-C444D4BBE800}" srcOrd="1" destOrd="0" presId="urn:microsoft.com/office/officeart/2018/2/layout/IconVerticalSolidList"/>
    <dgm:cxn modelId="{7610EA81-1832-4AEC-AC9C-462069B9C76A}" type="presParOf" srcId="{052A4EB3-1B79-4D3B-87C4-834BBBBB6824}" destId="{5FF2F0E6-0868-4D81-AF4B-77711B3320E5}" srcOrd="2" destOrd="0" presId="urn:microsoft.com/office/officeart/2018/2/layout/IconVerticalSolidList"/>
    <dgm:cxn modelId="{B4B4837B-4A8B-4C93-BAB0-71BCE283EEA2}" type="presParOf" srcId="{052A4EB3-1B79-4D3B-87C4-834BBBBB6824}" destId="{86525ED6-C6EC-4A78-9E2B-5F37469BAFFB}" srcOrd="3" destOrd="0" presId="urn:microsoft.com/office/officeart/2018/2/layout/IconVerticalSolidList"/>
    <dgm:cxn modelId="{438E50C7-81B5-43B5-88FF-C5DECCC20AE5}" type="presParOf" srcId="{EE2D81A2-9202-484C-B560-DB3C1101C14E}" destId="{F54362E8-C812-4E65-B72B-DF0D0E13AB69}" srcOrd="5" destOrd="0" presId="urn:microsoft.com/office/officeart/2018/2/layout/IconVerticalSolidList"/>
    <dgm:cxn modelId="{A4558E25-F243-4721-B7A3-4405DB6996A1}" type="presParOf" srcId="{EE2D81A2-9202-484C-B560-DB3C1101C14E}" destId="{677EE665-9F02-4BA1-8A70-BDA55E6BF531}" srcOrd="6" destOrd="0" presId="urn:microsoft.com/office/officeart/2018/2/layout/IconVerticalSolidList"/>
    <dgm:cxn modelId="{E2F59B2D-535D-403A-8CD4-F4D45D09A3F6}" type="presParOf" srcId="{677EE665-9F02-4BA1-8A70-BDA55E6BF531}" destId="{8C1AB9ED-249D-453E-907B-739A697B6C2B}" srcOrd="0" destOrd="0" presId="urn:microsoft.com/office/officeart/2018/2/layout/IconVerticalSolidList"/>
    <dgm:cxn modelId="{8B054A53-2E6C-4940-8F90-74DCF0AB6907}" type="presParOf" srcId="{677EE665-9F02-4BA1-8A70-BDA55E6BF531}" destId="{B454D174-5E59-4916-B612-9FDEA7FBC201}" srcOrd="1" destOrd="0" presId="urn:microsoft.com/office/officeart/2018/2/layout/IconVerticalSolidList"/>
    <dgm:cxn modelId="{C6B0CDC1-1F88-4E95-907B-E538498E199B}" type="presParOf" srcId="{677EE665-9F02-4BA1-8A70-BDA55E6BF531}" destId="{B43E3F42-D699-42E5-9F68-A0E4F5248069}" srcOrd="2" destOrd="0" presId="urn:microsoft.com/office/officeart/2018/2/layout/IconVerticalSolidList"/>
    <dgm:cxn modelId="{114A9E43-1950-4E91-B633-901450452E20}" type="presParOf" srcId="{677EE665-9F02-4BA1-8A70-BDA55E6BF531}" destId="{737E1DE8-F7D9-412A-98BF-BD2803CF54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BA321-423B-44A7-AD9E-7316EB298737}">
      <dsp:nvSpPr>
        <dsp:cNvPr id="0" name=""/>
        <dsp:cNvSpPr/>
      </dsp:nvSpPr>
      <dsp:spPr>
        <a:xfrm>
          <a:off x="0" y="2121"/>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23FEE2-0F8E-4411-A15B-C94D017C5F01}">
      <dsp:nvSpPr>
        <dsp:cNvPr id="0" name=""/>
        <dsp:cNvSpPr/>
      </dsp:nvSpPr>
      <dsp:spPr>
        <a:xfrm>
          <a:off x="325236" y="244032"/>
          <a:ext cx="591338" cy="5913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79ECB1-1C5F-4F6B-B8AF-6F767632BA2E}">
      <dsp:nvSpPr>
        <dsp:cNvPr id="0" name=""/>
        <dsp:cNvSpPr/>
      </dsp:nvSpPr>
      <dsp:spPr>
        <a:xfrm>
          <a:off x="1241811" y="2121"/>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t>Why are some samples labeled as unknown? Should we discard them?</a:t>
          </a:r>
          <a:endParaRPr lang="en-US" sz="2200" b="0" kern="1200" dirty="0"/>
        </a:p>
      </dsp:txBody>
      <dsp:txXfrm>
        <a:off x="1241811" y="2121"/>
        <a:ext cx="5974604" cy="1075161"/>
      </dsp:txXfrm>
    </dsp:sp>
    <dsp:sp modelId="{EDB74795-DDA3-46CA-B488-7BE79E916211}">
      <dsp:nvSpPr>
        <dsp:cNvPr id="0" name=""/>
        <dsp:cNvSpPr/>
      </dsp:nvSpPr>
      <dsp:spPr>
        <a:xfrm>
          <a:off x="0" y="1346073"/>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B14909-6A84-4C25-A0EF-6EBC01B83B64}">
      <dsp:nvSpPr>
        <dsp:cNvPr id="0" name=""/>
        <dsp:cNvSpPr/>
      </dsp:nvSpPr>
      <dsp:spPr>
        <a:xfrm>
          <a:off x="325236" y="1587984"/>
          <a:ext cx="591338" cy="5913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339F00-815A-4237-8E4E-A4AA59894A33}">
      <dsp:nvSpPr>
        <dsp:cNvPr id="0" name=""/>
        <dsp:cNvSpPr/>
      </dsp:nvSpPr>
      <dsp:spPr>
        <a:xfrm>
          <a:off x="1241811" y="1346073"/>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t>Why are the cohorts not balanced between AD and CT groups?</a:t>
          </a:r>
          <a:endParaRPr lang="en-US" sz="2200" b="0" kern="1200" dirty="0"/>
        </a:p>
      </dsp:txBody>
      <dsp:txXfrm>
        <a:off x="1241811" y="1346073"/>
        <a:ext cx="5974604" cy="1075161"/>
      </dsp:txXfrm>
    </dsp:sp>
    <dsp:sp modelId="{8248E06A-FBAA-40E0-B9F7-FC65AED5BA49}">
      <dsp:nvSpPr>
        <dsp:cNvPr id="0" name=""/>
        <dsp:cNvSpPr/>
      </dsp:nvSpPr>
      <dsp:spPr>
        <a:xfrm>
          <a:off x="0" y="2690025"/>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57632-883D-44A9-9F1E-C444D4BBE800}">
      <dsp:nvSpPr>
        <dsp:cNvPr id="0" name=""/>
        <dsp:cNvSpPr/>
      </dsp:nvSpPr>
      <dsp:spPr>
        <a:xfrm>
          <a:off x="325236" y="2931936"/>
          <a:ext cx="591338" cy="5913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525ED6-C6EC-4A78-9E2B-5F37469BAFFB}">
      <dsp:nvSpPr>
        <dsp:cNvPr id="0" name=""/>
        <dsp:cNvSpPr/>
      </dsp:nvSpPr>
      <dsp:spPr>
        <a:xfrm>
          <a:off x="1241811" y="2690025"/>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t>Why are there duplicate samples in the dataset?</a:t>
          </a:r>
          <a:endParaRPr lang="en-US" sz="2200" b="0" kern="1200" dirty="0"/>
        </a:p>
      </dsp:txBody>
      <dsp:txXfrm>
        <a:off x="1241811" y="2690025"/>
        <a:ext cx="5974604" cy="1075161"/>
      </dsp:txXfrm>
    </dsp:sp>
    <dsp:sp modelId="{8C1AB9ED-249D-453E-907B-739A697B6C2B}">
      <dsp:nvSpPr>
        <dsp:cNvPr id="0" name=""/>
        <dsp:cNvSpPr/>
      </dsp:nvSpPr>
      <dsp:spPr>
        <a:xfrm>
          <a:off x="0" y="4033977"/>
          <a:ext cx="7216416" cy="107516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54D174-5E59-4916-B612-9FDEA7FBC201}">
      <dsp:nvSpPr>
        <dsp:cNvPr id="0" name=""/>
        <dsp:cNvSpPr/>
      </dsp:nvSpPr>
      <dsp:spPr>
        <a:xfrm>
          <a:off x="325236" y="4275888"/>
          <a:ext cx="591338" cy="5913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7E1DE8-F7D9-412A-98BF-BD2803CF54CE}">
      <dsp:nvSpPr>
        <dsp:cNvPr id="0" name=""/>
        <dsp:cNvSpPr/>
      </dsp:nvSpPr>
      <dsp:spPr>
        <a:xfrm>
          <a:off x="1241811" y="4033977"/>
          <a:ext cx="5974604" cy="1075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88" tIns="113788" rIns="113788" bIns="113788" numCol="1" spcCol="1270" anchor="ctr" anchorCtr="0">
          <a:noAutofit/>
        </a:bodyPr>
        <a:lstStyle/>
        <a:p>
          <a:pPr marL="0" lvl="0" indent="0" algn="l" defTabSz="977900">
            <a:lnSpc>
              <a:spcPct val="100000"/>
            </a:lnSpc>
            <a:spcBef>
              <a:spcPct val="0"/>
            </a:spcBef>
            <a:spcAft>
              <a:spcPct val="35000"/>
            </a:spcAft>
            <a:buNone/>
          </a:pPr>
          <a:r>
            <a:rPr lang="en-US" sz="2200" b="0" i="0" kern="1200" baseline="0" dirty="0"/>
            <a:t>Was any batch effect correction applied before data release?</a:t>
          </a:r>
          <a:endParaRPr lang="en-US" sz="2200" b="0" kern="1200" dirty="0"/>
        </a:p>
      </dsp:txBody>
      <dsp:txXfrm>
        <a:off x="1241811" y="4033977"/>
        <a:ext cx="5974604" cy="107516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3/10/2026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846905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3/10/2026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997285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3/10/2026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1499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3/10/2026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38224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3/10/2026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4021620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3/10/2026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047255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3/10/2026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079933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3/10/2026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298354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3/10/2026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4280701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3/10/2026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795844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3/10/2026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36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3/10/2026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1394405"/>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17" r:id="rId6"/>
    <p:sldLayoutId id="2147483713" r:id="rId7"/>
    <p:sldLayoutId id="2147483714" r:id="rId8"/>
    <p:sldLayoutId id="2147483715" r:id="rId9"/>
    <p:sldLayoutId id="2147483716" r:id="rId10"/>
    <p:sldLayoutId id="2147483718"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8822EE3-4665-FC91-A3B5-10DE5FDD8CA8}"/>
              </a:ext>
            </a:extLst>
          </p:cNvPr>
          <p:cNvSpPr>
            <a:spLocks noGrp="1"/>
          </p:cNvSpPr>
          <p:nvPr>
            <p:ph type="ctrTitle"/>
          </p:nvPr>
        </p:nvSpPr>
        <p:spPr>
          <a:xfrm>
            <a:off x="640080" y="1371600"/>
            <a:ext cx="4670661" cy="3030842"/>
          </a:xfrm>
        </p:spPr>
        <p:txBody>
          <a:bodyPr>
            <a:normAutofit/>
          </a:bodyPr>
          <a:lstStyle/>
          <a:p>
            <a:pPr>
              <a:lnSpc>
                <a:spcPct val="90000"/>
              </a:lnSpc>
            </a:pPr>
            <a:r>
              <a:rPr lang="en-GB" sz="4600"/>
              <a:t>Proteomic Analysis of CSF in MCI-AD and MCI-CT Patients</a:t>
            </a:r>
          </a:p>
        </p:txBody>
      </p:sp>
      <p:cxnSp>
        <p:nvCxnSpPr>
          <p:cNvPr id="18" name="Straight Connector 17">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3" name="Picture 2">
            <a:extLst>
              <a:ext uri="{FF2B5EF4-FFF2-40B4-BE49-F238E27FC236}">
                <a16:creationId xmlns:a16="http://schemas.microsoft.com/office/drawing/2014/main" id="{31634ECE-6F40-05DC-6A0B-D37EC806EFFF}"/>
              </a:ext>
            </a:extLst>
          </p:cNvPr>
          <p:cNvPicPr>
            <a:picLocks noChangeAspect="1"/>
          </p:cNvPicPr>
          <p:nvPr/>
        </p:nvPicPr>
        <p:blipFill>
          <a:blip r:embed="rId2"/>
          <a:srcRect l="40193"/>
          <a:stretch>
            <a:fillRect/>
          </a:stretch>
        </p:blipFill>
        <p:spPr>
          <a:xfrm>
            <a:off x="6515100" y="10"/>
            <a:ext cx="5676900" cy="6857990"/>
          </a:xfrm>
          <a:prstGeom prst="rect">
            <a:avLst/>
          </a:prstGeom>
        </p:spPr>
      </p:pic>
    </p:spTree>
    <p:extLst>
      <p:ext uri="{BB962C8B-B14F-4D97-AF65-F5344CB8AC3E}">
        <p14:creationId xmlns:p14="http://schemas.microsoft.com/office/powerpoint/2010/main" val="135017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A3BE3ECF-AE82-4CE3-92E3-E1FCAF2D3ED2}"/>
              </a:ext>
            </a:extLst>
          </p:cNvPr>
          <p:cNvSpPr>
            <a:spLocks noGrp="1"/>
          </p:cNvSpPr>
          <p:nvPr>
            <p:ph type="title"/>
          </p:nvPr>
        </p:nvSpPr>
        <p:spPr>
          <a:xfrm>
            <a:off x="640080" y="3584647"/>
            <a:ext cx="3327886" cy="2386385"/>
          </a:xfrm>
        </p:spPr>
        <p:txBody>
          <a:bodyPr vert="horz" lIns="91440" tIns="45720" rIns="91440" bIns="45720" rtlCol="0" anchor="t">
            <a:normAutofit/>
          </a:bodyPr>
          <a:lstStyle/>
          <a:p>
            <a:r>
              <a:rPr lang="en-US" sz="3700" dirty="0"/>
              <a:t>Cohort Characteristics</a:t>
            </a:r>
          </a:p>
        </p:txBody>
      </p:sp>
      <p:pic>
        <p:nvPicPr>
          <p:cNvPr id="11" name="Immagine 10" descr="Immagine che contiene testo, schermata, diagramma, Diagramma&#10;&#10;Il contenuto generato dall'IA potrebbe non essere corretto.">
            <a:extLst>
              <a:ext uri="{FF2B5EF4-FFF2-40B4-BE49-F238E27FC236}">
                <a16:creationId xmlns:a16="http://schemas.microsoft.com/office/drawing/2014/main" id="{FB0B730E-D94F-D599-EFD3-76544570DB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232" y="752230"/>
            <a:ext cx="3755993" cy="2441050"/>
          </a:xfrm>
          <a:prstGeom prst="rect">
            <a:avLst/>
          </a:prstGeom>
        </p:spPr>
      </p:pic>
      <p:pic>
        <p:nvPicPr>
          <p:cNvPr id="17" name="Immagine 16" descr="Immagine che contiene diagramma, schermata, testo, Rettangolo&#10;&#10;Il contenuto generato dall'IA potrebbe non essere corretto.">
            <a:extLst>
              <a:ext uri="{FF2B5EF4-FFF2-40B4-BE49-F238E27FC236}">
                <a16:creationId xmlns:a16="http://schemas.microsoft.com/office/drawing/2014/main" id="{92F809FA-D645-73DC-B383-43F13385A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0029" y="752229"/>
            <a:ext cx="3755993" cy="2441050"/>
          </a:xfrm>
          <a:prstGeom prst="rect">
            <a:avLst/>
          </a:prstGeom>
        </p:spPr>
      </p:pic>
      <p:pic>
        <p:nvPicPr>
          <p:cNvPr id="13" name="Immagine 12" descr="Immagine che contiene testo, schermata, diagramma, linea&#10;&#10;Il contenuto generato dall'IA potrebbe non essere corretto.">
            <a:extLst>
              <a:ext uri="{FF2B5EF4-FFF2-40B4-BE49-F238E27FC236}">
                <a16:creationId xmlns:a16="http://schemas.microsoft.com/office/drawing/2014/main" id="{FCE96394-4548-7E2B-27D4-9100EC6D46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6022" y="752228"/>
            <a:ext cx="3755993" cy="2441051"/>
          </a:xfrm>
          <a:prstGeom prst="rect">
            <a:avLst/>
          </a:prstGeom>
        </p:spPr>
      </p:pic>
      <p:cxnSp>
        <p:nvCxnSpPr>
          <p:cNvPr id="64" name="Straight Connector 63">
            <a:extLst>
              <a:ext uri="{FF2B5EF4-FFF2-40B4-BE49-F238E27FC236}">
                <a16:creationId xmlns:a16="http://schemas.microsoft.com/office/drawing/2014/main" id="{3153FDD1-3F11-CEAD-E1A8-C588673597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63103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asellaDiTesto 2">
            <a:extLst>
              <a:ext uri="{FF2B5EF4-FFF2-40B4-BE49-F238E27FC236}">
                <a16:creationId xmlns:a16="http://schemas.microsoft.com/office/drawing/2014/main" id="{065584DE-1792-02DC-8AD5-90DBF5D58E6A}"/>
              </a:ext>
            </a:extLst>
          </p:cNvPr>
          <p:cNvSpPr txBox="1"/>
          <p:nvPr/>
        </p:nvSpPr>
        <p:spPr>
          <a:xfrm>
            <a:off x="4558277" y="3429000"/>
            <a:ext cx="6972732" cy="2868918"/>
          </a:xfrm>
          <a:prstGeom prst="rect">
            <a:avLst/>
          </a:prstGeom>
        </p:spPr>
        <p:txBody>
          <a:bodyPr vert="horz" lIns="91440" tIns="45720" rIns="91440" bIns="45720" rtlCol="0" anchor="t">
            <a:normAutofit fontScale="92500" lnSpcReduction="10000"/>
          </a:bodyPr>
          <a:lstStyle/>
          <a:p>
            <a:pPr>
              <a:lnSpc>
                <a:spcPct val="110000"/>
              </a:lnSpc>
              <a:spcAft>
                <a:spcPts val="600"/>
              </a:spcAft>
              <a:buSzPct val="87000"/>
            </a:pPr>
            <a:r>
              <a:rPr lang="en-US" sz="1500" dirty="0"/>
              <a:t>LISBON:</a:t>
            </a:r>
          </a:p>
          <a:p>
            <a:pPr>
              <a:lnSpc>
                <a:spcPct val="110000"/>
              </a:lnSpc>
              <a:spcAft>
                <a:spcPts val="600"/>
              </a:spcAft>
              <a:buSzPct val="87000"/>
            </a:pPr>
            <a:r>
              <a:rPr lang="en-US" sz="1500" dirty="0"/>
              <a:t>Tot : 74</a:t>
            </a:r>
            <a:br>
              <a:rPr lang="en-US" sz="1500" dirty="0"/>
            </a:br>
            <a:r>
              <a:rPr lang="en-US" sz="1500" dirty="0"/>
              <a:t>Unknown : 6</a:t>
            </a:r>
          </a:p>
          <a:p>
            <a:pPr>
              <a:lnSpc>
                <a:spcPct val="110000"/>
              </a:lnSpc>
              <a:spcAft>
                <a:spcPts val="600"/>
              </a:spcAft>
              <a:buSzPct val="87000"/>
            </a:pPr>
            <a:r>
              <a:rPr lang="en-US" sz="1500" dirty="0"/>
              <a:t>MCI-AD : 45</a:t>
            </a:r>
          </a:p>
          <a:p>
            <a:pPr>
              <a:lnSpc>
                <a:spcPct val="110000"/>
              </a:lnSpc>
              <a:spcAft>
                <a:spcPts val="600"/>
              </a:spcAft>
              <a:buSzPct val="87000"/>
            </a:pPr>
            <a:r>
              <a:rPr lang="en-US" sz="1500" dirty="0"/>
              <a:t>MCI-CT : 23</a:t>
            </a:r>
          </a:p>
          <a:p>
            <a:pPr>
              <a:lnSpc>
                <a:spcPct val="110000"/>
              </a:lnSpc>
              <a:spcAft>
                <a:spcPts val="600"/>
              </a:spcAft>
              <a:buSzPct val="87000"/>
              <a:buFont typeface="Arial" panose="020B0604020202020204" pitchFamily="34" charset="0"/>
              <a:buChar char="•"/>
            </a:pPr>
            <a:endParaRPr lang="en-US" sz="1500" dirty="0"/>
          </a:p>
          <a:p>
            <a:pPr>
              <a:lnSpc>
                <a:spcPct val="110000"/>
              </a:lnSpc>
              <a:spcAft>
                <a:spcPts val="600"/>
              </a:spcAft>
              <a:buSzPct val="87000"/>
            </a:pPr>
            <a:r>
              <a:rPr lang="en-US" sz="1500" dirty="0"/>
              <a:t>COIMBRA:</a:t>
            </a:r>
          </a:p>
          <a:p>
            <a:pPr>
              <a:lnSpc>
                <a:spcPct val="110000"/>
              </a:lnSpc>
              <a:spcAft>
                <a:spcPts val="600"/>
              </a:spcAft>
              <a:buSzPct val="87000"/>
            </a:pPr>
            <a:r>
              <a:rPr lang="en-US" sz="1500" dirty="0"/>
              <a:t>Tot:60</a:t>
            </a:r>
            <a:br>
              <a:rPr lang="en-US" sz="1500" dirty="0"/>
            </a:br>
            <a:r>
              <a:rPr lang="en-US" sz="1500" dirty="0"/>
              <a:t>MCI-AD : 23</a:t>
            </a:r>
          </a:p>
          <a:p>
            <a:pPr>
              <a:lnSpc>
                <a:spcPct val="110000"/>
              </a:lnSpc>
              <a:spcAft>
                <a:spcPts val="600"/>
              </a:spcAft>
              <a:buSzPct val="87000"/>
            </a:pPr>
            <a:r>
              <a:rPr lang="en-US" sz="1500" dirty="0"/>
              <a:t>MCI-CT : 37</a:t>
            </a:r>
          </a:p>
        </p:txBody>
      </p:sp>
    </p:spTree>
    <p:extLst>
      <p:ext uri="{BB962C8B-B14F-4D97-AF65-F5344CB8AC3E}">
        <p14:creationId xmlns:p14="http://schemas.microsoft.com/office/powerpoint/2010/main" val="1457108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3">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8ED5AA2-0E94-A829-6E58-E364DEE7F3B8}"/>
              </a:ext>
            </a:extLst>
          </p:cNvPr>
          <p:cNvSpPr>
            <a:spLocks noGrp="1"/>
          </p:cNvSpPr>
          <p:nvPr>
            <p:ph type="title"/>
          </p:nvPr>
        </p:nvSpPr>
        <p:spPr>
          <a:xfrm>
            <a:off x="640079" y="914401"/>
            <a:ext cx="5855947" cy="2040244"/>
          </a:xfrm>
        </p:spPr>
        <p:txBody>
          <a:bodyPr anchor="t">
            <a:normAutofit/>
          </a:bodyPr>
          <a:lstStyle/>
          <a:p>
            <a:r>
              <a:rPr lang="it-IT" dirty="0"/>
              <a:t>Filtering in Coimbra dataset</a:t>
            </a:r>
            <a:endParaRPr lang="en-GB" dirty="0"/>
          </a:p>
        </p:txBody>
      </p:sp>
      <p:pic>
        <p:nvPicPr>
          <p:cNvPr id="5" name="Segnaposto contenuto 4">
            <a:extLst>
              <a:ext uri="{FF2B5EF4-FFF2-40B4-BE49-F238E27FC236}">
                <a16:creationId xmlns:a16="http://schemas.microsoft.com/office/drawing/2014/main" id="{EBA8363C-41BF-4067-D3BB-B2CBA7B83EAB}"/>
              </a:ext>
            </a:extLst>
          </p:cNvPr>
          <p:cNvPicPr>
            <a:picLocks noChangeAspect="1"/>
          </p:cNvPicPr>
          <p:nvPr/>
        </p:nvPicPr>
        <p:blipFill>
          <a:blip r:embed="rId2">
            <a:extLst>
              <a:ext uri="{28A0092B-C50C-407E-A947-70E740481C1C}">
                <a14:useLocalDpi xmlns:a14="http://schemas.microsoft.com/office/drawing/2010/main" val="0"/>
              </a:ext>
            </a:extLst>
          </a:blip>
          <a:srcRect r="791" b="4"/>
          <a:stretch>
            <a:fillRect/>
          </a:stretch>
        </p:blipFill>
        <p:spPr>
          <a:xfrm>
            <a:off x="164393" y="2954644"/>
            <a:ext cx="3071697" cy="3279473"/>
          </a:xfrm>
          <a:prstGeom prst="rect">
            <a:avLst/>
          </a:prstGeom>
        </p:spPr>
      </p:pic>
      <p:pic>
        <p:nvPicPr>
          <p:cNvPr id="7" name="Immagine 6">
            <a:extLst>
              <a:ext uri="{FF2B5EF4-FFF2-40B4-BE49-F238E27FC236}">
                <a16:creationId xmlns:a16="http://schemas.microsoft.com/office/drawing/2014/main" id="{C6ABF245-3D8D-3FB2-8FC3-300E50925B65}"/>
              </a:ext>
            </a:extLst>
          </p:cNvPr>
          <p:cNvPicPr>
            <a:picLocks noChangeAspect="1"/>
          </p:cNvPicPr>
          <p:nvPr/>
        </p:nvPicPr>
        <p:blipFill>
          <a:blip r:embed="rId3">
            <a:extLst>
              <a:ext uri="{28A0092B-C50C-407E-A947-70E740481C1C}">
                <a14:useLocalDpi xmlns:a14="http://schemas.microsoft.com/office/drawing/2010/main" val="0"/>
              </a:ext>
            </a:extLst>
          </a:blip>
          <a:srcRect r="20" b="4"/>
          <a:stretch>
            <a:fillRect/>
          </a:stretch>
        </p:blipFill>
        <p:spPr>
          <a:xfrm>
            <a:off x="3236090" y="2954645"/>
            <a:ext cx="3095563" cy="3279473"/>
          </a:xfrm>
          <a:prstGeom prst="rect">
            <a:avLst/>
          </a:prstGeom>
        </p:spPr>
      </p:pic>
      <p:cxnSp>
        <p:nvCxnSpPr>
          <p:cNvPr id="19" name="Straight Connector 15">
            <a:extLst>
              <a:ext uri="{FF2B5EF4-FFF2-40B4-BE49-F238E27FC236}">
                <a16:creationId xmlns:a16="http://schemas.microsoft.com/office/drawing/2014/main" id="{BA2659E8-8B99-46BE-91DD-757EEC3881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96027" y="3429000"/>
            <a:ext cx="0" cy="2452996"/>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CasellaDiTesto 7">
            <a:extLst>
              <a:ext uri="{FF2B5EF4-FFF2-40B4-BE49-F238E27FC236}">
                <a16:creationId xmlns:a16="http://schemas.microsoft.com/office/drawing/2014/main" id="{9D40F80D-9F9B-B038-0E79-41130B10C95D}"/>
              </a:ext>
            </a:extLst>
          </p:cNvPr>
          <p:cNvSpPr txBox="1"/>
          <p:nvPr/>
        </p:nvSpPr>
        <p:spPr>
          <a:xfrm>
            <a:off x="7000568" y="589935"/>
            <a:ext cx="4699817" cy="2123658"/>
          </a:xfrm>
          <a:prstGeom prst="rect">
            <a:avLst/>
          </a:prstGeom>
          <a:noFill/>
        </p:spPr>
        <p:txBody>
          <a:bodyPr wrap="square" rtlCol="0">
            <a:spAutoFit/>
          </a:bodyPr>
          <a:lstStyle/>
          <a:p>
            <a:r>
              <a:rPr lang="en-GB" sz="1200" dirty="0"/>
              <a:t>The plots show the original, unfiltered data and represent the dataset state prior to missing value filtering. No additional preprocessing steps were required at this stage, as there was no need to remove samples </a:t>
            </a:r>
            <a:r>
              <a:rPr lang="en-GB" sz="1200" dirty="0" err="1"/>
              <a:t>labeled</a:t>
            </a:r>
            <a:r>
              <a:rPr lang="en-GB" sz="1200" dirty="0"/>
              <a:t> as </a:t>
            </a:r>
            <a:r>
              <a:rPr lang="en-GB" sz="1200" i="1" dirty="0"/>
              <a:t>unknown</a:t>
            </a:r>
            <a:r>
              <a:rPr lang="en-GB" sz="1200" dirty="0"/>
              <a:t>, samples without data, or duplicate samples. Additionally, the number of </a:t>
            </a:r>
            <a:r>
              <a:rPr lang="en-GB" sz="1200" dirty="0" err="1"/>
              <a:t>proteotypic</a:t>
            </a:r>
            <a:r>
              <a:rPr lang="en-GB" sz="1200" dirty="0"/>
              <a:t> peptides is consistently greater than two.</a:t>
            </a:r>
          </a:p>
          <a:p>
            <a:r>
              <a:rPr lang="en-GB" sz="1200" dirty="0"/>
              <a:t>Below, a table reports the different thresholds tested on the dataset to remove patients with a high proportion of missing values. This step was performed to increase the number of proteins retained in the dataset after applying missing value filtering at the protein level rather than at the sample level.</a:t>
            </a:r>
          </a:p>
        </p:txBody>
      </p:sp>
      <p:graphicFrame>
        <p:nvGraphicFramePr>
          <p:cNvPr id="9" name="Tabella 8">
            <a:extLst>
              <a:ext uri="{FF2B5EF4-FFF2-40B4-BE49-F238E27FC236}">
                <a16:creationId xmlns:a16="http://schemas.microsoft.com/office/drawing/2014/main" id="{B8E11ABB-0754-5816-6517-12DB5FBCD1DF}"/>
              </a:ext>
            </a:extLst>
          </p:cNvPr>
          <p:cNvGraphicFramePr>
            <a:graphicFrameLocks noGrp="1"/>
          </p:cNvGraphicFramePr>
          <p:nvPr>
            <p:extLst>
              <p:ext uri="{D42A27DB-BD31-4B8C-83A1-F6EECF244321}">
                <p14:modId xmlns:p14="http://schemas.microsoft.com/office/powerpoint/2010/main" val="517970236"/>
              </p:ext>
            </p:extLst>
          </p:nvPr>
        </p:nvGraphicFramePr>
        <p:xfrm>
          <a:off x="7296398" y="3196793"/>
          <a:ext cx="4108156" cy="2685203"/>
        </p:xfrm>
        <a:graphic>
          <a:graphicData uri="http://schemas.openxmlformats.org/drawingml/2006/table">
            <a:tbl>
              <a:tblPr firstRow="1" bandRow="1">
                <a:tableStyleId>{5C22544A-7EE6-4342-B048-85BDC9FD1C3A}</a:tableStyleId>
              </a:tblPr>
              <a:tblGrid>
                <a:gridCol w="1027039">
                  <a:extLst>
                    <a:ext uri="{9D8B030D-6E8A-4147-A177-3AD203B41FA5}">
                      <a16:colId xmlns:a16="http://schemas.microsoft.com/office/drawing/2014/main" val="1365858767"/>
                    </a:ext>
                  </a:extLst>
                </a:gridCol>
                <a:gridCol w="1027039">
                  <a:extLst>
                    <a:ext uri="{9D8B030D-6E8A-4147-A177-3AD203B41FA5}">
                      <a16:colId xmlns:a16="http://schemas.microsoft.com/office/drawing/2014/main" val="998259083"/>
                    </a:ext>
                  </a:extLst>
                </a:gridCol>
                <a:gridCol w="1027039">
                  <a:extLst>
                    <a:ext uri="{9D8B030D-6E8A-4147-A177-3AD203B41FA5}">
                      <a16:colId xmlns:a16="http://schemas.microsoft.com/office/drawing/2014/main" val="52487416"/>
                    </a:ext>
                  </a:extLst>
                </a:gridCol>
                <a:gridCol w="1027039">
                  <a:extLst>
                    <a:ext uri="{9D8B030D-6E8A-4147-A177-3AD203B41FA5}">
                      <a16:colId xmlns:a16="http://schemas.microsoft.com/office/drawing/2014/main" val="2177110108"/>
                    </a:ext>
                  </a:extLst>
                </a:gridCol>
              </a:tblGrid>
              <a:tr h="856403">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100" dirty="0">
                          <a:solidFill>
                            <a:schemeClr val="tx1"/>
                          </a:solidFill>
                        </a:rPr>
                        <a:t>NO THRESHOLD</a:t>
                      </a:r>
                      <a:endParaRPr lang="en-GB" sz="1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500" dirty="0" err="1">
                          <a:solidFill>
                            <a:schemeClr val="tx1"/>
                          </a:solidFill>
                        </a:rPr>
                        <a:t>Threshold</a:t>
                      </a:r>
                      <a:r>
                        <a:rPr lang="it-IT" sz="1500" dirty="0">
                          <a:solidFill>
                            <a:schemeClr val="tx1"/>
                          </a:solidFill>
                        </a:rPr>
                        <a:t> of</a:t>
                      </a:r>
                    </a:p>
                    <a:p>
                      <a:pPr algn="ctr"/>
                      <a:r>
                        <a:rPr lang="it-IT" sz="1500" dirty="0">
                          <a:solidFill>
                            <a:schemeClr val="tx1"/>
                          </a:solidFill>
                        </a:rPr>
                        <a:t>30%</a:t>
                      </a:r>
                      <a:endParaRPr lang="en-GB"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500" dirty="0" err="1">
                          <a:solidFill>
                            <a:schemeClr val="tx1"/>
                          </a:solidFill>
                        </a:rPr>
                        <a:t>Threshold</a:t>
                      </a:r>
                      <a:r>
                        <a:rPr lang="it-IT" sz="1500" dirty="0">
                          <a:solidFill>
                            <a:schemeClr val="tx1"/>
                          </a:solidFill>
                        </a:rPr>
                        <a:t> of </a:t>
                      </a:r>
                    </a:p>
                    <a:p>
                      <a:pPr algn="ctr"/>
                      <a:r>
                        <a:rPr lang="it-IT" sz="1500" dirty="0">
                          <a:solidFill>
                            <a:schemeClr val="tx1"/>
                          </a:solidFill>
                        </a:rPr>
                        <a:t>31%</a:t>
                      </a:r>
                      <a:endParaRPr lang="en-GB"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776140"/>
                  </a:ext>
                </a:extLst>
              </a:tr>
              <a:tr h="856403">
                <a:tc>
                  <a:txBody>
                    <a:bodyPr/>
                    <a:lstStyle/>
                    <a:p>
                      <a:pPr algn="ctr"/>
                      <a:r>
                        <a:rPr lang="it-IT" dirty="0" err="1"/>
                        <a:t>Number</a:t>
                      </a:r>
                      <a:r>
                        <a:rPr lang="it-IT" dirty="0"/>
                        <a:t> of </a:t>
                      </a:r>
                      <a:r>
                        <a:rPr lang="it-IT" dirty="0" err="1"/>
                        <a:t>patients</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60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55</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57</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9327664"/>
                  </a:ext>
                </a:extLst>
              </a:tr>
              <a:tr h="767601">
                <a:tc>
                  <a:txBody>
                    <a:bodyPr/>
                    <a:lstStyle/>
                    <a:p>
                      <a:pPr algn="ctr"/>
                      <a:r>
                        <a:rPr lang="it-IT" dirty="0" err="1"/>
                        <a:t>Number</a:t>
                      </a:r>
                      <a:r>
                        <a:rPr lang="it-IT" dirty="0"/>
                        <a:t> of </a:t>
                      </a:r>
                      <a:r>
                        <a:rPr lang="it-IT" dirty="0" err="1"/>
                        <a:t>proteins</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215</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240</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238</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7791730"/>
                  </a:ext>
                </a:extLst>
              </a:tr>
            </a:tbl>
          </a:graphicData>
        </a:graphic>
      </p:graphicFrame>
    </p:spTree>
    <p:extLst>
      <p:ext uri="{BB962C8B-B14F-4D97-AF65-F5344CB8AC3E}">
        <p14:creationId xmlns:p14="http://schemas.microsoft.com/office/powerpoint/2010/main" val="3744956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6ECF130-6A74-ABDB-EDC8-92649BD51FAF}"/>
              </a:ext>
            </a:extLst>
          </p:cNvPr>
          <p:cNvSpPr>
            <a:spLocks noGrp="1"/>
          </p:cNvSpPr>
          <p:nvPr>
            <p:ph type="title"/>
          </p:nvPr>
        </p:nvSpPr>
        <p:spPr>
          <a:xfrm>
            <a:off x="7670802" y="914400"/>
            <a:ext cx="3860208" cy="1097280"/>
          </a:xfrm>
        </p:spPr>
        <p:txBody>
          <a:bodyPr anchor="t">
            <a:normAutofit/>
          </a:bodyPr>
          <a:lstStyle/>
          <a:p>
            <a:pPr>
              <a:lnSpc>
                <a:spcPct val="90000"/>
              </a:lnSpc>
            </a:pPr>
            <a:r>
              <a:rPr lang="it-IT" sz="2500" dirty="0"/>
              <a:t>Filtering in </a:t>
            </a:r>
            <a:r>
              <a:rPr lang="it-IT" sz="2500" dirty="0" err="1"/>
              <a:t>Coimbra+Lisbon</a:t>
            </a:r>
            <a:r>
              <a:rPr lang="it-IT" sz="2500" dirty="0"/>
              <a:t> dataset</a:t>
            </a:r>
            <a:endParaRPr lang="en-GB" sz="2500" dirty="0"/>
          </a:p>
        </p:txBody>
      </p:sp>
      <p:pic>
        <p:nvPicPr>
          <p:cNvPr id="11" name="Immagine 10">
            <a:extLst>
              <a:ext uri="{FF2B5EF4-FFF2-40B4-BE49-F238E27FC236}">
                <a16:creationId xmlns:a16="http://schemas.microsoft.com/office/drawing/2014/main" id="{B969EF00-CF76-268D-D94B-E219A4375269}"/>
              </a:ext>
            </a:extLst>
          </p:cNvPr>
          <p:cNvPicPr>
            <a:picLocks noChangeAspect="1"/>
          </p:cNvPicPr>
          <p:nvPr/>
        </p:nvPicPr>
        <p:blipFill>
          <a:blip r:embed="rId2">
            <a:extLst>
              <a:ext uri="{28A0092B-C50C-407E-A947-70E740481C1C}">
                <a14:useLocalDpi xmlns:a14="http://schemas.microsoft.com/office/drawing/2010/main" val="0"/>
              </a:ext>
            </a:extLst>
          </a:blip>
          <a:srcRect t="2780" r="-1" b="-1"/>
          <a:stretch>
            <a:fillRect/>
          </a:stretch>
        </p:blipFill>
        <p:spPr>
          <a:xfrm>
            <a:off x="20" y="914400"/>
            <a:ext cx="3684448" cy="2686524"/>
          </a:xfrm>
          <a:prstGeom prst="rect">
            <a:avLst/>
          </a:prstGeom>
        </p:spPr>
      </p:pic>
      <p:pic>
        <p:nvPicPr>
          <p:cNvPr id="7" name="Immagine 6">
            <a:extLst>
              <a:ext uri="{FF2B5EF4-FFF2-40B4-BE49-F238E27FC236}">
                <a16:creationId xmlns:a16="http://schemas.microsoft.com/office/drawing/2014/main" id="{D3F616D2-0131-F998-90B2-88C3A9E38FA6}"/>
              </a:ext>
            </a:extLst>
          </p:cNvPr>
          <p:cNvPicPr>
            <a:picLocks noChangeAspect="1"/>
          </p:cNvPicPr>
          <p:nvPr/>
        </p:nvPicPr>
        <p:blipFill>
          <a:blip r:embed="rId3">
            <a:extLst>
              <a:ext uri="{28A0092B-C50C-407E-A947-70E740481C1C}">
                <a14:useLocalDpi xmlns:a14="http://schemas.microsoft.com/office/drawing/2010/main" val="0"/>
              </a:ext>
            </a:extLst>
          </a:blip>
          <a:srcRect t="3203" r="-2" b="-2"/>
          <a:stretch>
            <a:fillRect/>
          </a:stretch>
        </p:blipFill>
        <p:spPr>
          <a:xfrm>
            <a:off x="1" y="3597454"/>
            <a:ext cx="3684467" cy="2674848"/>
          </a:xfrm>
          <a:prstGeom prst="rect">
            <a:avLst/>
          </a:prstGeom>
        </p:spPr>
      </p:pic>
      <p:pic>
        <p:nvPicPr>
          <p:cNvPr id="5" name="Segnaposto contenuto 4">
            <a:extLst>
              <a:ext uri="{FF2B5EF4-FFF2-40B4-BE49-F238E27FC236}">
                <a16:creationId xmlns:a16="http://schemas.microsoft.com/office/drawing/2014/main" id="{431C7E97-1988-0BB5-5362-64DB3BD2005D}"/>
              </a:ext>
            </a:extLst>
          </p:cNvPr>
          <p:cNvPicPr>
            <a:picLocks noChangeAspect="1"/>
          </p:cNvPicPr>
          <p:nvPr/>
        </p:nvPicPr>
        <p:blipFill>
          <a:blip r:embed="rId4">
            <a:extLst>
              <a:ext uri="{28A0092B-C50C-407E-A947-70E740481C1C}">
                <a14:useLocalDpi xmlns:a14="http://schemas.microsoft.com/office/drawing/2010/main" val="0"/>
              </a:ext>
            </a:extLst>
          </a:blip>
          <a:srcRect r="3346" b="-1"/>
          <a:stretch>
            <a:fillRect/>
          </a:stretch>
        </p:blipFill>
        <p:spPr>
          <a:xfrm>
            <a:off x="3683718" y="914400"/>
            <a:ext cx="3462149" cy="2686524"/>
          </a:xfrm>
          <a:prstGeom prst="rect">
            <a:avLst/>
          </a:prstGeom>
        </p:spPr>
      </p:pic>
      <p:pic>
        <p:nvPicPr>
          <p:cNvPr id="9" name="Immagine 8">
            <a:extLst>
              <a:ext uri="{FF2B5EF4-FFF2-40B4-BE49-F238E27FC236}">
                <a16:creationId xmlns:a16="http://schemas.microsoft.com/office/drawing/2014/main" id="{CEC57719-3057-A0BB-885F-5A4C2446CDE9}"/>
              </a:ext>
            </a:extLst>
          </p:cNvPr>
          <p:cNvPicPr>
            <a:picLocks noChangeAspect="1"/>
          </p:cNvPicPr>
          <p:nvPr/>
        </p:nvPicPr>
        <p:blipFill>
          <a:blip r:embed="rId5">
            <a:extLst>
              <a:ext uri="{28A0092B-C50C-407E-A947-70E740481C1C}">
                <a14:useLocalDpi xmlns:a14="http://schemas.microsoft.com/office/drawing/2010/main" val="0"/>
              </a:ext>
            </a:extLst>
          </a:blip>
          <a:srcRect r="2923" b="-2"/>
          <a:stretch>
            <a:fillRect/>
          </a:stretch>
        </p:blipFill>
        <p:spPr>
          <a:xfrm>
            <a:off x="3683718" y="3597932"/>
            <a:ext cx="3462149" cy="2674850"/>
          </a:xfrm>
          <a:prstGeom prst="rect">
            <a:avLst/>
          </a:prstGeom>
        </p:spPr>
      </p:pic>
      <p:cxnSp>
        <p:nvCxnSpPr>
          <p:cNvPr id="20" name="Straight Connector 19">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710" y="6272784"/>
            <a:ext cx="7137281"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C14430DD-21E5-3B83-5049-C5C9B595CFD8}"/>
              </a:ext>
            </a:extLst>
          </p:cNvPr>
          <p:cNvSpPr>
            <a:spLocks noGrp="1"/>
          </p:cNvSpPr>
          <p:nvPr>
            <p:ph idx="1"/>
          </p:nvPr>
        </p:nvSpPr>
        <p:spPr>
          <a:xfrm>
            <a:off x="7670800" y="2176036"/>
            <a:ext cx="3860208" cy="4123944"/>
          </a:xfrm>
        </p:spPr>
        <p:txBody>
          <a:bodyPr>
            <a:normAutofit fontScale="62500" lnSpcReduction="20000"/>
          </a:bodyPr>
          <a:lstStyle/>
          <a:p>
            <a:pPr marL="0" indent="0">
              <a:buNone/>
            </a:pPr>
            <a:r>
              <a:rPr lang="en-GB" b="1" dirty="0"/>
              <a:t>Initial dataset: 138 patients and 502 proteins.</a:t>
            </a:r>
          </a:p>
          <a:p>
            <a:pPr marL="0" indent="0">
              <a:buNone/>
            </a:pPr>
            <a:r>
              <a:rPr lang="en-GB" b="1" dirty="0"/>
              <a:t>The two plots  show the distributions of the original data by patients(the 2 above) and proteins (the 2 below). The following filtering steps were subsequently applied:</a:t>
            </a:r>
          </a:p>
          <a:p>
            <a:r>
              <a:rPr lang="en-GB" b="1" dirty="0"/>
              <a:t>N. </a:t>
            </a:r>
            <a:r>
              <a:rPr lang="en-GB" b="1" dirty="0" err="1"/>
              <a:t>Proteotypic</a:t>
            </a:r>
            <a:r>
              <a:rPr lang="en-GB" b="1" dirty="0"/>
              <a:t> Sequences ≥ 2: resulting in 138 patients and 353 proteins (−30% proteins).</a:t>
            </a:r>
          </a:p>
          <a:p>
            <a:r>
              <a:rPr lang="en-GB" b="1" dirty="0"/>
              <a:t>Removal of duplicate samples: resulting in 135 patients and 353 proteins (−3 patients).</a:t>
            </a:r>
          </a:p>
          <a:p>
            <a:r>
              <a:rPr lang="en-GB" b="1" dirty="0"/>
              <a:t>Removal of samples without data: resulting in 134 patients and 353 proteins (−1 patient).</a:t>
            </a:r>
          </a:p>
          <a:p>
            <a:r>
              <a:rPr lang="en-GB" b="1" dirty="0"/>
              <a:t>Removal of samples </a:t>
            </a:r>
            <a:r>
              <a:rPr lang="en-GB" b="1" dirty="0" err="1"/>
              <a:t>labeled</a:t>
            </a:r>
            <a:r>
              <a:rPr lang="en-GB" b="1" dirty="0"/>
              <a:t> as </a:t>
            </a:r>
            <a:r>
              <a:rPr lang="en-GB" b="1" i="1" dirty="0"/>
              <a:t>unknown</a:t>
            </a:r>
            <a:r>
              <a:rPr lang="en-GB" b="1" dirty="0"/>
              <a:t>: resulting in 128 patients and 353 proteins (−6 patients).</a:t>
            </a:r>
          </a:p>
          <a:p>
            <a:r>
              <a:rPr lang="en-GB" b="1" dirty="0"/>
              <a:t>Final dataset: </a:t>
            </a:r>
            <a:r>
              <a:rPr lang="en-GB" dirty="0"/>
              <a:t>128 patients and 353 proteins.</a:t>
            </a:r>
          </a:p>
        </p:txBody>
      </p:sp>
    </p:spTree>
    <p:extLst>
      <p:ext uri="{BB962C8B-B14F-4D97-AF65-F5344CB8AC3E}">
        <p14:creationId xmlns:p14="http://schemas.microsoft.com/office/powerpoint/2010/main" val="1844700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BB61A4C-227F-E7D5-8150-646A3A5F2FC9}"/>
              </a:ext>
            </a:extLst>
          </p:cNvPr>
          <p:cNvSpPr>
            <a:spLocks noGrp="1"/>
          </p:cNvSpPr>
          <p:nvPr>
            <p:ph type="title"/>
          </p:nvPr>
        </p:nvSpPr>
        <p:spPr>
          <a:xfrm>
            <a:off x="7670800" y="365760"/>
            <a:ext cx="3860208" cy="1097280"/>
          </a:xfrm>
        </p:spPr>
        <p:txBody>
          <a:bodyPr anchor="t">
            <a:normAutofit/>
          </a:bodyPr>
          <a:lstStyle/>
          <a:p>
            <a:pPr>
              <a:lnSpc>
                <a:spcPct val="90000"/>
              </a:lnSpc>
            </a:pPr>
            <a:r>
              <a:rPr lang="it-IT" sz="2500" dirty="0" err="1"/>
              <a:t>Apply</a:t>
            </a:r>
            <a:r>
              <a:rPr lang="it-IT" sz="2500" dirty="0"/>
              <a:t> </a:t>
            </a:r>
            <a:r>
              <a:rPr lang="it-IT" sz="2500" dirty="0" err="1"/>
              <a:t>thresholds</a:t>
            </a:r>
            <a:r>
              <a:rPr lang="it-IT" sz="2500" dirty="0"/>
              <a:t> on </a:t>
            </a:r>
            <a:r>
              <a:rPr lang="it-IT" sz="2500" dirty="0" err="1"/>
              <a:t>Coimbra+Lisbon</a:t>
            </a:r>
            <a:r>
              <a:rPr lang="it-IT" sz="2500" dirty="0"/>
              <a:t> dataset</a:t>
            </a:r>
            <a:endParaRPr lang="en-GB" sz="2500" dirty="0"/>
          </a:p>
        </p:txBody>
      </p:sp>
      <p:pic>
        <p:nvPicPr>
          <p:cNvPr id="9" name="Immagine 8">
            <a:extLst>
              <a:ext uri="{FF2B5EF4-FFF2-40B4-BE49-F238E27FC236}">
                <a16:creationId xmlns:a16="http://schemas.microsoft.com/office/drawing/2014/main" id="{AF461A1D-5766-FA3B-63A7-92DC3E37310F}"/>
              </a:ext>
            </a:extLst>
          </p:cNvPr>
          <p:cNvPicPr>
            <a:picLocks noChangeAspect="1"/>
          </p:cNvPicPr>
          <p:nvPr/>
        </p:nvPicPr>
        <p:blipFill>
          <a:blip r:embed="rId2">
            <a:extLst>
              <a:ext uri="{28A0092B-C50C-407E-A947-70E740481C1C}">
                <a14:useLocalDpi xmlns:a14="http://schemas.microsoft.com/office/drawing/2010/main" val="0"/>
              </a:ext>
            </a:extLst>
          </a:blip>
          <a:srcRect t="2358" r="-1" b="420"/>
          <a:stretch>
            <a:fillRect/>
          </a:stretch>
        </p:blipFill>
        <p:spPr>
          <a:xfrm>
            <a:off x="20" y="914400"/>
            <a:ext cx="3684448" cy="2686524"/>
          </a:xfrm>
          <a:prstGeom prst="rect">
            <a:avLst/>
          </a:prstGeom>
        </p:spPr>
      </p:pic>
      <p:pic>
        <p:nvPicPr>
          <p:cNvPr id="11" name="Immagine 10">
            <a:extLst>
              <a:ext uri="{FF2B5EF4-FFF2-40B4-BE49-F238E27FC236}">
                <a16:creationId xmlns:a16="http://schemas.microsoft.com/office/drawing/2014/main" id="{4549C48A-462E-FAFB-9A15-9A58B32C96EB}"/>
              </a:ext>
            </a:extLst>
          </p:cNvPr>
          <p:cNvPicPr>
            <a:picLocks noChangeAspect="1"/>
          </p:cNvPicPr>
          <p:nvPr/>
        </p:nvPicPr>
        <p:blipFill>
          <a:blip r:embed="rId3">
            <a:extLst>
              <a:ext uri="{28A0092B-C50C-407E-A947-70E740481C1C}">
                <a14:useLocalDpi xmlns:a14="http://schemas.microsoft.com/office/drawing/2010/main" val="0"/>
              </a:ext>
            </a:extLst>
          </a:blip>
          <a:srcRect t="3203" r="-2" b="-2"/>
          <a:stretch>
            <a:fillRect/>
          </a:stretch>
        </p:blipFill>
        <p:spPr>
          <a:xfrm>
            <a:off x="1" y="3597454"/>
            <a:ext cx="3684467" cy="2674848"/>
          </a:xfrm>
          <a:prstGeom prst="rect">
            <a:avLst/>
          </a:prstGeom>
        </p:spPr>
      </p:pic>
      <p:pic>
        <p:nvPicPr>
          <p:cNvPr id="7" name="Immagine 6">
            <a:extLst>
              <a:ext uri="{FF2B5EF4-FFF2-40B4-BE49-F238E27FC236}">
                <a16:creationId xmlns:a16="http://schemas.microsoft.com/office/drawing/2014/main" id="{9010A11F-019B-4D6D-392B-AD6E5F2F4164}"/>
              </a:ext>
            </a:extLst>
          </p:cNvPr>
          <p:cNvPicPr>
            <a:picLocks noChangeAspect="1"/>
          </p:cNvPicPr>
          <p:nvPr/>
        </p:nvPicPr>
        <p:blipFill>
          <a:blip r:embed="rId4">
            <a:extLst>
              <a:ext uri="{28A0092B-C50C-407E-A947-70E740481C1C}">
                <a14:useLocalDpi xmlns:a14="http://schemas.microsoft.com/office/drawing/2010/main" val="0"/>
              </a:ext>
            </a:extLst>
          </a:blip>
          <a:srcRect r="3348" b="1"/>
          <a:stretch>
            <a:fillRect/>
          </a:stretch>
        </p:blipFill>
        <p:spPr>
          <a:xfrm>
            <a:off x="3683718" y="914400"/>
            <a:ext cx="3462149" cy="2686524"/>
          </a:xfrm>
          <a:prstGeom prst="rect">
            <a:avLst/>
          </a:prstGeom>
        </p:spPr>
      </p:pic>
      <p:pic>
        <p:nvPicPr>
          <p:cNvPr id="5" name="Segnaposto contenuto 4">
            <a:extLst>
              <a:ext uri="{FF2B5EF4-FFF2-40B4-BE49-F238E27FC236}">
                <a16:creationId xmlns:a16="http://schemas.microsoft.com/office/drawing/2014/main" id="{93C79499-0B94-D108-3E08-4E9D3C9F3B31}"/>
              </a:ext>
            </a:extLst>
          </p:cNvPr>
          <p:cNvPicPr>
            <a:picLocks noChangeAspect="1"/>
          </p:cNvPicPr>
          <p:nvPr/>
        </p:nvPicPr>
        <p:blipFill>
          <a:blip r:embed="rId5">
            <a:extLst>
              <a:ext uri="{28A0092B-C50C-407E-A947-70E740481C1C}">
                <a14:useLocalDpi xmlns:a14="http://schemas.microsoft.com/office/drawing/2010/main" val="0"/>
              </a:ext>
            </a:extLst>
          </a:blip>
          <a:srcRect r="2923" b="-2"/>
          <a:stretch>
            <a:fillRect/>
          </a:stretch>
        </p:blipFill>
        <p:spPr>
          <a:xfrm>
            <a:off x="3683718" y="3597932"/>
            <a:ext cx="3462149" cy="2674850"/>
          </a:xfrm>
          <a:prstGeom prst="rect">
            <a:avLst/>
          </a:prstGeom>
        </p:spPr>
      </p:pic>
      <p:cxnSp>
        <p:nvCxnSpPr>
          <p:cNvPr id="20" name="Straight Connector 19">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710" y="6272784"/>
            <a:ext cx="7137281"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F8971E7F-2289-98E7-0D0B-7DA72F8E2D2D}"/>
              </a:ext>
            </a:extLst>
          </p:cNvPr>
          <p:cNvSpPr>
            <a:spLocks noGrp="1"/>
          </p:cNvSpPr>
          <p:nvPr>
            <p:ph idx="1"/>
          </p:nvPr>
        </p:nvSpPr>
        <p:spPr>
          <a:xfrm>
            <a:off x="7670800" y="1463041"/>
            <a:ext cx="3860208" cy="1965960"/>
          </a:xfrm>
        </p:spPr>
        <p:txBody>
          <a:bodyPr>
            <a:normAutofit fontScale="47500" lnSpcReduction="20000"/>
          </a:bodyPr>
          <a:lstStyle/>
          <a:p>
            <a:pPr marL="0" indent="0">
              <a:buNone/>
            </a:pPr>
            <a:r>
              <a:rPr lang="en-GB" dirty="0"/>
              <a:t>The plots show the dataset after applying the initial filtering steps. The upper plot represents the distribution of missing values across patients, while the lower plot shows the distribution across proteins.</a:t>
            </a:r>
          </a:p>
          <a:p>
            <a:pPr marL="0" indent="0">
              <a:buNone/>
            </a:pPr>
            <a:r>
              <a:rPr lang="en-GB" dirty="0"/>
              <a:t>The table below reports the number of patients and proteins obtained when applying different thresholds to remove patients with a high proportion of missing values before removing proteins containing missing values. This approach was used to evaluate whether removing patients with many missing values could increase the number of proteins retained in the final dataset.</a:t>
            </a:r>
          </a:p>
          <a:p>
            <a:pPr marL="0" indent="0">
              <a:buNone/>
            </a:pPr>
            <a:endParaRPr lang="en-US" dirty="0"/>
          </a:p>
        </p:txBody>
      </p:sp>
      <p:graphicFrame>
        <p:nvGraphicFramePr>
          <p:cNvPr id="12" name="Tabella 11">
            <a:extLst>
              <a:ext uri="{FF2B5EF4-FFF2-40B4-BE49-F238E27FC236}">
                <a16:creationId xmlns:a16="http://schemas.microsoft.com/office/drawing/2014/main" id="{3C21EDE4-C230-2CCC-9FF7-2C253234CAA1}"/>
              </a:ext>
            </a:extLst>
          </p:cNvPr>
          <p:cNvGraphicFramePr>
            <a:graphicFrameLocks noGrp="1"/>
          </p:cNvGraphicFramePr>
          <p:nvPr>
            <p:extLst>
              <p:ext uri="{D42A27DB-BD31-4B8C-83A1-F6EECF244321}">
                <p14:modId xmlns:p14="http://schemas.microsoft.com/office/powerpoint/2010/main" val="255698197"/>
              </p:ext>
            </p:extLst>
          </p:nvPr>
        </p:nvGraphicFramePr>
        <p:xfrm>
          <a:off x="7670798" y="3254479"/>
          <a:ext cx="3860210" cy="3237761"/>
        </p:xfrm>
        <a:graphic>
          <a:graphicData uri="http://schemas.openxmlformats.org/drawingml/2006/table">
            <a:tbl>
              <a:tblPr firstRow="1" bandRow="1">
                <a:tableStyleId>{5C22544A-7EE6-4342-B048-85BDC9FD1C3A}</a:tableStyleId>
              </a:tblPr>
              <a:tblGrid>
                <a:gridCol w="772042">
                  <a:extLst>
                    <a:ext uri="{9D8B030D-6E8A-4147-A177-3AD203B41FA5}">
                      <a16:colId xmlns:a16="http://schemas.microsoft.com/office/drawing/2014/main" val="1365858767"/>
                    </a:ext>
                  </a:extLst>
                </a:gridCol>
                <a:gridCol w="772042">
                  <a:extLst>
                    <a:ext uri="{9D8B030D-6E8A-4147-A177-3AD203B41FA5}">
                      <a16:colId xmlns:a16="http://schemas.microsoft.com/office/drawing/2014/main" val="998259083"/>
                    </a:ext>
                  </a:extLst>
                </a:gridCol>
                <a:gridCol w="764858">
                  <a:extLst>
                    <a:ext uri="{9D8B030D-6E8A-4147-A177-3AD203B41FA5}">
                      <a16:colId xmlns:a16="http://schemas.microsoft.com/office/drawing/2014/main" val="896560097"/>
                    </a:ext>
                  </a:extLst>
                </a:gridCol>
                <a:gridCol w="779226">
                  <a:extLst>
                    <a:ext uri="{9D8B030D-6E8A-4147-A177-3AD203B41FA5}">
                      <a16:colId xmlns:a16="http://schemas.microsoft.com/office/drawing/2014/main" val="52487416"/>
                    </a:ext>
                  </a:extLst>
                </a:gridCol>
                <a:gridCol w="772042">
                  <a:extLst>
                    <a:ext uri="{9D8B030D-6E8A-4147-A177-3AD203B41FA5}">
                      <a16:colId xmlns:a16="http://schemas.microsoft.com/office/drawing/2014/main" val="2177110108"/>
                    </a:ext>
                  </a:extLst>
                </a:gridCol>
              </a:tblGrid>
              <a:tr h="795231">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000" dirty="0">
                          <a:solidFill>
                            <a:schemeClr val="tx1"/>
                          </a:solidFill>
                        </a:rPr>
                        <a:t>NO THRESHOLD</a:t>
                      </a:r>
                      <a:endParaRPr lang="en-GB"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000" dirty="0" err="1">
                          <a:solidFill>
                            <a:schemeClr val="tx1"/>
                          </a:solidFill>
                        </a:rPr>
                        <a:t>Threshold</a:t>
                      </a:r>
                      <a:r>
                        <a:rPr lang="it-IT" sz="1100" dirty="0">
                          <a:solidFill>
                            <a:schemeClr val="tx1"/>
                          </a:solidFill>
                        </a:rPr>
                        <a:t> of</a:t>
                      </a:r>
                    </a:p>
                    <a:p>
                      <a:pPr algn="ctr"/>
                      <a:r>
                        <a:rPr lang="it-IT" sz="1000" dirty="0">
                          <a:solidFill>
                            <a:schemeClr val="tx1"/>
                          </a:solidFill>
                        </a:rPr>
                        <a:t>10%</a:t>
                      </a:r>
                      <a:endParaRPr lang="en-GB"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000" dirty="0" err="1">
                          <a:solidFill>
                            <a:schemeClr val="tx1"/>
                          </a:solidFill>
                        </a:rPr>
                        <a:t>Threshold</a:t>
                      </a:r>
                      <a:r>
                        <a:rPr lang="it-IT" sz="1000" dirty="0">
                          <a:solidFill>
                            <a:schemeClr val="tx1"/>
                          </a:solidFill>
                        </a:rPr>
                        <a:t> of </a:t>
                      </a:r>
                    </a:p>
                    <a:p>
                      <a:pPr algn="ctr"/>
                      <a:r>
                        <a:rPr lang="it-IT" sz="1000" dirty="0">
                          <a:solidFill>
                            <a:schemeClr val="tx1"/>
                          </a:solidFill>
                        </a:rPr>
                        <a:t>17%</a:t>
                      </a:r>
                      <a:endParaRPr lang="en-GB"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000" dirty="0" err="1">
                          <a:solidFill>
                            <a:schemeClr val="tx1"/>
                          </a:solidFill>
                        </a:rPr>
                        <a:t>Threshold</a:t>
                      </a:r>
                      <a:r>
                        <a:rPr lang="it-IT" sz="1000" dirty="0">
                          <a:solidFill>
                            <a:schemeClr val="tx1"/>
                          </a:solidFill>
                        </a:rPr>
                        <a:t> of</a:t>
                      </a:r>
                    </a:p>
                    <a:p>
                      <a:pPr algn="ctr"/>
                      <a:r>
                        <a:rPr lang="it-IT" sz="1000" dirty="0">
                          <a:solidFill>
                            <a:schemeClr val="tx1"/>
                          </a:solidFill>
                        </a:rPr>
                        <a:t>20%</a:t>
                      </a:r>
                      <a:endParaRPr lang="en-GB"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776140"/>
                  </a:ext>
                </a:extLst>
              </a:tr>
              <a:tr h="1221265">
                <a:tc>
                  <a:txBody>
                    <a:bodyPr/>
                    <a:lstStyle/>
                    <a:p>
                      <a:pPr algn="ctr"/>
                      <a:r>
                        <a:rPr lang="it-IT" sz="1200" dirty="0" err="1"/>
                        <a:t>Number</a:t>
                      </a:r>
                      <a:r>
                        <a:rPr lang="it-IT" sz="1200" dirty="0"/>
                        <a:t> of </a:t>
                      </a:r>
                      <a:r>
                        <a:rPr lang="it-IT" sz="1200" dirty="0" err="1"/>
                        <a:t>patients</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128</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96</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122</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dirty="0"/>
                        <a:t>125</a:t>
                      </a:r>
                      <a:endParaRPr lang="en-GB" dirty="0"/>
                    </a:p>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9327664"/>
                  </a:ext>
                </a:extLst>
              </a:tr>
              <a:tr h="1221265">
                <a:tc>
                  <a:txBody>
                    <a:bodyPr/>
                    <a:lstStyle/>
                    <a:p>
                      <a:pPr algn="ctr"/>
                      <a:r>
                        <a:rPr lang="it-IT" sz="1200" dirty="0" err="1"/>
                        <a:t>Number</a:t>
                      </a:r>
                      <a:r>
                        <a:rPr lang="it-IT" sz="1200" dirty="0"/>
                        <a:t> of </a:t>
                      </a:r>
                      <a:r>
                        <a:rPr lang="it-IT" sz="1200" dirty="0" err="1"/>
                        <a:t>proteins</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184</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231</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206</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204</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7791730"/>
                  </a:ext>
                </a:extLst>
              </a:tr>
            </a:tbl>
          </a:graphicData>
        </a:graphic>
      </p:graphicFrame>
    </p:spTree>
    <p:extLst>
      <p:ext uri="{BB962C8B-B14F-4D97-AF65-F5344CB8AC3E}">
        <p14:creationId xmlns:p14="http://schemas.microsoft.com/office/powerpoint/2010/main" val="4289399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7CEDDA9-2503-FF94-E657-A640C23298EB}"/>
              </a:ext>
            </a:extLst>
          </p:cNvPr>
          <p:cNvSpPr>
            <a:spLocks noGrp="1"/>
          </p:cNvSpPr>
          <p:nvPr>
            <p:ph type="title"/>
          </p:nvPr>
        </p:nvSpPr>
        <p:spPr>
          <a:xfrm>
            <a:off x="7670802" y="914400"/>
            <a:ext cx="3860208" cy="1097280"/>
          </a:xfrm>
        </p:spPr>
        <p:txBody>
          <a:bodyPr anchor="t">
            <a:normAutofit/>
          </a:bodyPr>
          <a:lstStyle/>
          <a:p>
            <a:pPr>
              <a:lnSpc>
                <a:spcPct val="90000"/>
              </a:lnSpc>
            </a:pPr>
            <a:r>
              <a:rPr lang="it-IT" sz="3600"/>
              <a:t>Filtering in Lisbon dataset</a:t>
            </a:r>
            <a:endParaRPr lang="en-GB" sz="3600"/>
          </a:p>
        </p:txBody>
      </p:sp>
      <p:cxnSp>
        <p:nvCxnSpPr>
          <p:cNvPr id="20" name="Straight Connector 19">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710" y="6272784"/>
            <a:ext cx="7137281"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83BBC8D2-C4EB-128B-183A-A808BB1B9CC9}"/>
              </a:ext>
            </a:extLst>
          </p:cNvPr>
          <p:cNvSpPr>
            <a:spLocks noGrp="1"/>
          </p:cNvSpPr>
          <p:nvPr>
            <p:ph idx="1"/>
          </p:nvPr>
        </p:nvSpPr>
        <p:spPr>
          <a:xfrm>
            <a:off x="7670800" y="2176036"/>
            <a:ext cx="3860208" cy="4123944"/>
          </a:xfrm>
        </p:spPr>
        <p:txBody>
          <a:bodyPr>
            <a:normAutofit fontScale="62500" lnSpcReduction="20000"/>
          </a:bodyPr>
          <a:lstStyle/>
          <a:p>
            <a:pPr marL="0" indent="0">
              <a:buNone/>
            </a:pPr>
            <a:r>
              <a:rPr lang="en-GB" b="1" dirty="0"/>
              <a:t>Initial dataset: 78 patients and 492 proteins.</a:t>
            </a:r>
          </a:p>
          <a:p>
            <a:pPr marL="0" indent="0">
              <a:buNone/>
            </a:pPr>
            <a:r>
              <a:rPr lang="en-GB" b="1" dirty="0"/>
              <a:t>The two plots  show the distributions of the original data by patients(the 2 above) and proteins (the 2 below). The following filtering steps were subsequently applied:</a:t>
            </a:r>
          </a:p>
          <a:p>
            <a:r>
              <a:rPr lang="en-GB" b="1" dirty="0"/>
              <a:t>N. </a:t>
            </a:r>
            <a:r>
              <a:rPr lang="en-GB" b="1" dirty="0" err="1"/>
              <a:t>Proteotypic</a:t>
            </a:r>
            <a:r>
              <a:rPr lang="en-GB" b="1" dirty="0"/>
              <a:t> Sequences ≥ 2: resulting in 78 patients and 351 proteins (−29% proteins).</a:t>
            </a:r>
          </a:p>
          <a:p>
            <a:r>
              <a:rPr lang="en-GB" b="1" dirty="0"/>
              <a:t>Removal of duplicate samples: resulting in 75 patients and 351 proteins (−3 patients).</a:t>
            </a:r>
          </a:p>
          <a:p>
            <a:r>
              <a:rPr lang="en-GB" b="1" dirty="0"/>
              <a:t>Removal of samples without data: resulting in 74 patients and 351 proteins (−1 patient).</a:t>
            </a:r>
          </a:p>
          <a:p>
            <a:r>
              <a:rPr lang="en-GB" b="1" dirty="0"/>
              <a:t>Removal of samples </a:t>
            </a:r>
            <a:r>
              <a:rPr lang="en-GB" b="1" dirty="0" err="1"/>
              <a:t>labeled</a:t>
            </a:r>
            <a:r>
              <a:rPr lang="en-GB" b="1" dirty="0"/>
              <a:t> as </a:t>
            </a:r>
            <a:r>
              <a:rPr lang="en-GB" b="1" i="1" dirty="0"/>
              <a:t>unknown</a:t>
            </a:r>
            <a:r>
              <a:rPr lang="en-GB" b="1" dirty="0"/>
              <a:t>: resulting in 68 patients and 351 proteins (−6 patients).</a:t>
            </a:r>
          </a:p>
          <a:p>
            <a:r>
              <a:rPr lang="en-GB" b="1" dirty="0"/>
              <a:t>Final dataset: 68</a:t>
            </a:r>
            <a:r>
              <a:rPr lang="en-GB" dirty="0"/>
              <a:t> patients and 351proteins</a:t>
            </a:r>
            <a:endParaRPr lang="en-US" dirty="0"/>
          </a:p>
        </p:txBody>
      </p:sp>
      <p:pic>
        <p:nvPicPr>
          <p:cNvPr id="12" name="Immagine 11">
            <a:extLst>
              <a:ext uri="{FF2B5EF4-FFF2-40B4-BE49-F238E27FC236}">
                <a16:creationId xmlns:a16="http://schemas.microsoft.com/office/drawing/2014/main" id="{3CDB36CC-099A-E941-B6D5-C42CA52EE4B0}"/>
              </a:ext>
            </a:extLst>
          </p:cNvPr>
          <p:cNvPicPr>
            <a:picLocks noChangeAspect="1"/>
          </p:cNvPicPr>
          <p:nvPr/>
        </p:nvPicPr>
        <p:blipFill>
          <a:blip r:embed="rId2">
            <a:extLst>
              <a:ext uri="{28A0092B-C50C-407E-A947-70E740481C1C}">
                <a14:useLocalDpi xmlns:a14="http://schemas.microsoft.com/office/drawing/2010/main" val="0"/>
              </a:ext>
            </a:extLst>
          </a:blip>
          <a:srcRect t="2780" r="-1" b="-1"/>
          <a:stretch>
            <a:fillRect/>
          </a:stretch>
        </p:blipFill>
        <p:spPr>
          <a:xfrm>
            <a:off x="3835033" y="914400"/>
            <a:ext cx="3684448" cy="2686524"/>
          </a:xfrm>
          <a:prstGeom prst="rect">
            <a:avLst/>
          </a:prstGeom>
        </p:spPr>
      </p:pic>
      <p:pic>
        <p:nvPicPr>
          <p:cNvPr id="13" name="Segnaposto contenuto 4">
            <a:extLst>
              <a:ext uri="{FF2B5EF4-FFF2-40B4-BE49-F238E27FC236}">
                <a16:creationId xmlns:a16="http://schemas.microsoft.com/office/drawing/2014/main" id="{099617B0-7491-58D0-46C6-F1990D987D69}"/>
              </a:ext>
            </a:extLst>
          </p:cNvPr>
          <p:cNvPicPr>
            <a:picLocks noChangeAspect="1"/>
          </p:cNvPicPr>
          <p:nvPr/>
        </p:nvPicPr>
        <p:blipFill>
          <a:blip r:embed="rId3">
            <a:extLst>
              <a:ext uri="{28A0092B-C50C-407E-A947-70E740481C1C}">
                <a14:useLocalDpi xmlns:a14="http://schemas.microsoft.com/office/drawing/2010/main" val="0"/>
              </a:ext>
            </a:extLst>
          </a:blip>
          <a:srcRect t="3203" r="-2" b="-2"/>
          <a:stretch>
            <a:fillRect/>
          </a:stretch>
        </p:blipFill>
        <p:spPr>
          <a:xfrm>
            <a:off x="262466" y="3515828"/>
            <a:ext cx="3684467" cy="2674848"/>
          </a:xfrm>
          <a:prstGeom prst="rect">
            <a:avLst/>
          </a:prstGeom>
        </p:spPr>
      </p:pic>
      <p:pic>
        <p:nvPicPr>
          <p:cNvPr id="14" name="Immagine 13">
            <a:extLst>
              <a:ext uri="{FF2B5EF4-FFF2-40B4-BE49-F238E27FC236}">
                <a16:creationId xmlns:a16="http://schemas.microsoft.com/office/drawing/2014/main" id="{BEDB3D29-1639-5F79-8627-C8AC1E053C53}"/>
              </a:ext>
            </a:extLst>
          </p:cNvPr>
          <p:cNvPicPr>
            <a:picLocks noChangeAspect="1"/>
          </p:cNvPicPr>
          <p:nvPr/>
        </p:nvPicPr>
        <p:blipFill>
          <a:blip r:embed="rId4">
            <a:extLst>
              <a:ext uri="{28A0092B-C50C-407E-A947-70E740481C1C}">
                <a14:useLocalDpi xmlns:a14="http://schemas.microsoft.com/office/drawing/2010/main" val="0"/>
              </a:ext>
            </a:extLst>
          </a:blip>
          <a:srcRect r="3346" b="-1"/>
          <a:stretch>
            <a:fillRect/>
          </a:stretch>
        </p:blipFill>
        <p:spPr>
          <a:xfrm>
            <a:off x="352800" y="914400"/>
            <a:ext cx="3462149" cy="2686524"/>
          </a:xfrm>
          <a:prstGeom prst="rect">
            <a:avLst/>
          </a:prstGeom>
        </p:spPr>
      </p:pic>
      <p:pic>
        <p:nvPicPr>
          <p:cNvPr id="16" name="Immagine 15">
            <a:extLst>
              <a:ext uri="{FF2B5EF4-FFF2-40B4-BE49-F238E27FC236}">
                <a16:creationId xmlns:a16="http://schemas.microsoft.com/office/drawing/2014/main" id="{854D9A85-2ADE-A1B6-BDE1-0E0E97BF8DE1}"/>
              </a:ext>
            </a:extLst>
          </p:cNvPr>
          <p:cNvPicPr>
            <a:picLocks noChangeAspect="1"/>
          </p:cNvPicPr>
          <p:nvPr/>
        </p:nvPicPr>
        <p:blipFill>
          <a:blip r:embed="rId5">
            <a:extLst>
              <a:ext uri="{28A0092B-C50C-407E-A947-70E740481C1C}">
                <a14:useLocalDpi xmlns:a14="http://schemas.microsoft.com/office/drawing/2010/main" val="0"/>
              </a:ext>
            </a:extLst>
          </a:blip>
          <a:srcRect r="2923" b="-2"/>
          <a:stretch>
            <a:fillRect/>
          </a:stretch>
        </p:blipFill>
        <p:spPr>
          <a:xfrm>
            <a:off x="3946183" y="3516306"/>
            <a:ext cx="3462149" cy="2674850"/>
          </a:xfrm>
          <a:prstGeom prst="rect">
            <a:avLst/>
          </a:prstGeom>
        </p:spPr>
      </p:pic>
    </p:spTree>
    <p:extLst>
      <p:ext uri="{BB962C8B-B14F-4D97-AF65-F5344CB8AC3E}">
        <p14:creationId xmlns:p14="http://schemas.microsoft.com/office/powerpoint/2010/main" val="29742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C69EE8A-B4C9-BCCA-8131-E3627BCF49BB}"/>
              </a:ext>
            </a:extLst>
          </p:cNvPr>
          <p:cNvSpPr>
            <a:spLocks noGrp="1"/>
          </p:cNvSpPr>
          <p:nvPr>
            <p:ph type="title"/>
          </p:nvPr>
        </p:nvSpPr>
        <p:spPr>
          <a:xfrm>
            <a:off x="7670800" y="520736"/>
            <a:ext cx="3860208" cy="1097280"/>
          </a:xfrm>
        </p:spPr>
        <p:txBody>
          <a:bodyPr anchor="t">
            <a:normAutofit/>
          </a:bodyPr>
          <a:lstStyle/>
          <a:p>
            <a:pPr>
              <a:lnSpc>
                <a:spcPct val="90000"/>
              </a:lnSpc>
            </a:pPr>
            <a:r>
              <a:rPr lang="it-IT" sz="3600" dirty="0" err="1"/>
              <a:t>Apply</a:t>
            </a:r>
            <a:r>
              <a:rPr lang="it-IT" sz="3600" dirty="0"/>
              <a:t> </a:t>
            </a:r>
            <a:r>
              <a:rPr lang="it-IT" sz="3600" dirty="0" err="1"/>
              <a:t>thresholds</a:t>
            </a:r>
            <a:r>
              <a:rPr lang="it-IT" sz="3600" dirty="0"/>
              <a:t> on </a:t>
            </a:r>
            <a:r>
              <a:rPr lang="it-IT" sz="3600" dirty="0" err="1"/>
              <a:t>Lisbon</a:t>
            </a:r>
            <a:r>
              <a:rPr lang="it-IT" sz="3600" dirty="0"/>
              <a:t> dataset</a:t>
            </a:r>
            <a:endParaRPr lang="en-GB" sz="3600" dirty="0"/>
          </a:p>
        </p:txBody>
      </p:sp>
      <p:pic>
        <p:nvPicPr>
          <p:cNvPr id="5" name="Segnaposto contenuto 4">
            <a:extLst>
              <a:ext uri="{FF2B5EF4-FFF2-40B4-BE49-F238E27FC236}">
                <a16:creationId xmlns:a16="http://schemas.microsoft.com/office/drawing/2014/main" id="{5D3484A4-5124-764A-5EF4-0A3E635862CE}"/>
              </a:ext>
            </a:extLst>
          </p:cNvPr>
          <p:cNvPicPr>
            <a:picLocks noChangeAspect="1"/>
          </p:cNvPicPr>
          <p:nvPr/>
        </p:nvPicPr>
        <p:blipFill>
          <a:blip r:embed="rId2">
            <a:extLst>
              <a:ext uri="{28A0092B-C50C-407E-A947-70E740481C1C}">
                <a14:useLocalDpi xmlns:a14="http://schemas.microsoft.com/office/drawing/2010/main" val="0"/>
              </a:ext>
            </a:extLst>
          </a:blip>
          <a:srcRect t="2780" r="-1" b="-1"/>
          <a:stretch>
            <a:fillRect/>
          </a:stretch>
        </p:blipFill>
        <p:spPr>
          <a:xfrm>
            <a:off x="20" y="914400"/>
            <a:ext cx="3684448" cy="2686524"/>
          </a:xfrm>
          <a:prstGeom prst="rect">
            <a:avLst/>
          </a:prstGeom>
        </p:spPr>
      </p:pic>
      <p:pic>
        <p:nvPicPr>
          <p:cNvPr id="11" name="Immagine 10">
            <a:extLst>
              <a:ext uri="{FF2B5EF4-FFF2-40B4-BE49-F238E27FC236}">
                <a16:creationId xmlns:a16="http://schemas.microsoft.com/office/drawing/2014/main" id="{F856065E-A1B8-ADC3-B7D6-D24A9F8263B3}"/>
              </a:ext>
            </a:extLst>
          </p:cNvPr>
          <p:cNvPicPr>
            <a:picLocks noChangeAspect="1"/>
          </p:cNvPicPr>
          <p:nvPr/>
        </p:nvPicPr>
        <p:blipFill>
          <a:blip r:embed="rId3">
            <a:extLst>
              <a:ext uri="{28A0092B-C50C-407E-A947-70E740481C1C}">
                <a14:useLocalDpi xmlns:a14="http://schemas.microsoft.com/office/drawing/2010/main" val="0"/>
              </a:ext>
            </a:extLst>
          </a:blip>
          <a:srcRect t="3203" r="-2" b="-2"/>
          <a:stretch>
            <a:fillRect/>
          </a:stretch>
        </p:blipFill>
        <p:spPr>
          <a:xfrm>
            <a:off x="1" y="3597454"/>
            <a:ext cx="3684467" cy="2674848"/>
          </a:xfrm>
          <a:prstGeom prst="rect">
            <a:avLst/>
          </a:prstGeom>
        </p:spPr>
      </p:pic>
      <p:pic>
        <p:nvPicPr>
          <p:cNvPr id="7" name="Immagine 6">
            <a:extLst>
              <a:ext uri="{FF2B5EF4-FFF2-40B4-BE49-F238E27FC236}">
                <a16:creationId xmlns:a16="http://schemas.microsoft.com/office/drawing/2014/main" id="{3D7A4C83-D886-BAE1-0E9E-45BA93F022BE}"/>
              </a:ext>
            </a:extLst>
          </p:cNvPr>
          <p:cNvPicPr>
            <a:picLocks noChangeAspect="1"/>
          </p:cNvPicPr>
          <p:nvPr/>
        </p:nvPicPr>
        <p:blipFill>
          <a:blip r:embed="rId4">
            <a:extLst>
              <a:ext uri="{28A0092B-C50C-407E-A947-70E740481C1C}">
                <a14:useLocalDpi xmlns:a14="http://schemas.microsoft.com/office/drawing/2010/main" val="0"/>
              </a:ext>
            </a:extLst>
          </a:blip>
          <a:srcRect r="3346" b="-1"/>
          <a:stretch>
            <a:fillRect/>
          </a:stretch>
        </p:blipFill>
        <p:spPr>
          <a:xfrm>
            <a:off x="3683718" y="914400"/>
            <a:ext cx="3462149" cy="2686524"/>
          </a:xfrm>
          <a:prstGeom prst="rect">
            <a:avLst/>
          </a:prstGeom>
        </p:spPr>
      </p:pic>
      <p:pic>
        <p:nvPicPr>
          <p:cNvPr id="9" name="Immagine 8">
            <a:extLst>
              <a:ext uri="{FF2B5EF4-FFF2-40B4-BE49-F238E27FC236}">
                <a16:creationId xmlns:a16="http://schemas.microsoft.com/office/drawing/2014/main" id="{CEFFB669-38AA-22A7-2D8D-A373F4B84C67}"/>
              </a:ext>
            </a:extLst>
          </p:cNvPr>
          <p:cNvPicPr>
            <a:picLocks noChangeAspect="1"/>
          </p:cNvPicPr>
          <p:nvPr/>
        </p:nvPicPr>
        <p:blipFill>
          <a:blip r:embed="rId5">
            <a:extLst>
              <a:ext uri="{28A0092B-C50C-407E-A947-70E740481C1C}">
                <a14:useLocalDpi xmlns:a14="http://schemas.microsoft.com/office/drawing/2010/main" val="0"/>
              </a:ext>
            </a:extLst>
          </a:blip>
          <a:srcRect r="2923" b="-2"/>
          <a:stretch>
            <a:fillRect/>
          </a:stretch>
        </p:blipFill>
        <p:spPr>
          <a:xfrm>
            <a:off x="3683718" y="3597932"/>
            <a:ext cx="3462149" cy="2674850"/>
          </a:xfrm>
          <a:prstGeom prst="rect">
            <a:avLst/>
          </a:prstGeom>
        </p:spPr>
      </p:pic>
      <p:cxnSp>
        <p:nvCxnSpPr>
          <p:cNvPr id="20" name="Straight Connector 19">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710" y="6272784"/>
            <a:ext cx="7137281"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5" name="Content Placeholder 14">
            <a:extLst>
              <a:ext uri="{FF2B5EF4-FFF2-40B4-BE49-F238E27FC236}">
                <a16:creationId xmlns:a16="http://schemas.microsoft.com/office/drawing/2014/main" id="{1C71F91B-64CA-9590-9BC9-ECFFEDB6F828}"/>
              </a:ext>
            </a:extLst>
          </p:cNvPr>
          <p:cNvSpPr>
            <a:spLocks noGrp="1"/>
          </p:cNvSpPr>
          <p:nvPr>
            <p:ph idx="1"/>
          </p:nvPr>
        </p:nvSpPr>
        <p:spPr>
          <a:xfrm>
            <a:off x="7670800" y="1674896"/>
            <a:ext cx="3860208" cy="1754104"/>
          </a:xfrm>
        </p:spPr>
        <p:txBody>
          <a:bodyPr>
            <a:normAutofit fontScale="47500" lnSpcReduction="20000"/>
          </a:bodyPr>
          <a:lstStyle/>
          <a:p>
            <a:pPr marL="0" indent="0">
              <a:buNone/>
            </a:pPr>
            <a:r>
              <a:rPr lang="en-GB" dirty="0"/>
              <a:t>The plots show the dataset after applying the initial filtering steps. The upper plot represents the distribution of missing values across patients, while the lower plot shows the distribution across proteins.</a:t>
            </a:r>
          </a:p>
          <a:p>
            <a:pPr marL="0" indent="0">
              <a:buNone/>
            </a:pPr>
            <a:r>
              <a:rPr lang="en-GB" dirty="0"/>
              <a:t>The table below reports the number of patients and proteins obtained when applying different thresholds to remove patients with a high proportion of missing values before removing proteins containing missing values. This approach was used to evaluate whether removing patients with many missing values could increase the number of proteins retained in the final dataset.</a:t>
            </a:r>
          </a:p>
          <a:p>
            <a:pPr marL="0" indent="0">
              <a:buNone/>
            </a:pPr>
            <a:endParaRPr lang="en-US" dirty="0"/>
          </a:p>
        </p:txBody>
      </p:sp>
      <p:graphicFrame>
        <p:nvGraphicFramePr>
          <p:cNvPr id="12" name="Tabella 11">
            <a:extLst>
              <a:ext uri="{FF2B5EF4-FFF2-40B4-BE49-F238E27FC236}">
                <a16:creationId xmlns:a16="http://schemas.microsoft.com/office/drawing/2014/main" id="{265DA5C3-9129-6BE3-3F7C-5366928595E9}"/>
              </a:ext>
            </a:extLst>
          </p:cNvPr>
          <p:cNvGraphicFramePr>
            <a:graphicFrameLocks noGrp="1"/>
          </p:cNvGraphicFramePr>
          <p:nvPr>
            <p:extLst>
              <p:ext uri="{D42A27DB-BD31-4B8C-83A1-F6EECF244321}">
                <p14:modId xmlns:p14="http://schemas.microsoft.com/office/powerpoint/2010/main" val="4060757066"/>
              </p:ext>
            </p:extLst>
          </p:nvPr>
        </p:nvGraphicFramePr>
        <p:xfrm>
          <a:off x="8056820" y="3485880"/>
          <a:ext cx="3088168" cy="2534727"/>
        </p:xfrm>
        <a:graphic>
          <a:graphicData uri="http://schemas.openxmlformats.org/drawingml/2006/table">
            <a:tbl>
              <a:tblPr firstRow="1" bandRow="1">
                <a:tableStyleId>{5C22544A-7EE6-4342-B048-85BDC9FD1C3A}</a:tableStyleId>
              </a:tblPr>
              <a:tblGrid>
                <a:gridCol w="772042">
                  <a:extLst>
                    <a:ext uri="{9D8B030D-6E8A-4147-A177-3AD203B41FA5}">
                      <a16:colId xmlns:a16="http://schemas.microsoft.com/office/drawing/2014/main" val="1365858767"/>
                    </a:ext>
                  </a:extLst>
                </a:gridCol>
                <a:gridCol w="772042">
                  <a:extLst>
                    <a:ext uri="{9D8B030D-6E8A-4147-A177-3AD203B41FA5}">
                      <a16:colId xmlns:a16="http://schemas.microsoft.com/office/drawing/2014/main" val="998259083"/>
                    </a:ext>
                  </a:extLst>
                </a:gridCol>
                <a:gridCol w="764858">
                  <a:extLst>
                    <a:ext uri="{9D8B030D-6E8A-4147-A177-3AD203B41FA5}">
                      <a16:colId xmlns:a16="http://schemas.microsoft.com/office/drawing/2014/main" val="896560097"/>
                    </a:ext>
                  </a:extLst>
                </a:gridCol>
                <a:gridCol w="779226">
                  <a:extLst>
                    <a:ext uri="{9D8B030D-6E8A-4147-A177-3AD203B41FA5}">
                      <a16:colId xmlns:a16="http://schemas.microsoft.com/office/drawing/2014/main" val="52487416"/>
                    </a:ext>
                  </a:extLst>
                </a:gridCol>
              </a:tblGrid>
              <a:tr h="515878">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000" dirty="0">
                          <a:solidFill>
                            <a:schemeClr val="tx1"/>
                          </a:solidFill>
                        </a:rPr>
                        <a:t>NO THRESHOLD</a:t>
                      </a:r>
                      <a:endParaRPr lang="en-GB"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000" dirty="0" err="1">
                          <a:solidFill>
                            <a:schemeClr val="tx1"/>
                          </a:solidFill>
                        </a:rPr>
                        <a:t>Threshold</a:t>
                      </a:r>
                      <a:r>
                        <a:rPr lang="it-IT" sz="1000" dirty="0">
                          <a:solidFill>
                            <a:schemeClr val="tx1"/>
                          </a:solidFill>
                        </a:rPr>
                        <a:t> of </a:t>
                      </a:r>
                    </a:p>
                    <a:p>
                      <a:pPr algn="ctr"/>
                      <a:r>
                        <a:rPr lang="it-IT" sz="1000" dirty="0">
                          <a:solidFill>
                            <a:schemeClr val="tx1"/>
                          </a:solidFill>
                        </a:rPr>
                        <a:t>9%</a:t>
                      </a:r>
                      <a:endParaRPr lang="en-GB"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sz="1000" dirty="0" err="1">
                          <a:solidFill>
                            <a:schemeClr val="tx1"/>
                          </a:solidFill>
                        </a:rPr>
                        <a:t>Threshold</a:t>
                      </a:r>
                      <a:r>
                        <a:rPr lang="it-IT" sz="1000" dirty="0">
                          <a:solidFill>
                            <a:schemeClr val="tx1"/>
                          </a:solidFill>
                        </a:rPr>
                        <a:t> of</a:t>
                      </a:r>
                    </a:p>
                    <a:p>
                      <a:pPr algn="ctr"/>
                      <a:r>
                        <a:rPr lang="it-IT" sz="1000" dirty="0">
                          <a:solidFill>
                            <a:schemeClr val="tx1"/>
                          </a:solidFill>
                        </a:rPr>
                        <a:t>10%</a:t>
                      </a:r>
                      <a:endParaRPr lang="en-GB" sz="1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776140"/>
                  </a:ext>
                </a:extLst>
              </a:tr>
              <a:tr h="1031755">
                <a:tc>
                  <a:txBody>
                    <a:bodyPr/>
                    <a:lstStyle/>
                    <a:p>
                      <a:pPr algn="ctr"/>
                      <a:r>
                        <a:rPr lang="it-IT" sz="1200" dirty="0" err="1"/>
                        <a:t>Number</a:t>
                      </a:r>
                      <a:r>
                        <a:rPr lang="it-IT" sz="1200" dirty="0"/>
                        <a:t> of </a:t>
                      </a:r>
                      <a:r>
                        <a:rPr lang="it-IT" sz="1200" dirty="0" err="1"/>
                        <a:t>patients</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68</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63</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64</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9327664"/>
                  </a:ext>
                </a:extLst>
              </a:tr>
              <a:tr h="954332">
                <a:tc>
                  <a:txBody>
                    <a:bodyPr/>
                    <a:lstStyle/>
                    <a:p>
                      <a:pPr algn="ctr"/>
                      <a:r>
                        <a:rPr lang="it-IT" sz="1200" dirty="0" err="1"/>
                        <a:t>Number</a:t>
                      </a:r>
                      <a:r>
                        <a:rPr lang="it-IT" sz="1200" dirty="0"/>
                        <a:t> of </a:t>
                      </a:r>
                      <a:r>
                        <a:rPr lang="it-IT" sz="1200" dirty="0" err="1"/>
                        <a:t>proteins</a:t>
                      </a:r>
                      <a:endParaRPr lang="en-GB"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237</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262</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it-IT" dirty="0"/>
                        <a:t>259</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7791730"/>
                  </a:ext>
                </a:extLst>
              </a:tr>
            </a:tbl>
          </a:graphicData>
        </a:graphic>
      </p:graphicFrame>
    </p:spTree>
    <p:extLst>
      <p:ext uri="{BB962C8B-B14F-4D97-AF65-F5344CB8AC3E}">
        <p14:creationId xmlns:p14="http://schemas.microsoft.com/office/powerpoint/2010/main" val="285599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F73B672B-2F05-8988-CE79-F89B48A3B1EA}"/>
              </a:ext>
            </a:extLst>
          </p:cNvPr>
          <p:cNvSpPr>
            <a:spLocks noGrp="1"/>
          </p:cNvSpPr>
          <p:nvPr>
            <p:ph type="title"/>
          </p:nvPr>
        </p:nvSpPr>
        <p:spPr>
          <a:xfrm>
            <a:off x="660992" y="4895273"/>
            <a:ext cx="10869325" cy="1476533"/>
          </a:xfrm>
        </p:spPr>
        <p:txBody>
          <a:bodyPr anchor="ctr">
            <a:normAutofit/>
          </a:bodyPr>
          <a:lstStyle/>
          <a:p>
            <a:pPr>
              <a:lnSpc>
                <a:spcPct val="90000"/>
              </a:lnSpc>
            </a:pPr>
            <a:r>
              <a:rPr lang="en-GB" sz="3300" dirty="0"/>
              <a:t>Distribution of Protein Intensities Across Samples</a:t>
            </a:r>
          </a:p>
        </p:txBody>
      </p:sp>
      <p:pic>
        <p:nvPicPr>
          <p:cNvPr id="5" name="Segnaposto contenuto 4" descr="Immagine che contiene schermata, linea, Diagramma, diagramma&#10;&#10;Il contenuto generato dall'IA potrebbe non essere corretto.">
            <a:extLst>
              <a:ext uri="{FF2B5EF4-FFF2-40B4-BE49-F238E27FC236}">
                <a16:creationId xmlns:a16="http://schemas.microsoft.com/office/drawing/2014/main" id="{E77F7458-6806-D200-4D9C-61331C453AE5}"/>
              </a:ext>
            </a:extLst>
          </p:cNvPr>
          <p:cNvPicPr>
            <a:picLocks noChangeAspect="1"/>
          </p:cNvPicPr>
          <p:nvPr/>
        </p:nvPicPr>
        <p:blipFill>
          <a:blip r:embed="rId2">
            <a:extLst>
              <a:ext uri="{28A0092B-C50C-407E-A947-70E740481C1C}">
                <a14:useLocalDpi xmlns:a14="http://schemas.microsoft.com/office/drawing/2010/main" val="0"/>
              </a:ext>
            </a:extLst>
          </a:blip>
          <a:srcRect r="6525" b="-1"/>
          <a:stretch>
            <a:fillRect/>
          </a:stretch>
        </p:blipFill>
        <p:spPr>
          <a:xfrm>
            <a:off x="-690" y="13"/>
            <a:ext cx="10870017" cy="4651558"/>
          </a:xfrm>
          <a:prstGeom prst="rect">
            <a:avLst/>
          </a:prstGeom>
        </p:spPr>
      </p:pic>
      <p:cxnSp>
        <p:nvCxnSpPr>
          <p:cNvPr id="17"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151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CB72C809-77A3-96E8-12A8-3AAD1CFA9506}"/>
              </a:ext>
            </a:extLst>
          </p:cNvPr>
          <p:cNvSpPr>
            <a:spLocks noGrp="1"/>
          </p:cNvSpPr>
          <p:nvPr>
            <p:ph type="title"/>
          </p:nvPr>
        </p:nvSpPr>
        <p:spPr>
          <a:xfrm>
            <a:off x="660993" y="4895273"/>
            <a:ext cx="3550790" cy="1476533"/>
          </a:xfrm>
        </p:spPr>
        <p:txBody>
          <a:bodyPr anchor="ctr">
            <a:normAutofit/>
          </a:bodyPr>
          <a:lstStyle/>
          <a:p>
            <a:pPr>
              <a:lnSpc>
                <a:spcPct val="90000"/>
              </a:lnSpc>
            </a:pPr>
            <a:r>
              <a:rPr lang="en-GB" sz="2800"/>
              <a:t>Sample Intensity Distribution After Log₂ Transformation</a:t>
            </a:r>
          </a:p>
        </p:txBody>
      </p:sp>
      <p:pic>
        <p:nvPicPr>
          <p:cNvPr id="13" name="Segnaposto contenuto 12">
            <a:extLst>
              <a:ext uri="{FF2B5EF4-FFF2-40B4-BE49-F238E27FC236}">
                <a16:creationId xmlns:a16="http://schemas.microsoft.com/office/drawing/2014/main" id="{F89DB437-382F-D34F-8CD0-1E8E2DC96CA1}"/>
              </a:ext>
            </a:extLst>
          </p:cNvPr>
          <p:cNvPicPr>
            <a:picLocks noChangeAspect="1"/>
          </p:cNvPicPr>
          <p:nvPr/>
        </p:nvPicPr>
        <p:blipFill>
          <a:blip r:embed="rId2">
            <a:extLst>
              <a:ext uri="{28A0092B-C50C-407E-A947-70E740481C1C}">
                <a14:useLocalDpi xmlns:a14="http://schemas.microsoft.com/office/drawing/2010/main" val="0"/>
              </a:ext>
            </a:extLst>
          </a:blip>
          <a:srcRect r="6525" b="-1"/>
          <a:stretch>
            <a:fillRect/>
          </a:stretch>
        </p:blipFill>
        <p:spPr>
          <a:xfrm>
            <a:off x="0" y="10"/>
            <a:ext cx="11229474" cy="4651558"/>
          </a:xfrm>
          <a:prstGeom prst="rect">
            <a:avLst/>
          </a:prstGeom>
        </p:spPr>
      </p:pic>
      <p:cxnSp>
        <p:nvCxnSpPr>
          <p:cNvPr id="22" name="Straight Connector 21">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4" name="Rectangle 1">
            <a:extLst>
              <a:ext uri="{FF2B5EF4-FFF2-40B4-BE49-F238E27FC236}">
                <a16:creationId xmlns:a16="http://schemas.microsoft.com/office/drawing/2014/main" id="{E734FD56-6E2D-D92B-FC88-74933CE77E68}"/>
              </a:ext>
            </a:extLst>
          </p:cNvPr>
          <p:cNvSpPr>
            <a:spLocks noGrp="1" noChangeArrowheads="1"/>
          </p:cNvSpPr>
          <p:nvPr>
            <p:ph idx="1"/>
          </p:nvPr>
        </p:nvSpPr>
        <p:spPr bwMode="auto">
          <a:xfrm>
            <a:off x="4872038" y="5033873"/>
            <a:ext cx="707933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Log₂ transformation applied to protein intensities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Reduction of extreme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  More comparable distributions across samples and stabilized          variance</a:t>
            </a:r>
          </a:p>
        </p:txBody>
      </p:sp>
    </p:spTree>
    <p:extLst>
      <p:ext uri="{BB962C8B-B14F-4D97-AF65-F5344CB8AC3E}">
        <p14:creationId xmlns:p14="http://schemas.microsoft.com/office/powerpoint/2010/main" val="1107691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C3D9D84-A2AC-CACE-BA36-0672C4696801}"/>
              </a:ext>
            </a:extLst>
          </p:cNvPr>
          <p:cNvSpPr>
            <a:spLocks noGrp="1"/>
          </p:cNvSpPr>
          <p:nvPr>
            <p:ph type="title"/>
          </p:nvPr>
        </p:nvSpPr>
        <p:spPr>
          <a:xfrm>
            <a:off x="640080" y="1434438"/>
            <a:ext cx="2983229" cy="2612976"/>
          </a:xfrm>
        </p:spPr>
        <p:txBody>
          <a:bodyPr vert="horz" lIns="91440" tIns="45720" rIns="91440" bIns="45720" rtlCol="0" anchor="t">
            <a:normAutofit/>
          </a:bodyPr>
          <a:lstStyle/>
          <a:p>
            <a:pPr>
              <a:lnSpc>
                <a:spcPct val="90000"/>
              </a:lnSpc>
            </a:pPr>
            <a:r>
              <a:rPr lang="en-US" sz="3400"/>
              <a:t>PCA of Protein Expression by Laboratory</a:t>
            </a:r>
          </a:p>
        </p:txBody>
      </p:sp>
      <p:pic>
        <p:nvPicPr>
          <p:cNvPr id="5" name="Segnaposto contenuto 4">
            <a:extLst>
              <a:ext uri="{FF2B5EF4-FFF2-40B4-BE49-F238E27FC236}">
                <a16:creationId xmlns:a16="http://schemas.microsoft.com/office/drawing/2014/main" id="{FB91E29A-2071-C861-D1EC-46B862A09E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62406" y="990201"/>
            <a:ext cx="6424036" cy="4818027"/>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CasellaDiTesto 5">
            <a:extLst>
              <a:ext uri="{FF2B5EF4-FFF2-40B4-BE49-F238E27FC236}">
                <a16:creationId xmlns:a16="http://schemas.microsoft.com/office/drawing/2014/main" id="{0F482E9C-0598-E999-F35D-0B4D7D15A373}"/>
              </a:ext>
            </a:extLst>
          </p:cNvPr>
          <p:cNvSpPr txBox="1"/>
          <p:nvPr/>
        </p:nvSpPr>
        <p:spPr>
          <a:xfrm>
            <a:off x="713232" y="3429000"/>
            <a:ext cx="3281252" cy="1754326"/>
          </a:xfrm>
          <a:prstGeom prst="rect">
            <a:avLst/>
          </a:prstGeom>
          <a:noFill/>
        </p:spPr>
        <p:txBody>
          <a:bodyPr wrap="square" rtlCol="0">
            <a:spAutoFit/>
          </a:bodyPr>
          <a:lstStyle/>
          <a:p>
            <a:r>
              <a:rPr lang="en-GB" dirty="0"/>
              <a:t>PCA was applied to explore the structure of the dataset, revealing that samples cluster according to their laboratory of origin, suggesting a potential batch effect.</a:t>
            </a:r>
          </a:p>
        </p:txBody>
      </p:sp>
    </p:spTree>
    <p:extLst>
      <p:ext uri="{BB962C8B-B14F-4D97-AF65-F5344CB8AC3E}">
        <p14:creationId xmlns:p14="http://schemas.microsoft.com/office/powerpoint/2010/main" val="1229156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E79116B-43D3-513D-9F52-CF722A3BDAD4}"/>
              </a:ext>
            </a:extLst>
          </p:cNvPr>
          <p:cNvSpPr>
            <a:spLocks noGrp="1"/>
          </p:cNvSpPr>
          <p:nvPr>
            <p:ph type="title"/>
          </p:nvPr>
        </p:nvSpPr>
        <p:spPr>
          <a:xfrm>
            <a:off x="640079" y="914399"/>
            <a:ext cx="4261104" cy="1471581"/>
          </a:xfrm>
        </p:spPr>
        <p:txBody>
          <a:bodyPr vert="horz" lIns="91440" tIns="45720" rIns="91440" bIns="45720" rtlCol="0" anchor="t">
            <a:noAutofit/>
          </a:bodyPr>
          <a:lstStyle/>
          <a:p>
            <a:pPr>
              <a:lnSpc>
                <a:spcPct val="90000"/>
              </a:lnSpc>
            </a:pPr>
            <a:r>
              <a:rPr lang="en-US" sz="3200" dirty="0"/>
              <a:t>Protein Intensity Distribution by Laboratory</a:t>
            </a:r>
          </a:p>
        </p:txBody>
      </p:sp>
      <p:sp>
        <p:nvSpPr>
          <p:cNvPr id="6" name="CasellaDiTesto 5">
            <a:extLst>
              <a:ext uri="{FF2B5EF4-FFF2-40B4-BE49-F238E27FC236}">
                <a16:creationId xmlns:a16="http://schemas.microsoft.com/office/drawing/2014/main" id="{6F224CBC-484F-B939-CB0C-D0ABFCEF200C}"/>
              </a:ext>
            </a:extLst>
          </p:cNvPr>
          <p:cNvSpPr txBox="1"/>
          <p:nvPr/>
        </p:nvSpPr>
        <p:spPr>
          <a:xfrm>
            <a:off x="640079" y="2561047"/>
            <a:ext cx="4261104" cy="4121887"/>
          </a:xfrm>
          <a:prstGeom prst="rect">
            <a:avLst/>
          </a:prstGeom>
        </p:spPr>
        <p:txBody>
          <a:bodyPr vert="horz" lIns="91440" tIns="45720" rIns="91440" bIns="45720" rtlCol="0">
            <a:normAutofit/>
          </a:bodyPr>
          <a:lstStyle/>
          <a:p>
            <a:pPr marL="285750" indent="-285750">
              <a:lnSpc>
                <a:spcPct val="120000"/>
              </a:lnSpc>
              <a:spcAft>
                <a:spcPts val="600"/>
              </a:spcAft>
              <a:buSzPct val="87000"/>
              <a:buFont typeface="Arial" panose="020B0604020202020204" pitchFamily="34" charset="0"/>
              <a:buChar char="•"/>
            </a:pPr>
            <a:r>
              <a:rPr lang="en-US" dirty="0"/>
              <a:t>Protein intensity distributions are similar between Lisbon and Coimbra</a:t>
            </a:r>
          </a:p>
          <a:p>
            <a:pPr marL="285750" indent="-285750">
              <a:lnSpc>
                <a:spcPct val="120000"/>
              </a:lnSpc>
              <a:spcAft>
                <a:spcPts val="600"/>
              </a:spcAft>
              <a:buSzPct val="87000"/>
              <a:buFont typeface="Arial" panose="020B0604020202020204" pitchFamily="34" charset="0"/>
              <a:buChar char="•"/>
            </a:pPr>
            <a:r>
              <a:rPr lang="en-US" dirty="0"/>
              <a:t>Median and variability are comparable across laboratories</a:t>
            </a:r>
          </a:p>
        </p:txBody>
      </p:sp>
      <p:pic>
        <p:nvPicPr>
          <p:cNvPr id="5" name="Segnaposto contenuto 4">
            <a:extLst>
              <a:ext uri="{FF2B5EF4-FFF2-40B4-BE49-F238E27FC236}">
                <a16:creationId xmlns:a16="http://schemas.microsoft.com/office/drawing/2014/main" id="{F5C5AE1B-274C-E2D5-C731-E5A9F2B3370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447" r="7198"/>
          <a:stretch>
            <a:fillRect/>
          </a:stretch>
        </p:blipFill>
        <p:spPr>
          <a:xfrm>
            <a:off x="5541262" y="914400"/>
            <a:ext cx="6520872" cy="5353521"/>
          </a:xfrm>
          <a:prstGeom prst="rect">
            <a:avLst/>
          </a:prstGeom>
        </p:spPr>
      </p:pic>
      <p:cxnSp>
        <p:nvCxnSpPr>
          <p:cNvPr id="13" name="Straight Connector 12">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378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41E9F08-158D-99B8-DBBA-6B812D873F7D}"/>
              </a:ext>
            </a:extLst>
          </p:cNvPr>
          <p:cNvSpPr>
            <a:spLocks noGrp="1"/>
          </p:cNvSpPr>
          <p:nvPr>
            <p:ph type="title"/>
          </p:nvPr>
        </p:nvSpPr>
        <p:spPr>
          <a:xfrm>
            <a:off x="640080" y="1371600"/>
            <a:ext cx="5737859" cy="1097280"/>
          </a:xfrm>
        </p:spPr>
        <p:txBody>
          <a:bodyPr>
            <a:normAutofit/>
          </a:bodyPr>
          <a:lstStyle/>
          <a:p>
            <a:pPr>
              <a:lnSpc>
                <a:spcPct val="90000"/>
              </a:lnSpc>
            </a:pPr>
            <a:r>
              <a:rPr lang="en-GB" sz="3400"/>
              <a:t>Batch Effect or Biological Variability?</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6DD0D8CC-E530-28C6-935E-4499BEC4E8A8}"/>
              </a:ext>
            </a:extLst>
          </p:cNvPr>
          <p:cNvSpPr>
            <a:spLocks noGrp="1"/>
          </p:cNvSpPr>
          <p:nvPr>
            <p:ph idx="1"/>
          </p:nvPr>
        </p:nvSpPr>
        <p:spPr>
          <a:xfrm>
            <a:off x="640080" y="2633236"/>
            <a:ext cx="5737860" cy="3666980"/>
          </a:xfrm>
        </p:spPr>
        <p:txBody>
          <a:bodyPr>
            <a:normAutofit/>
          </a:bodyPr>
          <a:lstStyle/>
          <a:p>
            <a:pPr marL="0" indent="0">
              <a:buNone/>
            </a:pPr>
            <a:r>
              <a:rPr lang="en-GB" b="1" dirty="0"/>
              <a:t>Observations:</a:t>
            </a:r>
          </a:p>
          <a:p>
            <a:r>
              <a:rPr lang="en-GB" b="1" dirty="0"/>
              <a:t>PCA shows a separation of samples according to the laboratory of origin</a:t>
            </a:r>
          </a:p>
          <a:p>
            <a:r>
              <a:rPr lang="en-GB" b="1" dirty="0"/>
              <a:t>However, the protein intensity distributions across laboratories are very similar</a:t>
            </a:r>
          </a:p>
          <a:p>
            <a:endParaRPr lang="en-GB" b="1" dirty="0"/>
          </a:p>
          <a:p>
            <a:pPr marL="0" indent="0">
              <a:buNone/>
            </a:pPr>
            <a:endParaRPr lang="en-GB" dirty="0"/>
          </a:p>
        </p:txBody>
      </p:sp>
      <p:pic>
        <p:nvPicPr>
          <p:cNvPr id="7" name="Graphic 6" descr="Microscopio">
            <a:extLst>
              <a:ext uri="{FF2B5EF4-FFF2-40B4-BE49-F238E27FC236}">
                <a16:creationId xmlns:a16="http://schemas.microsoft.com/office/drawing/2014/main" id="{62231A83-90B5-EBA9-95C1-821E6D897F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2292865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0" name="Rectangle 15">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2F662C6-26BF-5130-4E91-461F7DF2FD55}"/>
              </a:ext>
            </a:extLst>
          </p:cNvPr>
          <p:cNvSpPr>
            <a:spLocks noGrp="1"/>
          </p:cNvSpPr>
          <p:nvPr>
            <p:ph type="title"/>
          </p:nvPr>
        </p:nvSpPr>
        <p:spPr>
          <a:xfrm>
            <a:off x="1184520" y="914400"/>
            <a:ext cx="10020496" cy="1117703"/>
          </a:xfrm>
        </p:spPr>
        <p:txBody>
          <a:bodyPr vert="horz" lIns="91440" tIns="45720" rIns="91440" bIns="45720" rtlCol="0" anchor="b">
            <a:normAutofit/>
          </a:bodyPr>
          <a:lstStyle/>
          <a:p>
            <a:pPr algn="ctr">
              <a:lnSpc>
                <a:spcPct val="90000"/>
              </a:lnSpc>
            </a:pPr>
            <a:r>
              <a:rPr lang="en-US" sz="3400"/>
              <a:t>Differential Protein Expression: MCI-AD vs MCI-CT</a:t>
            </a:r>
          </a:p>
        </p:txBody>
      </p:sp>
      <p:cxnSp>
        <p:nvCxnSpPr>
          <p:cNvPr id="18" name="Straight Connector 17">
            <a:extLst>
              <a:ext uri="{FF2B5EF4-FFF2-40B4-BE49-F238E27FC236}">
                <a16:creationId xmlns:a16="http://schemas.microsoft.com/office/drawing/2014/main" id="{8CED01B4-40F2-4CAE-8062-1D4CE8454C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32706" y="231116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Immagine 6">
            <a:extLst>
              <a:ext uri="{FF2B5EF4-FFF2-40B4-BE49-F238E27FC236}">
                <a16:creationId xmlns:a16="http://schemas.microsoft.com/office/drawing/2014/main" id="{ECCC0B17-52A9-5EDE-D4C9-A211E1C5F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542" y="3063104"/>
            <a:ext cx="3920659" cy="3136528"/>
          </a:xfrm>
          <a:prstGeom prst="rect">
            <a:avLst/>
          </a:prstGeom>
        </p:spPr>
      </p:pic>
      <p:pic>
        <p:nvPicPr>
          <p:cNvPr id="5" name="Segnaposto contenuto 4">
            <a:extLst>
              <a:ext uri="{FF2B5EF4-FFF2-40B4-BE49-F238E27FC236}">
                <a16:creationId xmlns:a16="http://schemas.microsoft.com/office/drawing/2014/main" id="{C50FCF57-E487-3ACF-26D3-2A2E030826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61807" y="3063104"/>
            <a:ext cx="3920659" cy="3136528"/>
          </a:xfrm>
          <a:prstGeom prst="rect">
            <a:avLst/>
          </a:prstGeom>
        </p:spPr>
      </p:pic>
      <p:pic>
        <p:nvPicPr>
          <p:cNvPr id="9" name="Immagine 8">
            <a:extLst>
              <a:ext uri="{FF2B5EF4-FFF2-40B4-BE49-F238E27FC236}">
                <a16:creationId xmlns:a16="http://schemas.microsoft.com/office/drawing/2014/main" id="{957391CE-9AC8-9032-6000-602ED32B31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3282" y="3063104"/>
            <a:ext cx="3920659" cy="3136528"/>
          </a:xfrm>
          <a:prstGeom prst="rect">
            <a:avLst/>
          </a:prstGeom>
        </p:spPr>
      </p:pic>
      <p:sp>
        <p:nvSpPr>
          <p:cNvPr id="10" name="CasellaDiTesto 9">
            <a:extLst>
              <a:ext uri="{FF2B5EF4-FFF2-40B4-BE49-F238E27FC236}">
                <a16:creationId xmlns:a16="http://schemas.microsoft.com/office/drawing/2014/main" id="{50373080-42D5-BA6E-7098-244EE74DBDF2}"/>
              </a:ext>
            </a:extLst>
          </p:cNvPr>
          <p:cNvSpPr txBox="1"/>
          <p:nvPr/>
        </p:nvSpPr>
        <p:spPr>
          <a:xfrm>
            <a:off x="4423290" y="2929523"/>
            <a:ext cx="3199408" cy="369332"/>
          </a:xfrm>
          <a:prstGeom prst="rect">
            <a:avLst/>
          </a:prstGeom>
          <a:noFill/>
        </p:spPr>
        <p:txBody>
          <a:bodyPr wrap="square" rtlCol="0">
            <a:spAutoFit/>
          </a:bodyPr>
          <a:lstStyle/>
          <a:p>
            <a:pPr algn="ctr"/>
            <a:r>
              <a:rPr lang="it-IT" dirty="0"/>
              <a:t>LISBON-COIMBRA</a:t>
            </a:r>
          </a:p>
        </p:txBody>
      </p:sp>
      <p:sp>
        <p:nvSpPr>
          <p:cNvPr id="11" name="CasellaDiTesto 10">
            <a:extLst>
              <a:ext uri="{FF2B5EF4-FFF2-40B4-BE49-F238E27FC236}">
                <a16:creationId xmlns:a16="http://schemas.microsoft.com/office/drawing/2014/main" id="{D212C336-A894-213D-9CA8-C534FE5DF3BC}"/>
              </a:ext>
            </a:extLst>
          </p:cNvPr>
          <p:cNvSpPr txBox="1"/>
          <p:nvPr/>
        </p:nvSpPr>
        <p:spPr>
          <a:xfrm>
            <a:off x="8279695" y="2929523"/>
            <a:ext cx="3067016" cy="369332"/>
          </a:xfrm>
          <a:prstGeom prst="rect">
            <a:avLst/>
          </a:prstGeom>
          <a:noFill/>
        </p:spPr>
        <p:txBody>
          <a:bodyPr wrap="square" rtlCol="0">
            <a:spAutoFit/>
          </a:bodyPr>
          <a:lstStyle/>
          <a:p>
            <a:pPr algn="ctr"/>
            <a:r>
              <a:rPr lang="it-IT" dirty="0"/>
              <a:t>COIMBRA</a:t>
            </a:r>
            <a:endParaRPr lang="en-GB" dirty="0"/>
          </a:p>
        </p:txBody>
      </p:sp>
      <p:sp>
        <p:nvSpPr>
          <p:cNvPr id="12" name="CasellaDiTesto 11">
            <a:extLst>
              <a:ext uri="{FF2B5EF4-FFF2-40B4-BE49-F238E27FC236}">
                <a16:creationId xmlns:a16="http://schemas.microsoft.com/office/drawing/2014/main" id="{8B969BB3-E87E-DCA2-787D-D20607C95E20}"/>
              </a:ext>
            </a:extLst>
          </p:cNvPr>
          <p:cNvSpPr txBox="1"/>
          <p:nvPr/>
        </p:nvSpPr>
        <p:spPr>
          <a:xfrm>
            <a:off x="687024" y="2929523"/>
            <a:ext cx="3197694" cy="369332"/>
          </a:xfrm>
          <a:prstGeom prst="rect">
            <a:avLst/>
          </a:prstGeom>
          <a:noFill/>
        </p:spPr>
        <p:txBody>
          <a:bodyPr wrap="square" rtlCol="0">
            <a:spAutoFit/>
          </a:bodyPr>
          <a:lstStyle/>
          <a:p>
            <a:pPr algn="ctr"/>
            <a:r>
              <a:rPr lang="it-IT" dirty="0"/>
              <a:t>LISBON</a:t>
            </a:r>
            <a:endParaRPr lang="en-GB" dirty="0"/>
          </a:p>
        </p:txBody>
      </p:sp>
    </p:spTree>
    <p:extLst>
      <p:ext uri="{BB962C8B-B14F-4D97-AF65-F5344CB8AC3E}">
        <p14:creationId xmlns:p14="http://schemas.microsoft.com/office/powerpoint/2010/main" val="3533111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F8171AB-092C-27DA-482A-C315756A3A2E}"/>
              </a:ext>
            </a:extLst>
          </p:cNvPr>
          <p:cNvSpPr>
            <a:spLocks noGrp="1"/>
          </p:cNvSpPr>
          <p:nvPr>
            <p:ph type="title"/>
          </p:nvPr>
        </p:nvSpPr>
        <p:spPr>
          <a:xfrm>
            <a:off x="640080" y="1371600"/>
            <a:ext cx="6257109" cy="1097280"/>
          </a:xfrm>
        </p:spPr>
        <p:txBody>
          <a:bodyPr vert="horz" lIns="91440" tIns="45720" rIns="91440" bIns="45720" rtlCol="0" anchor="t">
            <a:normAutofit/>
          </a:bodyPr>
          <a:lstStyle/>
          <a:p>
            <a:pPr>
              <a:lnSpc>
                <a:spcPct val="90000"/>
              </a:lnSpc>
            </a:pPr>
            <a:r>
              <a:rPr lang="en-US" sz="2800"/>
              <a:t>Age-Associated Protein Expression</a:t>
            </a:r>
            <a:br>
              <a:rPr lang="en-US" sz="2800"/>
            </a:br>
            <a:endParaRPr lang="en-US" sz="2800"/>
          </a:p>
        </p:txBody>
      </p:sp>
      <p:cxnSp>
        <p:nvCxnSpPr>
          <p:cNvPr id="62" name="Straight Connector 61">
            <a:extLst>
              <a:ext uri="{FF2B5EF4-FFF2-40B4-BE49-F238E27FC236}">
                <a16:creationId xmlns:a16="http://schemas.microsoft.com/office/drawing/2014/main" id="{E16CB74F-F3CC-4B0B-B50E-878BEDB2CF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5" name="Immagine 54">
            <a:extLst>
              <a:ext uri="{FF2B5EF4-FFF2-40B4-BE49-F238E27FC236}">
                <a16:creationId xmlns:a16="http://schemas.microsoft.com/office/drawing/2014/main" id="{17220BB6-03E8-DBF4-F83B-834D7DB192AB}"/>
              </a:ext>
            </a:extLst>
          </p:cNvPr>
          <p:cNvPicPr>
            <a:picLocks noChangeAspect="1"/>
          </p:cNvPicPr>
          <p:nvPr/>
        </p:nvPicPr>
        <p:blipFill>
          <a:blip r:embed="rId2">
            <a:extLst>
              <a:ext uri="{28A0092B-C50C-407E-A947-70E740481C1C}">
                <a14:useLocalDpi xmlns:a14="http://schemas.microsoft.com/office/drawing/2010/main" val="0"/>
              </a:ext>
            </a:extLst>
          </a:blip>
          <a:srcRect l="5283" r="854" b="-1"/>
          <a:stretch>
            <a:fillRect/>
          </a:stretch>
        </p:blipFill>
        <p:spPr>
          <a:xfrm>
            <a:off x="6897189" y="1"/>
            <a:ext cx="5294811" cy="2334025"/>
          </a:xfrm>
          <a:prstGeom prst="rect">
            <a:avLst/>
          </a:prstGeom>
        </p:spPr>
      </p:pic>
      <p:sp>
        <p:nvSpPr>
          <p:cNvPr id="44" name="CasellaDiTesto 43">
            <a:extLst>
              <a:ext uri="{FF2B5EF4-FFF2-40B4-BE49-F238E27FC236}">
                <a16:creationId xmlns:a16="http://schemas.microsoft.com/office/drawing/2014/main" id="{1683398E-9AE2-C411-0532-C3517DE78DF1}"/>
              </a:ext>
            </a:extLst>
          </p:cNvPr>
          <p:cNvSpPr txBox="1"/>
          <p:nvPr/>
        </p:nvSpPr>
        <p:spPr>
          <a:xfrm>
            <a:off x="640080" y="2636205"/>
            <a:ext cx="6257109" cy="3661712"/>
          </a:xfrm>
          <a:prstGeom prst="rect">
            <a:avLst/>
          </a:prstGeom>
        </p:spPr>
        <p:txBody>
          <a:bodyPr vert="horz" lIns="91440" tIns="45720" rIns="91440" bIns="45720" rtlCol="0">
            <a:normAutofit/>
          </a:bodyPr>
          <a:lstStyle/>
          <a:p>
            <a:pPr>
              <a:lnSpc>
                <a:spcPct val="110000"/>
              </a:lnSpc>
              <a:spcAft>
                <a:spcPts val="600"/>
              </a:spcAft>
              <a:buSzPct val="87000"/>
              <a:buFont typeface="Arial" panose="020B0604020202020204" pitchFamily="34" charset="0"/>
              <a:buChar char="•"/>
            </a:pPr>
            <a:r>
              <a:rPr lang="en-US" sz="900" dirty="0"/>
              <a:t>These proteins appear in two or more datasets, suggesting consistent differential expression across the analyses:</a:t>
            </a:r>
          </a:p>
          <a:p>
            <a:pPr>
              <a:lnSpc>
                <a:spcPct val="110000"/>
              </a:lnSpc>
              <a:spcAft>
                <a:spcPts val="600"/>
              </a:spcAft>
              <a:buSzPct val="87000"/>
              <a:buFont typeface="Arial" panose="020B0604020202020204" pitchFamily="34" charset="0"/>
              <a:buChar char="•"/>
            </a:pPr>
            <a:r>
              <a:rPr lang="en-US" sz="900" dirty="0"/>
              <a:t>P05060</a:t>
            </a:r>
          </a:p>
          <a:p>
            <a:pPr>
              <a:lnSpc>
                <a:spcPct val="110000"/>
              </a:lnSpc>
              <a:spcAft>
                <a:spcPts val="600"/>
              </a:spcAft>
              <a:buSzPct val="87000"/>
              <a:buFont typeface="Arial" panose="020B0604020202020204" pitchFamily="34" charset="0"/>
              <a:buChar char="•"/>
            </a:pPr>
            <a:r>
              <a:rPr lang="en-US" sz="900" dirty="0"/>
              <a:t>P20774</a:t>
            </a:r>
          </a:p>
          <a:p>
            <a:pPr>
              <a:lnSpc>
                <a:spcPct val="110000"/>
              </a:lnSpc>
              <a:spcAft>
                <a:spcPts val="600"/>
              </a:spcAft>
              <a:buSzPct val="87000"/>
              <a:buFont typeface="Arial" panose="020B0604020202020204" pitchFamily="34" charset="0"/>
              <a:buChar char="•"/>
            </a:pPr>
            <a:r>
              <a:rPr lang="en-US" sz="900" dirty="0"/>
              <a:t>Q16270</a:t>
            </a:r>
          </a:p>
          <a:p>
            <a:pPr>
              <a:lnSpc>
                <a:spcPct val="110000"/>
              </a:lnSpc>
              <a:spcAft>
                <a:spcPts val="600"/>
              </a:spcAft>
              <a:buSzPct val="87000"/>
              <a:buFont typeface="Arial" panose="020B0604020202020204" pitchFamily="34" charset="0"/>
              <a:buChar char="•"/>
            </a:pPr>
            <a:r>
              <a:rPr lang="en-US" sz="900" dirty="0"/>
              <a:t>P18065</a:t>
            </a:r>
          </a:p>
          <a:p>
            <a:pPr>
              <a:lnSpc>
                <a:spcPct val="110000"/>
              </a:lnSpc>
              <a:spcAft>
                <a:spcPts val="600"/>
              </a:spcAft>
              <a:buSzPct val="87000"/>
              <a:buFont typeface="Arial" panose="020B0604020202020204" pitchFamily="34" charset="0"/>
              <a:buChar char="•"/>
            </a:pPr>
            <a:r>
              <a:rPr lang="en-US" sz="900" dirty="0"/>
              <a:t>Q9P121</a:t>
            </a:r>
          </a:p>
          <a:p>
            <a:pPr>
              <a:lnSpc>
                <a:spcPct val="110000"/>
              </a:lnSpc>
              <a:spcAft>
                <a:spcPts val="600"/>
              </a:spcAft>
              <a:buSzPct val="87000"/>
              <a:buFont typeface="Arial" panose="020B0604020202020204" pitchFamily="34" charset="0"/>
              <a:buChar char="•"/>
            </a:pPr>
            <a:r>
              <a:rPr lang="en-US" sz="900" dirty="0"/>
              <a:t>P06396</a:t>
            </a:r>
          </a:p>
          <a:p>
            <a:pPr>
              <a:lnSpc>
                <a:spcPct val="110000"/>
              </a:lnSpc>
              <a:spcAft>
                <a:spcPts val="600"/>
              </a:spcAft>
              <a:buSzPct val="87000"/>
              <a:buFont typeface="Arial" panose="020B0604020202020204" pitchFamily="34" charset="0"/>
              <a:buChar char="•"/>
            </a:pPr>
            <a:r>
              <a:rPr lang="en-US" sz="900" dirty="0"/>
              <a:t>P09871</a:t>
            </a:r>
          </a:p>
          <a:p>
            <a:pPr>
              <a:lnSpc>
                <a:spcPct val="110000"/>
              </a:lnSpc>
              <a:spcAft>
                <a:spcPts val="600"/>
              </a:spcAft>
              <a:buSzPct val="87000"/>
              <a:buFont typeface="Arial" panose="020B0604020202020204" pitchFamily="34" charset="0"/>
              <a:buChar char="•"/>
            </a:pPr>
            <a:r>
              <a:rPr lang="en-US" sz="900" dirty="0"/>
              <a:t>P08253</a:t>
            </a:r>
          </a:p>
          <a:p>
            <a:pPr>
              <a:lnSpc>
                <a:spcPct val="110000"/>
              </a:lnSpc>
              <a:spcAft>
                <a:spcPts val="600"/>
              </a:spcAft>
              <a:buSzPct val="87000"/>
              <a:buFont typeface="Arial" panose="020B0604020202020204" pitchFamily="34" charset="0"/>
              <a:buChar char="•"/>
            </a:pPr>
            <a:r>
              <a:rPr lang="en-US" sz="900" dirty="0"/>
              <a:t>Q13228</a:t>
            </a:r>
          </a:p>
          <a:p>
            <a:pPr>
              <a:lnSpc>
                <a:spcPct val="110000"/>
              </a:lnSpc>
              <a:spcAft>
                <a:spcPts val="600"/>
              </a:spcAft>
              <a:buSzPct val="87000"/>
              <a:buFont typeface="Arial" panose="020B0604020202020204" pitchFamily="34" charset="0"/>
              <a:buChar char="•"/>
            </a:pPr>
            <a:r>
              <a:rPr lang="en-US" sz="900" dirty="0"/>
              <a:t>P02747</a:t>
            </a:r>
          </a:p>
          <a:p>
            <a:pPr>
              <a:lnSpc>
                <a:spcPct val="110000"/>
              </a:lnSpc>
              <a:spcAft>
                <a:spcPts val="600"/>
              </a:spcAft>
              <a:buSzPct val="87000"/>
              <a:buFont typeface="Arial" panose="020B0604020202020204" pitchFamily="34" charset="0"/>
              <a:buChar char="•"/>
            </a:pPr>
            <a:r>
              <a:rPr lang="en-US" sz="900" dirty="0"/>
              <a:t>P08571</a:t>
            </a:r>
          </a:p>
          <a:p>
            <a:pPr>
              <a:lnSpc>
                <a:spcPct val="110000"/>
              </a:lnSpc>
              <a:spcAft>
                <a:spcPts val="600"/>
              </a:spcAft>
              <a:buSzPct val="87000"/>
              <a:buFont typeface="Arial" panose="020B0604020202020204" pitchFamily="34" charset="0"/>
              <a:buChar char="•"/>
            </a:pPr>
            <a:r>
              <a:rPr lang="en-US" sz="900" dirty="0"/>
              <a:t>P36222</a:t>
            </a:r>
          </a:p>
          <a:p>
            <a:pPr>
              <a:lnSpc>
                <a:spcPct val="110000"/>
              </a:lnSpc>
              <a:spcAft>
                <a:spcPts val="600"/>
              </a:spcAft>
              <a:buSzPct val="87000"/>
              <a:buFont typeface="Arial" panose="020B0604020202020204" pitchFamily="34" charset="0"/>
              <a:buChar char="•"/>
            </a:pPr>
            <a:r>
              <a:rPr lang="en-US" sz="900" dirty="0"/>
              <a:t>P10643</a:t>
            </a:r>
          </a:p>
          <a:p>
            <a:pPr>
              <a:lnSpc>
                <a:spcPct val="110000"/>
              </a:lnSpc>
              <a:spcAft>
                <a:spcPts val="600"/>
              </a:spcAft>
              <a:buSzPct val="87000"/>
              <a:buFont typeface="Arial" panose="020B0604020202020204" pitchFamily="34" charset="0"/>
              <a:buChar char="•"/>
            </a:pPr>
            <a:r>
              <a:rPr lang="en-US" sz="900" dirty="0"/>
              <a:t>P04180</a:t>
            </a:r>
          </a:p>
        </p:txBody>
      </p:sp>
      <p:pic>
        <p:nvPicPr>
          <p:cNvPr id="50" name="Segnaposto contenuto 49">
            <a:extLst>
              <a:ext uri="{FF2B5EF4-FFF2-40B4-BE49-F238E27FC236}">
                <a16:creationId xmlns:a16="http://schemas.microsoft.com/office/drawing/2014/main" id="{EF658BA2-A4FE-FEB7-9DE8-43B979AA4DA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942" r="2195" b="-1"/>
          <a:stretch>
            <a:fillRect/>
          </a:stretch>
        </p:blipFill>
        <p:spPr>
          <a:xfrm>
            <a:off x="6897189" y="2334025"/>
            <a:ext cx="5294811" cy="2334025"/>
          </a:xfrm>
          <a:prstGeom prst="rect">
            <a:avLst/>
          </a:prstGeom>
        </p:spPr>
      </p:pic>
      <p:pic>
        <p:nvPicPr>
          <p:cNvPr id="53" name="Immagine 52">
            <a:extLst>
              <a:ext uri="{FF2B5EF4-FFF2-40B4-BE49-F238E27FC236}">
                <a16:creationId xmlns:a16="http://schemas.microsoft.com/office/drawing/2014/main" id="{6E0A073A-6889-4B3D-5E14-6906BBFE818C}"/>
              </a:ext>
            </a:extLst>
          </p:cNvPr>
          <p:cNvPicPr>
            <a:picLocks noChangeAspect="1"/>
          </p:cNvPicPr>
          <p:nvPr/>
        </p:nvPicPr>
        <p:blipFill>
          <a:blip r:embed="rId4">
            <a:extLst>
              <a:ext uri="{28A0092B-C50C-407E-A947-70E740481C1C}">
                <a14:useLocalDpi xmlns:a14="http://schemas.microsoft.com/office/drawing/2010/main" val="0"/>
              </a:ext>
            </a:extLst>
          </a:blip>
          <a:srcRect r="2" b="39"/>
          <a:stretch>
            <a:fillRect/>
          </a:stretch>
        </p:blipFill>
        <p:spPr>
          <a:xfrm>
            <a:off x="6897189" y="4668051"/>
            <a:ext cx="5294811" cy="2189949"/>
          </a:xfrm>
          <a:prstGeom prst="rect">
            <a:avLst/>
          </a:prstGeom>
        </p:spPr>
      </p:pic>
    </p:spTree>
    <p:extLst>
      <p:ext uri="{BB962C8B-B14F-4D97-AF65-F5344CB8AC3E}">
        <p14:creationId xmlns:p14="http://schemas.microsoft.com/office/powerpoint/2010/main" val="4094592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32" name="Rectangle 3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4802BA3-7086-3DBB-30B6-92B1B330FDB1}"/>
              </a:ext>
            </a:extLst>
          </p:cNvPr>
          <p:cNvSpPr>
            <a:spLocks noGrp="1"/>
          </p:cNvSpPr>
          <p:nvPr>
            <p:ph type="title"/>
          </p:nvPr>
        </p:nvSpPr>
        <p:spPr>
          <a:xfrm>
            <a:off x="1184520" y="914400"/>
            <a:ext cx="10020496" cy="1117703"/>
          </a:xfrm>
        </p:spPr>
        <p:txBody>
          <a:bodyPr vert="horz" lIns="91440" tIns="45720" rIns="91440" bIns="45720" rtlCol="0" anchor="b">
            <a:normAutofit/>
          </a:bodyPr>
          <a:lstStyle/>
          <a:p>
            <a:pPr algn="ctr">
              <a:lnSpc>
                <a:spcPct val="90000"/>
              </a:lnSpc>
            </a:pPr>
            <a:r>
              <a:rPr lang="en-US" sz="4600"/>
              <a:t>Protein Intensity Distribution by Sex</a:t>
            </a:r>
          </a:p>
        </p:txBody>
      </p:sp>
      <p:cxnSp>
        <p:nvCxnSpPr>
          <p:cNvPr id="34" name="Straight Connector 33">
            <a:extLst>
              <a:ext uri="{FF2B5EF4-FFF2-40B4-BE49-F238E27FC236}">
                <a16:creationId xmlns:a16="http://schemas.microsoft.com/office/drawing/2014/main" id="{8CED01B4-40F2-4CAE-8062-1D4CE8454C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32706" y="231116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3" name="Immagine 22">
            <a:extLst>
              <a:ext uri="{FF2B5EF4-FFF2-40B4-BE49-F238E27FC236}">
                <a16:creationId xmlns:a16="http://schemas.microsoft.com/office/drawing/2014/main" id="{3988CDB0-49EE-5EB5-8FF2-C7E63F9BE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914" y="2598822"/>
            <a:ext cx="3447288" cy="3600810"/>
          </a:xfrm>
          <a:prstGeom prst="rect">
            <a:avLst/>
          </a:prstGeom>
        </p:spPr>
      </p:pic>
      <p:pic>
        <p:nvPicPr>
          <p:cNvPr id="25" name="Immagine 24">
            <a:extLst>
              <a:ext uri="{FF2B5EF4-FFF2-40B4-BE49-F238E27FC236}">
                <a16:creationId xmlns:a16="http://schemas.microsoft.com/office/drawing/2014/main" id="{09D2908C-3F5F-2B11-119E-6C412661F3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1234" y="2598822"/>
            <a:ext cx="3447288" cy="3600810"/>
          </a:xfrm>
          <a:prstGeom prst="rect">
            <a:avLst/>
          </a:prstGeom>
        </p:spPr>
      </p:pic>
      <p:pic>
        <p:nvPicPr>
          <p:cNvPr id="15" name="Segnaposto contenuto 14">
            <a:extLst>
              <a:ext uri="{FF2B5EF4-FFF2-40B4-BE49-F238E27FC236}">
                <a16:creationId xmlns:a16="http://schemas.microsoft.com/office/drawing/2014/main" id="{8764926D-4587-C7F7-E5CD-08954786F6C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143554" y="2598822"/>
            <a:ext cx="3447288" cy="3600810"/>
          </a:xfrm>
          <a:prstGeom prst="rect">
            <a:avLst/>
          </a:prstGeom>
        </p:spPr>
      </p:pic>
    </p:spTree>
    <p:extLst>
      <p:ext uri="{BB962C8B-B14F-4D97-AF65-F5344CB8AC3E}">
        <p14:creationId xmlns:p14="http://schemas.microsoft.com/office/powerpoint/2010/main" val="3460860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4E808180-DBF0-A604-DE25-EB452864C2B1}"/>
              </a:ext>
            </a:extLst>
          </p:cNvPr>
          <p:cNvSpPr>
            <a:spLocks noGrp="1"/>
          </p:cNvSpPr>
          <p:nvPr>
            <p:ph type="title"/>
          </p:nvPr>
        </p:nvSpPr>
        <p:spPr>
          <a:xfrm>
            <a:off x="660993" y="4895273"/>
            <a:ext cx="3550790" cy="1476533"/>
          </a:xfrm>
        </p:spPr>
        <p:txBody>
          <a:bodyPr anchor="ctr">
            <a:normAutofit/>
          </a:bodyPr>
          <a:lstStyle/>
          <a:p>
            <a:pPr>
              <a:lnSpc>
                <a:spcPct val="90000"/>
              </a:lnSpc>
            </a:pPr>
            <a:r>
              <a:rPr lang="en-GB" sz="3300"/>
              <a:t>Z-score Normalization of Protein Intensities</a:t>
            </a:r>
          </a:p>
        </p:txBody>
      </p:sp>
      <p:pic>
        <p:nvPicPr>
          <p:cNvPr id="6" name="Immagine 5">
            <a:extLst>
              <a:ext uri="{FF2B5EF4-FFF2-40B4-BE49-F238E27FC236}">
                <a16:creationId xmlns:a16="http://schemas.microsoft.com/office/drawing/2014/main" id="{12300B10-A867-34D5-1F17-8C028F40C8B4}"/>
              </a:ext>
            </a:extLst>
          </p:cNvPr>
          <p:cNvPicPr>
            <a:picLocks noChangeAspect="1"/>
          </p:cNvPicPr>
          <p:nvPr/>
        </p:nvPicPr>
        <p:blipFill>
          <a:blip r:embed="rId2">
            <a:extLst>
              <a:ext uri="{28A0092B-C50C-407E-A947-70E740481C1C}">
                <a14:useLocalDpi xmlns:a14="http://schemas.microsoft.com/office/drawing/2010/main" val="0"/>
              </a:ext>
            </a:extLst>
          </a:blip>
          <a:srcRect l="1762" r="4763" b="-1"/>
          <a:stretch>
            <a:fillRect/>
          </a:stretch>
        </p:blipFill>
        <p:spPr>
          <a:xfrm>
            <a:off x="660991" y="10"/>
            <a:ext cx="10870017" cy="4651558"/>
          </a:xfrm>
          <a:prstGeom prst="rect">
            <a:avLst/>
          </a:prstGeom>
        </p:spPr>
      </p:pic>
      <p:cxnSp>
        <p:nvCxnSpPr>
          <p:cNvPr id="13" name="Straight Connector 12">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15C6D9E1-C869-9CB5-325E-8D2E84A10683}"/>
              </a:ext>
            </a:extLst>
          </p:cNvPr>
          <p:cNvSpPr>
            <a:spLocks noGrp="1" noChangeArrowheads="1"/>
          </p:cNvSpPr>
          <p:nvPr>
            <p:ph idx="1"/>
          </p:nvPr>
        </p:nvSpPr>
        <p:spPr bwMode="auto">
          <a:xfrm>
            <a:off x="4872777" y="4895270"/>
            <a:ext cx="6658234" cy="147654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700" i="0" u="none" strike="noStrike" cap="none" normalizeH="0" baseline="0" dirty="0">
                <a:ln>
                  <a:noFill/>
                </a:ln>
                <a:effectLst/>
                <a:latin typeface="Arial" panose="020B0604020202020204" pitchFamily="34" charset="0"/>
              </a:rPr>
              <a:t>Protein intensities were standardized using Z-score normalization</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700" i="0" u="none" strike="noStrike" cap="none" normalizeH="0" baseline="0" dirty="0">
                <a:ln>
                  <a:noFill/>
                </a:ln>
                <a:effectLst/>
                <a:latin typeface="Arial" panose="020B0604020202020204" pitchFamily="34" charset="0"/>
              </a:rPr>
              <a:t>Distributions are centered around zero</a:t>
            </a:r>
          </a:p>
          <a:p>
            <a:pPr marL="0" marR="0" lvl="0" indent="0" defTabSz="914400" rtl="0" eaLnBrk="0" fontAlgn="base" latinLnBrk="0" hangingPunct="0">
              <a:lnSpc>
                <a:spcPct val="110000"/>
              </a:lnSpc>
              <a:spcBef>
                <a:spcPct val="0"/>
              </a:spcBef>
              <a:spcAft>
                <a:spcPts val="600"/>
              </a:spcAft>
              <a:buClrTx/>
              <a:buSzTx/>
              <a:buFontTx/>
              <a:buChar char="•"/>
              <a:tabLst/>
            </a:pPr>
            <a:r>
              <a:rPr kumimoji="0" lang="en-US" altLang="en-US" sz="1700" i="0" u="none" strike="noStrike" cap="none" normalizeH="0" baseline="0" dirty="0">
                <a:ln>
                  <a:noFill/>
                </a:ln>
                <a:effectLst/>
                <a:latin typeface="Arial" panose="020B0604020202020204" pitchFamily="34" charset="0"/>
              </a:rPr>
              <a:t>This allows comparability across proteins and samples</a:t>
            </a:r>
          </a:p>
        </p:txBody>
      </p:sp>
    </p:spTree>
    <p:extLst>
      <p:ext uri="{BB962C8B-B14F-4D97-AF65-F5344CB8AC3E}">
        <p14:creationId xmlns:p14="http://schemas.microsoft.com/office/powerpoint/2010/main" val="2387927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9AC9C89B-90BE-3373-B0CE-0DBAF09F2935}"/>
              </a:ext>
            </a:extLst>
          </p:cNvPr>
          <p:cNvSpPr>
            <a:spLocks noGrp="1"/>
          </p:cNvSpPr>
          <p:nvPr>
            <p:ph type="title"/>
          </p:nvPr>
        </p:nvSpPr>
        <p:spPr>
          <a:xfrm>
            <a:off x="640080" y="914399"/>
            <a:ext cx="3000587" cy="4160520"/>
          </a:xfrm>
        </p:spPr>
        <p:txBody>
          <a:bodyPr anchor="t">
            <a:normAutofit/>
          </a:bodyPr>
          <a:lstStyle/>
          <a:p>
            <a:r>
              <a:rPr lang="en-GB" sz="3600"/>
              <a:t>Open Questions About the Dataset</a:t>
            </a:r>
            <a:br>
              <a:rPr lang="en-GB" sz="3600"/>
            </a:br>
            <a:endParaRPr lang="en-GB" sz="3600"/>
          </a:p>
        </p:txBody>
      </p:sp>
      <p:cxnSp>
        <p:nvCxnSpPr>
          <p:cNvPr id="12" name="Straight Connector 11">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D2F11ACB-2991-4DEA-8A0C-7CA063415983}"/>
              </a:ext>
            </a:extLst>
          </p:cNvPr>
          <p:cNvGraphicFramePr>
            <a:graphicFrameLocks noGrp="1"/>
          </p:cNvGraphicFramePr>
          <p:nvPr>
            <p:ph idx="1"/>
            <p:extLst>
              <p:ext uri="{D42A27DB-BD31-4B8C-83A1-F6EECF244321}">
                <p14:modId xmlns:p14="http://schemas.microsoft.com/office/powerpoint/2010/main" val="1100399088"/>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6995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0A54BE0-A45D-91D7-BBC2-0455300D190E}"/>
              </a:ext>
            </a:extLst>
          </p:cNvPr>
          <p:cNvSpPr>
            <a:spLocks noGrp="1"/>
          </p:cNvSpPr>
          <p:nvPr>
            <p:ph type="title"/>
          </p:nvPr>
        </p:nvSpPr>
        <p:spPr>
          <a:xfrm>
            <a:off x="2580442" y="4474103"/>
            <a:ext cx="7031117" cy="933905"/>
          </a:xfrm>
        </p:spPr>
        <p:txBody>
          <a:bodyPr vert="horz" lIns="91440" tIns="45720" rIns="91440" bIns="45720" rtlCol="0" anchor="b">
            <a:normAutofit/>
          </a:bodyPr>
          <a:lstStyle/>
          <a:p>
            <a:pPr algn="ctr"/>
            <a:r>
              <a:rPr lang="en-US" sz="4400" dirty="0" err="1"/>
              <a:t>Obrigado</a:t>
            </a:r>
            <a:r>
              <a:rPr lang="en-US" sz="4400" dirty="0"/>
              <a:t> pela </a:t>
            </a:r>
            <a:r>
              <a:rPr lang="en-US" sz="4400" dirty="0" err="1"/>
              <a:t>atenção</a:t>
            </a:r>
            <a:r>
              <a:rPr lang="en-US" sz="4400" dirty="0"/>
              <a:t>!</a:t>
            </a:r>
          </a:p>
        </p:txBody>
      </p:sp>
      <p:pic>
        <p:nvPicPr>
          <p:cNvPr id="7" name="Graphic 6" descr="Mi piace">
            <a:extLst>
              <a:ext uri="{FF2B5EF4-FFF2-40B4-BE49-F238E27FC236}">
                <a16:creationId xmlns:a16="http://schemas.microsoft.com/office/drawing/2014/main" id="{05003ED9-BD59-CCC3-BD7F-7C7716AF07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6210" y="409300"/>
            <a:ext cx="3899580" cy="3899580"/>
          </a:xfrm>
          <a:prstGeom prst="rect">
            <a:avLst/>
          </a:prstGeom>
        </p:spPr>
      </p:pic>
      <p:cxnSp>
        <p:nvCxnSpPr>
          <p:cNvPr id="14" name="Straight Connector 13">
            <a:extLst>
              <a:ext uri="{FF2B5EF4-FFF2-40B4-BE49-F238E27FC236}">
                <a16:creationId xmlns:a16="http://schemas.microsoft.com/office/drawing/2014/main" id="{503FCC9E-47A2-69B7-68E7-7FA95EAD53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724209"/>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2a413c4-dd76-43c7-8750-dda1d763c09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7A1F0FC0E67E146A1A67A322FA7A126" ma:contentTypeVersion="6" ma:contentTypeDescription="Create a new document." ma:contentTypeScope="" ma:versionID="e0d74560caf779e9a8639ad626eeebd8">
  <xsd:schema xmlns:xsd="http://www.w3.org/2001/XMLSchema" xmlns:xs="http://www.w3.org/2001/XMLSchema" xmlns:p="http://schemas.microsoft.com/office/2006/metadata/properties" xmlns:ns3="a2a413c4-dd76-43c7-8750-dda1d763c09e" targetNamespace="http://schemas.microsoft.com/office/2006/metadata/properties" ma:root="true" ma:fieldsID="8184d27efb806916c515769c4b214e50" ns3:_="">
    <xsd:import namespace="a2a413c4-dd76-43c7-8750-dda1d763c09e"/>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2a413c4-dd76-43c7-8750-dda1d763c09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850A0C-4575-4561-A69C-360B45875B76}">
  <ds:schemaRefs>
    <ds:schemaRef ds:uri="http://schemas.microsoft.com/office/2006/documentManagement/types"/>
    <ds:schemaRef ds:uri="http://www.w3.org/XML/1998/namespace"/>
    <ds:schemaRef ds:uri="http://purl.org/dc/elements/1.1/"/>
    <ds:schemaRef ds:uri="a2a413c4-dd76-43c7-8750-dda1d763c09e"/>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3D4D1DE1-CFE2-493E-8299-4FF8FDAF776A}">
  <ds:schemaRefs>
    <ds:schemaRef ds:uri="http://schemas.microsoft.com/sharepoint/v3/contenttype/forms"/>
  </ds:schemaRefs>
</ds:datastoreItem>
</file>

<file path=customXml/itemProps3.xml><?xml version="1.0" encoding="utf-8"?>
<ds:datastoreItem xmlns:ds="http://schemas.openxmlformats.org/officeDocument/2006/customXml" ds:itemID="{0EABBE67-BA49-443A-8630-8608287EF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2a413c4-dd76-43c7-8750-dda1d763c0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1562</TotalTime>
  <Words>928</Words>
  <Application>Microsoft Office PowerPoint</Application>
  <PresentationFormat>Widescreen</PresentationFormat>
  <Paragraphs>123</Paragraphs>
  <Slides>18</Slides>
  <Notes>0</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18</vt:i4>
      </vt:variant>
    </vt:vector>
  </HeadingPairs>
  <TitlesOfParts>
    <vt:vector size="21" baseType="lpstr">
      <vt:lpstr>Arial</vt:lpstr>
      <vt:lpstr>Grandview Display</vt:lpstr>
      <vt:lpstr>DashVTI</vt:lpstr>
      <vt:lpstr>Proteomic Analysis of CSF in MCI-AD and MCI-CT Patients</vt:lpstr>
      <vt:lpstr>Cohort Characteristics</vt:lpstr>
      <vt:lpstr>Filtering in Coimbra dataset</vt:lpstr>
      <vt:lpstr>Filtering in Coimbra+Lisbon dataset</vt:lpstr>
      <vt:lpstr>Apply thresholds on Coimbra+Lisbon dataset</vt:lpstr>
      <vt:lpstr>Filtering in Lisbon dataset</vt:lpstr>
      <vt:lpstr>Apply thresholds on Lisbon dataset</vt:lpstr>
      <vt:lpstr>Distribution of Protein Intensities Across Samples</vt:lpstr>
      <vt:lpstr>Sample Intensity Distribution After Log₂ Transformation</vt:lpstr>
      <vt:lpstr>PCA of Protein Expression by Laboratory</vt:lpstr>
      <vt:lpstr>Protein Intensity Distribution by Laboratory</vt:lpstr>
      <vt:lpstr>Batch Effect or Biological Variability?</vt:lpstr>
      <vt:lpstr>Differential Protein Expression: MCI-AD vs MCI-CT</vt:lpstr>
      <vt:lpstr>Age-Associated Protein Expression </vt:lpstr>
      <vt:lpstr>Protein Intensity Distribution by Sex</vt:lpstr>
      <vt:lpstr>Z-score Normalization of Protein Intensities</vt:lpstr>
      <vt:lpstr>Open Questions About the Dataset </vt:lpstr>
      <vt:lpstr>Obrigado pela atenção!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Valerio Piersanti - valerio.piersanti3@studio.unibo.it</dc:creator>
  <cp:lastModifiedBy>Valerio Piersanti - valerio.piersanti3@studio.unibo.it</cp:lastModifiedBy>
  <cp:revision>6</cp:revision>
  <dcterms:created xsi:type="dcterms:W3CDTF">2026-03-06T13:58:38Z</dcterms:created>
  <dcterms:modified xsi:type="dcterms:W3CDTF">2026-03-10T16:46:32Z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0x010100E7A1F0FC0E67E146A1A67A322FA7A126</vt:lpwstr>
  </property>
</Properties>
</file>